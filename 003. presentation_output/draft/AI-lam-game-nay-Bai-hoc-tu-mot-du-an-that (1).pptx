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embeddedFontLst>
    <p:embeddedFont>
      <p:font typeface="M PLUS 1 Code"/>
      <p:regular r:id="rId201314"/>
    </p:embeddedFont>
    <p:embeddedFont>
      <p:font typeface="M PLUS 1 Code Medium"/>
      <p:regular r:id="rId201315"/>
    </p:embeddedFont>
    <p:embeddedFont>
      <p:font typeface="M PLUS 1 Code Bold"/>
      <p:regular r:id="rId201316"/>
    </p:embeddedFont>
    <p:embeddedFont>
      <p:font typeface="M PLUS 2"/>
      <p:regular r:id="rId201317"/>
    </p:embeddedFont>
    <p:embeddedFont>
      <p:font typeface="M PLUS 2 SemiBold"/>
      <p:regular r:id="rId201318"/>
    </p:embeddedFont>
    <p:embeddedFont>
      <p:font typeface="M PLUS 2 Bold"/>
      <p:regular r:id="rId201319"/>
    </p:embeddedFont>
    <p:embeddedFont>
      <p:font typeface="Noto Sans Bold"/>
      <p:regular r:id="rId201320"/>
    </p:embeddedFont>
    <p:embeddedFont>
      <p:font typeface="Noto Sans"/>
      <p:regular r:id="rId201321"/>
    </p:embeddedFont>
    <p:embeddedFont>
      <p:font typeface="Noto Sans Medium"/>
      <p:regular r:id="rId201322"/>
    </p:embeddedFont>
    <p:embeddedFont>
      <p:font typeface="Noto Sans SemiBold"/>
      <p:regular r:id="rId201323"/>
    </p:embeddedFont>
    <p:embeddedFont>
      <p:font typeface="Noto Sans Black"/>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nhật ký thực chiến của tôi khi dùng AI để làm game, không phải lời hứa rằng AI có thể tự làm mọi thứ. Tôi sẽ kể cách một prototype nhỏ lớn lên, những lỗi gặp phải và workflow tôi dùng để kiểm soát thay đổi. Những con số, công cụ và phiên bản trong bài là thông tin tôi ghi nhận từ dự án, chưa phải benchmark độc lập.
Các nhóm và mũi hướng trong deck giúp trình bày từng bước. Hiệu ứng animation PowerPoint cần thiết lập thủ công sau khi export; deck này không khẳng định đã có các hiệu ứng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 đầu tôi chỉ có một file GDScript với 43 dòng và hai scene. Khi dự án mở rộng, số liệu ghi nhận là 65 file, khoảng 5.700 dòng, 50 scene và 99 Godot Domain Skills. Theo cách làm tròn trong nhật ký, quy mô code tăng khoảng 132 lần.
Số dòng không đo chất lượng. Điều thay đổi là số quan hệ cần kiểm soát: input có thể tác động lên UI, scene có thể phụ thuộc tài nguyên khác và một bugfix có thể làm hỏng hành vi đang chạy tốt. Tốc độ dựng prototype vì vậy không đủ để kết luận workflow chịu được hệ thống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của tôi, Godot là nơi làm code và scene; Blender bổ trợ xử lý asset. Với Unity hoặc Unreal, tôi sẽ đánh giá khả năng tự động hóa dựa trên định dạng tài nguyên và workflow thực tế, thay vì mặc định engine nổi tiếng hơn sẽ phù hợp hơn.
Tôi ưu tiên vòng phản hồi: agent có đọc được cấu trúc không, tôi có kiểm tra được diff không và có chạy được test để xác nhận không? Những ước lượng token hoặc thời gian chạy trong nhật ký chỉ thuộc bối cảnh dự án này, không phải kết luận về chi phí của mọi engine. Hình trên là đồ họa nhận diện minh họa, không phải logo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tách hai vai trò. Claude làm Architect: phân tích repo, nhận diện rủi ro và viết spec. GPT-5.6 Sol / Antigravity Agent làm Builder với 99 Domain Skills: thi công, viết test và báo cáo diff. Đây là cấu hình của workflow dự án, không phải khẳng định chỉ các model này mới làm được những vai trò ấy.
Ví dụ hợp đồng sửa lỗi phải đủ cụ thể: can thiệp input handler trong inventory_ui.gd để click Hotbar không bắn tên; không sửa script player. Ràng buộc này khiến Builder không tự mở rộng bugfix sang hệ thống chiến đấu. Tôi duyệt phạm vi trước khi cho thi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Layer xác định nhóm mà đối tượng thuộc về. Mask xác định các nhóm mà đối tượng cần xét tương tác. Hai câu hỏi này khác nhau, nên tôi ghi rõ trong spec thay vì chỉ nói “sửa collision”.
Solid body dùng để cản chuyển động; area trigger dùng để nhận sự kiện khi đối tượng đi vào hoặc đi ra, không tự trở thành bức tường. Trong dự án, thiết lập sai từng dẫn tới quái xuyên tường hoặc đạn va chạm ngoài ý muốn. Khi debug, tôi kiểm tra nhóm, mask và loại node trước khi sửa logic. Spec rõ giúp giảm lỗi nhưng không bảo đảm AI code đúng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sửa, Architect khảo sát repo để biết UI, data và input đang nằm ở đâu. bugfix_plan.md cần nêu nguyên nhân giả định, file sẽ can thiệp, diff dự kiến và kịch bản test. Tôi xem lại trước khi Builder bắt đầu.
Với lỗi click Hotbar bắn tên, kế hoạch mẫu tập trung vào đường xử lý input của inventory_ui.gd, xác định click UI phải được xử lý đúng, và thử lại cả thao tác Hotbar lẫn bắn tên ngoài UI. Nếu khảo sát cho thấy cần sửa ngoài phạm vi, phải cập nhật kế hoạch và xin duyệt lại. Đây là mẫu cách viết kế hoạch, không phải diff đã được cung cấp trong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Phase 2, tôi ghép cung tên, quái và spawner trong cùng phiên. Nhật ký ghi nhận Slime spawn trong núi và cung thủ bắn ngược. Tôi dùng trải nghiệm đó để thay đổi cách giao việc, chứ không suy ra mọi phiên dài đều thất bại.
Phiên mới nhận một task với spec, file liên quan và tiêu chí nghiệm thu. Không mang toàn bộ lịch sử thử sai sang nếu nó không cần cho quyết định hiện tại. Hoàn thành, kiểm tra rồi commit trước task tiếp theo. Commit tạo một mốc để truy nguyên hoặc rollback khi hành vi mới làm hỏng phần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Gauntlet Loop bắt đầu khi Worker nộp diff. Measure chạy kiểm thử và Critic rà soát độc lập, hai nhánh chạy song song. Measure hỏi hành vi có đúng tiêu chí không; Critic xem phạm vi sửa, rủi ro và những gì test có thể bỏ sót.
Bất kỳ kiểm tra nào thất bại đều đưa task về Worker. Sau khi các nhánh đạt yêu cầu, tôi vẫn playtest và duyệt cuối trước merge. Hai agent cùng đồng ý không đồng nghĩa với game có cảm giác đúng hoặc UI dùng được. Sơ đồ biểu diễn cổng duyệt và đường quay lại, không phải một cam kết tự động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tôi dùng test_exec_damage.tscn với Boss Executioner, một dummy và cửa sổ đo ba giây. Tiêu chí là kiểm tra sát thương 25 HP cùng phản ứng giật lùi. Đây là số liệu của test trong dự án, không phải thông số chung cho mọi boss.
Tôi tách hai lớp nghiệm thu. Log và thông số giúp kiểm tra logic. Ảnh chụp thật từ engine giúp kiểm tra thanh máu, chữ, icon và bố cục. Một test pass về số chưa chứng minh giao diện đúng. Scene nhỏ cũng giúp tái hiện lỗi mà không phải đi qua toàn bộ game. Deck không có ảnh engine được cung cấp nên chỉ thể hiện cấu trúc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asset của tôi gặp ba loại lỗi. Mixels là các khối pixel không đồng đều về kích thước, làm hình thiếu nhất quán khi đưa vào game. Frame bleeding là nội dung tràn qua ranh giới ô trên sprite sheet. Frame drift là tâm hoặc bàn chân dịch chuyển ngoài ý muốn giữa các frame.
Hình ở đây là lưới kỹ thuật tôi vẽ để giải thích, không phải ảnh lỗi hay nhân vật lấy từ dự án. Một ảnh đơn có thể nhìn đẹp nhưng khi cắt sheet và chạy animation mới lộ vấn đề. Vì vậy tôi kiểm tra kích thước pixel, ranh giới frame và điểm neo thay vì chỉ duyệt bằng mắt trên ảnh tổng.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Anchor bắt đầu với canvas 1024 × 1024 và nền chroma key để giữ một chuẩn đầu vào. Pixel Snapping giới hạn palette và dùng nearest-neighbor để tránh làm mờ cạnh pixel.
Pose Board của pipeline này quy định Attack tám frame, Hurt sáu frame và Death mười frame. Đây là lựa chọn của dự án, không phải chuẩn bắt buộc cho mọi animation. Recovery &amp; Curation tách nền, kiểm tra bounding box và loại frame không đạt. Cuối cùng, Anchoring &amp; Onion Skin giữ chân ổn định, đối chiếu frame liền kề và chạy thử bằng AnimatedSprite2D trong Godot. Tôi duyệt chuyển động thực tế chứ không chỉ sprite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này, tôi trực tiếp dựng map trong Godot. Y-sort, bố trí cây, bờ hồ, lối đi và giếng nước cần xem cùng trải nghiệm người chơi: nhìn có rõ không, di chuyển có thuận không, vật thể che khuất có hợp lý không?
Đây là giới hạn tôi gặp trong workflow của mình, không phải tuyên bố AI hoàn toàn không thể hỗ trợ level design. AI vẫn có thể giúp công việc cụ thể nếu tiêu chí rõ. Ảnh real_godot_tileset_map_design.png chưa được cung cấp, nên tôi để vùng có nhãn để thêm ảnh thật, không tạo ảnh editor giả làm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chia việc theo mức độ cần phán đoán. Thuật toán, state machine, refactor và test là nhóm AI có thể dẫn dắt thi công dưới spec và kiểm tra. Khi lắp scene, animation hoặc UI, tôi cần kèm vì có nhiều quan hệ trực quan và phụ thuộc tài nguyên. Với map, game feel, balance và scope, tôi giữ quyền quyết định thiết kế.
Nhật ký gốc dùng các nhãn 80%, 50–50 và 100% như gợi ý phân công của tác giả. Chúng không phải số đo hiệu suất, độ chính xác hay tỷ lệ tự động hóa được kiểm chứng. Bảng ưu tiên tên trách nhiệm để tránh người xem hiểu nhầm các tỷ lệ 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cho tôi vài cảnh rất khó giải thích với người chơi: nước “ăn” mất tên, cung thủ vẫn mặc giáp chiến binh, mở Inventory lại bắn tên, vứt đồ rồi slot vẫn ám ở đó. Tôi có thể cười khi debug, nhưng phải biến mỗi chuyện thành test.
Mỗi regression test cần trạng thái ban đầu, thao tác tái hiện và tiêu chí nghiệm thu. Với input UI, kiểm tra click Inventory không phát lệnh bắn. Với slot ma, kiểm tra item đã bỏ thì UI và dữ liệu cùng cập nhật. Với đổi class, kiểm tra trang bị theo quy tắc đã chốt. Với WaterBlock, kiểm tra hành vi đạn đúng spec collision. Các tiêu chí cụ thể phải do thiết kế quyết định, không để agent tự đoán.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bắt đầu ngày mai, tôi chọn một loop đủ nhỏ để chơi và kiểm tra: di chuyển, một đòn đánh và một quái. Nạp rules cùng domain skills phù hợp trước khi giao task. Yêu cầu kế hoạch, duyệt mục tiêu và phạm vi rồi mới code.
Asset được chuẩn hóa cùng bounding box trước khi tích hợp. Sau code là test scene cô lập, rồi Critic rà soát. Tôi playtest bằng tay để xem cảm giác và hành vi thực tế, ghi lại lỗi và lặp lại. Mục tiêu của loop đầu tiên là kiểm chứng quy trình trên một lát cắt nhỏ, không mở rộng scope ngay khi prototype chạy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dự kiến bắt đầu với Boss Undead Executioner có ba phase và minion. Sau đó tôi thử kéo thả hotbar và đổi class để nối gameplay với những lỗi input và đồng bộ trạng thái vừa kể.
Tôi mở Godot 4.7 theo phiên bản ghi trong kế hoạch demo, rồi mở bugfix_plan.md trong Antigravity để cho thấy workflow phía sau. Đây là phần demo trực tiếp dự kiến; deck không chứa footage hay ảnh gameplay được cung cấp. Trong hỏi đáp, tôi có thể trình bày cách setup skills, debug và chi phí API thực tế khi có dữ liệu. Không điền con số chi phí nếu chưa cung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4D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5000"/>
            </a:srgbClr>
          </a:solidFill>
          <a:ln/>
        </p:spPr>
      </p:sp>
      <p:sp>
        <p:nvSpPr>
          <p:cNvPr id="4" name="Text 1"/>
          <p:cNvSpPr/>
          <p:nvPr/>
        </p:nvSpPr>
        <p:spPr>
          <a:xfrm>
            <a:off x="657209" y="812800"/>
            <a:ext cx="876913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M PLUS 1 Code Medium" pitchFamily="34" charset="0"/>
                <a:ea typeface="M PLUS 1 Code Medium" pitchFamily="34" charset="-122"/>
                <a:cs typeface="M PLUS 1 Code Medium" pitchFamily="34" charset="-120"/>
              </a:rPr>
              <a:t>NHẬT KÝ PHÁT TRIỂN · TECH TALK</a:t>
            </a:r>
            <a:endParaRPr lang="en-US" sz="1100" dirty="0"/>
          </a:p>
        </p:txBody>
      </p:sp>
      <p:sp>
        <p:nvSpPr>
          <p:cNvPr id="5" name="Text 2"/>
          <p:cNvSpPr/>
          <p:nvPr/>
        </p:nvSpPr>
        <p:spPr>
          <a:xfrm>
            <a:off x="657209" y="1073745"/>
            <a:ext cx="8159546" cy="2077045"/>
          </a:xfrm>
          <a:prstGeom prst="rect">
            <a:avLst/>
          </a:prstGeom>
          <a:noFill/>
          <a:ln/>
        </p:spPr>
        <p:txBody>
          <a:bodyPr wrap="square" lIns="0" tIns="0" rIns="0" bIns="0" rtlCol="0" anchor="t">
            <a:normAutofit/>
          </a:bodyPr>
          <a:lstStyle/>
          <a:p>
            <a:pPr algn="l" indent="0" marL="0">
              <a:lnSpc>
                <a:spcPct val="78000"/>
              </a:lnSpc>
              <a:buNone/>
            </a:pPr>
            <a:r>
              <a:rPr lang="en-US" sz="5800" spc="-232" kern="100" dirty="0">
                <a:solidFill>
                  <a:srgbClr val="FFFFFF"/>
                </a:solidFill>
                <a:latin typeface="Noto Sans Black" pitchFamily="34" charset="0"/>
                <a:ea typeface="Noto Sans Black" pitchFamily="34" charset="-122"/>
                <a:cs typeface="Noto Sans Black" pitchFamily="34" charset="-120"/>
              </a:rPr>
              <a:t>AI làm game này:</a:t>
            </a:r>
            <a:endParaRPr lang="en-US" sz="5800" dirty="0"/>
          </a:p>
          <a:p>
            <a:pPr algn="l" indent="0" marL="0">
              <a:lnSpc>
                <a:spcPct val="78000"/>
              </a:lnSpc>
              <a:buNone/>
            </a:pPr>
            <a:r>
              <a:rPr lang="en-US" sz="5800" spc="-232" kern="100" dirty="0">
                <a:solidFill>
                  <a:srgbClr val="FFFFFF"/>
                </a:solidFill>
                <a:latin typeface="Noto Sans Black" pitchFamily="34" charset="0"/>
                <a:ea typeface="Noto Sans Black" pitchFamily="34" charset="-122"/>
                <a:cs typeface="Noto Sans Black" pitchFamily="34" charset="-120"/>
              </a:rPr>
              <a:t>Bài học từ</a:t>
            </a:r>
            <a:endParaRPr lang="en-US" sz="5800" dirty="0"/>
          </a:p>
          <a:p>
            <a:pPr algn="l" indent="0" marL="0">
              <a:lnSpc>
                <a:spcPct val="78000"/>
              </a:lnSpc>
              <a:buNone/>
            </a:pPr>
            <a:r>
              <a:rPr lang="en-US" sz="5800" spc="-232" kern="100" dirty="0">
                <a:solidFill>
                  <a:srgbClr val="FFFFFF"/>
                </a:solidFill>
                <a:latin typeface="Noto Sans Black" pitchFamily="34" charset="0"/>
                <a:ea typeface="Noto Sans Black" pitchFamily="34" charset="-122"/>
                <a:cs typeface="Noto Sans Black" pitchFamily="34" charset="-120"/>
              </a:rPr>
              <a:t>một dự án thật</a:t>
            </a:r>
            <a:endParaRPr lang="en-US" sz="5800" dirty="0"/>
          </a:p>
        </p:txBody>
      </p:sp>
      <p:sp>
        <p:nvSpPr>
          <p:cNvPr id="6" name="Shape 3"/>
          <p:cNvSpPr/>
          <p:nvPr/>
        </p:nvSpPr>
        <p:spPr>
          <a:xfrm>
            <a:off x="657209" y="3393678"/>
            <a:ext cx="2039886" cy="31651"/>
          </a:xfrm>
          <a:prstGeom prst="roundRect">
            <a:avLst>
              <a:gd name="adj" fmla="val 49998"/>
            </a:avLst>
          </a:prstGeom>
          <a:solidFill>
            <a:srgbClr val="C8321A"/>
          </a:solidFill>
          <a:ln/>
        </p:spPr>
      </p:sp>
      <p:sp>
        <p:nvSpPr>
          <p:cNvPr id="7" name="Text 4"/>
          <p:cNvSpPr/>
          <p:nvPr/>
        </p:nvSpPr>
        <p:spPr>
          <a:xfrm>
            <a:off x="657209" y="3808016"/>
            <a:ext cx="8159546"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FFFFFF"/>
                </a:solidFill>
                <a:latin typeface="Noto Sans" pitchFamily="34" charset="0"/>
                <a:ea typeface="Noto Sans" pitchFamily="34" charset="-122"/>
                <a:cs typeface="Noto Sans" pitchFamily="34" charset="-120"/>
              </a:rPr>
              <a:t>Tôi giao AI thi công.</a:t>
            </a:r>
            <a:endParaRPr lang="en-US" sz="1900" dirty="0"/>
          </a:p>
          <a:p>
            <a:pPr algn="l" indent="0" marL="0">
              <a:lnSpc>
                <a:spcPct val="110000"/>
              </a:lnSpc>
              <a:buNone/>
            </a:pPr>
            <a:r>
              <a:rPr lang="en-US" sz="1900" dirty="0">
                <a:solidFill>
                  <a:srgbClr val="FFFFFF"/>
                </a:solidFill>
                <a:latin typeface="Noto Sans" pitchFamily="34" charset="0"/>
                <a:ea typeface="Noto Sans" pitchFamily="34" charset="-122"/>
                <a:cs typeface="Noto Sans" pitchFamily="34" charset="-120"/>
              </a:rPr>
              <a:t>Tôi giữ quyền duyệt.</a:t>
            </a:r>
            <a:endParaRPr lang="en-US" sz="1900" dirty="0"/>
          </a:p>
        </p:txBody>
      </p:sp>
      <p:sp>
        <p:nvSpPr>
          <p:cNvPr id="8" name="Text 5"/>
          <p:cNvSpPr/>
          <p:nvPr/>
        </p:nvSpPr>
        <p:spPr>
          <a:xfrm>
            <a:off x="657209" y="5918200"/>
            <a:ext cx="9912102"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M PLUS 1 Code Medium" pitchFamily="34" charset="0"/>
                <a:ea typeface="M PLUS 1 Code Medium" pitchFamily="34" charset="-122"/>
                <a:cs typeface="M PLUS 1 Code Medium" pitchFamily="34" charset="-120"/>
              </a:rPr>
              <a:t>CODE · SCENE · ASSET · KIỂM THỬ</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QUY MÔ · SỐ LIỆU TÔI GHI NHẬN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Từ 43 dòng code đến một hệ thống cần kiểm soát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9585" y="2073176"/>
          <a:ext cx="7010225" cy="914400"/>
        </p:xfrm>
        <a:graphic>
          <a:graphicData uri="http://schemas.openxmlformats.org/drawingml/2006/table">
            <a:tbl>
              <a:tblPr/>
              <a:tblGrid>
                <a:gridCol w="2804050"/>
                <a:gridCol w="1752556"/>
                <a:gridCol w="2453618"/>
              </a:tblGrid>
              <a:tr h="398849">
                <a:tc>
                  <a:txBody>
                    <a:bodyPr/>
                    <a:lstStyle/>
                    <a:p>
                      <a:pPr algn="l" indent="0" marL="0">
                        <a:buNone/>
                      </a:pPr>
                      <a:r>
                        <a:rPr lang="en-US" sz="1050" spc="126" kern="100" dirty="0">
                          <a:solidFill>
                            <a:srgbClr val="16181C"/>
                          </a:solidFill>
                          <a:latin typeface="M PLUS 2" pitchFamily="34" charset="0"/>
                          <a:ea typeface="M PLUS 2" pitchFamily="34" charset="-122"/>
                          <a:cs typeface="M PLUS 2" pitchFamily="34" charset="-120"/>
                        </a:rPr>
                        <a:t>HẠNG MỤC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050" spc="126" kern="100" dirty="0">
                          <a:solidFill>
                            <a:srgbClr val="16181C"/>
                          </a:solidFill>
                          <a:latin typeface="M PLUS 2" pitchFamily="34" charset="0"/>
                          <a:ea typeface="M PLUS 2" pitchFamily="34" charset="-122"/>
                          <a:cs typeface="M PLUS 2" pitchFamily="34" charset="-120"/>
                        </a:rPr>
                        <a:t>BAN ĐẦU</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050" spc="126" kern="100" dirty="0">
                          <a:solidFill>
                            <a:srgbClr val="16181C"/>
                          </a:solidFill>
                          <a:latin typeface="M PLUS 2" pitchFamily="34" charset="0"/>
                          <a:ea typeface="M PLUS 2" pitchFamily="34" charset="-122"/>
                          <a:cs typeface="M PLUS 2" pitchFamily="34" charset="-120"/>
                        </a:rPr>
                        <a:t>SAU MỞ RỘNG</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480008">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File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1</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65</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480008">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Dòng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43</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Khoảng 5.700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480008">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Scene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2</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50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473658">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Tooling</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Không có</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99 Godot Domain Skills</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r>
            </a:tbl>
          </a:graphicData>
        </a:graphic>
      </p:graphicFrame>
      <p:sp>
        <p:nvSpPr>
          <p:cNvPr id="6" name="Shape 3"/>
          <p:cNvSpPr/>
          <p:nvPr/>
        </p:nvSpPr>
        <p:spPr>
          <a:xfrm>
            <a:off x="8076998" y="1844576"/>
            <a:ext cx="3505112" cy="4403824"/>
          </a:xfrm>
          <a:prstGeom prst="rect">
            <a:avLst/>
          </a:prstGeom>
          <a:solidFill>
            <a:srgbClr val="F4B9A6"/>
          </a:solidFill>
          <a:ln/>
        </p:spPr>
      </p:sp>
      <p:sp>
        <p:nvSpPr>
          <p:cNvPr id="7" name="Text 4"/>
          <p:cNvSpPr/>
          <p:nvPr/>
        </p:nvSpPr>
        <p:spPr>
          <a:xfrm>
            <a:off x="8305592" y="3004245"/>
            <a:ext cx="3047924" cy="763984"/>
          </a:xfrm>
          <a:prstGeom prst="rect">
            <a:avLst/>
          </a:prstGeom>
          <a:noFill/>
          <a:ln/>
        </p:spPr>
        <p:txBody>
          <a:bodyPr wrap="none" lIns="0" tIns="0" rIns="0" bIns="0" rtlCol="0" anchor="t"/>
          <a:lstStyle/>
          <a:p>
            <a:pPr algn="l" indent="0" marL="0">
              <a:lnSpc>
                <a:spcPct val="78000"/>
              </a:lnSpc>
              <a:buNone/>
            </a:pPr>
            <a:r>
              <a:rPr lang="en-US" sz="6400" spc="-256" kern="100" dirty="0">
                <a:solidFill>
                  <a:srgbClr val="2B2D31"/>
                </a:solidFill>
                <a:latin typeface="Noto Sans Black" pitchFamily="34" charset="0"/>
                <a:ea typeface="Noto Sans Black" pitchFamily="34" charset="-122"/>
                <a:cs typeface="Noto Sans Black" pitchFamily="34" charset="-120"/>
              </a:rPr>
              <a:t>≈132×</a:t>
            </a:r>
            <a:endParaRPr lang="en-US" sz="6400" dirty="0"/>
          </a:p>
        </p:txBody>
      </p:sp>
      <p:sp>
        <p:nvSpPr>
          <p:cNvPr id="8" name="Text 5"/>
          <p:cNvSpPr/>
          <p:nvPr/>
        </p:nvSpPr>
        <p:spPr>
          <a:xfrm>
            <a:off x="8305592" y="3965079"/>
            <a:ext cx="3276518"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2B2D31"/>
                </a:solidFill>
                <a:latin typeface="M PLUS 2 SemiBold" pitchFamily="34" charset="0"/>
                <a:ea typeface="M PLUS 2 SemiBold" pitchFamily="34" charset="-122"/>
                <a:cs typeface="M PLUS 2 SemiBold" pitchFamily="34" charset="-120"/>
              </a:rPr>
              <a:t>SỐ DÒNG CODE</a:t>
            </a:r>
            <a:endParaRPr lang="en-US" sz="1200" dirty="0"/>
          </a:p>
        </p:txBody>
      </p:sp>
      <p:sp>
        <p:nvSpPr>
          <p:cNvPr id="9" name="Text 6"/>
          <p:cNvSpPr/>
          <p:nvPr/>
        </p:nvSpPr>
        <p:spPr>
          <a:xfrm>
            <a:off x="8305592" y="4277420"/>
            <a:ext cx="3047924"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Prototype nhanh chưa chứng minh được khả năng quản trị thay đổi.</a:t>
            </a:r>
            <a:endParaRPr lang="en-US" sz="1500" dirty="0"/>
          </a:p>
        </p:txBody>
      </p:sp>
      <p:sp>
        <p:nvSpPr>
          <p:cNvPr id="10" name="Text 7"/>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CÔNG CỤ · VAI TRÒ TRONG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Chọn engine theo vòng lặp phản hồi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r>
          <p:cNvPicPr>
            <a:picLocks noChangeAspect="1"/>
          </p:cNvPicPr>
          <p:nvPr/>
        </p:nvPicPr>
        <p:blipFill>
          <a:blip r:embed="rId1"/>
          <a:stretch>
            <a:fillRect/>
          </a:stretch>
        </p:blipFill>
        <p:spPr>
          <a:xfrm>
            <a:off x="609585" y="1844576"/>
            <a:ext cx="3454314" cy="1943001"/>
          </a:xfrm>
          <a:prstGeom prst="rect">
            <a:avLst/>
          </a:prstGeom>
        </p:spPr>
      </p:pic>
      <p:sp>
        <p:nvSpPr>
          <p:cNvPr id="6" name="Text 3"/>
          <p:cNvSpPr/>
          <p:nvPr/>
        </p:nvSpPr>
        <p:spPr>
          <a:xfrm>
            <a:off x="609585" y="3965377"/>
            <a:ext cx="3454314"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Godot</a:t>
            </a:r>
            <a:endParaRPr lang="en-US" sz="2500" dirty="0"/>
          </a:p>
        </p:txBody>
      </p:sp>
      <p:sp>
        <p:nvSpPr>
          <p:cNvPr id="7" name="Text 4"/>
          <p:cNvSpPr/>
          <p:nvPr/>
        </p:nvSpPr>
        <p:spPr>
          <a:xfrm>
            <a:off x="609585" y="4527352"/>
            <a:ext cx="3454314"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Code + scene</a:t>
            </a:r>
            <a:endParaRPr lang="en-US" sz="1500" dirty="0"/>
          </a:p>
        </p:txBody>
      </p:sp>
      <p:pic>
        <p:nvPicPr>
          <p:cNvPr id="8" name="Image 1" descr="preencoded.png">    </p:cNvPr>
          <p:cNvPicPr>
            <a:picLocks noChangeAspect="1"/>
          </p:cNvPicPr>
          <p:nvPr/>
        </p:nvPicPr>
        <p:blipFill>
          <a:blip r:embed="rId2"/>
          <a:stretch>
            <a:fillRect/>
          </a:stretch>
        </p:blipFill>
        <p:spPr>
          <a:xfrm>
            <a:off x="4368691" y="1844576"/>
            <a:ext cx="3454314" cy="1943001"/>
          </a:xfrm>
          <a:prstGeom prst="rect">
            <a:avLst/>
          </a:prstGeom>
        </p:spPr>
      </p:pic>
      <p:sp>
        <p:nvSpPr>
          <p:cNvPr id="9" name="Text 5"/>
          <p:cNvSpPr/>
          <p:nvPr/>
        </p:nvSpPr>
        <p:spPr>
          <a:xfrm>
            <a:off x="4368691" y="3965377"/>
            <a:ext cx="3454314"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Blender</a:t>
            </a:r>
            <a:endParaRPr lang="en-US" sz="2500" dirty="0"/>
          </a:p>
        </p:txBody>
      </p:sp>
      <p:sp>
        <p:nvSpPr>
          <p:cNvPr id="10" name="Text 6"/>
          <p:cNvSpPr/>
          <p:nvPr/>
        </p:nvSpPr>
        <p:spPr>
          <a:xfrm>
            <a:off x="4368691" y="4527352"/>
            <a:ext cx="3454314"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Bổ trợ asset</a:t>
            </a:r>
            <a:endParaRPr lang="en-US" sz="1500" dirty="0"/>
          </a:p>
        </p:txBody>
      </p:sp>
      <p:pic>
        <p:nvPicPr>
          <p:cNvPr id="11" name="Image 2" descr="preencoded.png">    </p:cNvPr>
          <p:cNvPicPr>
            <a:picLocks noChangeAspect="1"/>
          </p:cNvPicPr>
          <p:nvPr/>
        </p:nvPicPr>
        <p:blipFill>
          <a:blip r:embed="rId3"/>
          <a:stretch>
            <a:fillRect/>
          </a:stretch>
        </p:blipFill>
        <p:spPr>
          <a:xfrm>
            <a:off x="8127797" y="1844576"/>
            <a:ext cx="3454314" cy="1943001"/>
          </a:xfrm>
          <a:prstGeom prst="rect">
            <a:avLst/>
          </a:prstGeom>
        </p:spPr>
      </p:pic>
      <p:sp>
        <p:nvSpPr>
          <p:cNvPr id="12" name="Text 7"/>
          <p:cNvSpPr/>
          <p:nvPr/>
        </p:nvSpPr>
        <p:spPr>
          <a:xfrm>
            <a:off x="8127797" y="3965377"/>
            <a:ext cx="3454314"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Unity / Unreal</a:t>
            </a:r>
            <a:endParaRPr lang="en-US" sz="2500" dirty="0"/>
          </a:p>
        </p:txBody>
      </p:sp>
      <p:sp>
        <p:nvSpPr>
          <p:cNvPr id="13" name="Text 8"/>
          <p:cNvSpPr/>
          <p:nvPr/>
        </p:nvSpPr>
        <p:spPr>
          <a:xfrm>
            <a:off x="8127797" y="4527352"/>
            <a:ext cx="3454314"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Đánh giá workflow thực tế</a:t>
            </a:r>
            <a:endParaRPr lang="en-US" sz="1500" dirty="0"/>
          </a:p>
        </p:txBody>
      </p:sp>
      <p:sp>
        <p:nvSpPr>
          <p:cNvPr id="14" name="Text 9"/>
          <p:cNvSpPr/>
          <p:nvPr/>
        </p:nvSpPr>
        <p:spPr>
          <a:xfrm>
            <a:off x="609585" y="606683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ĐỌC CẤU TRÚC → KIỂM TRA DIFF → CHẠY TEST</a:t>
            </a:r>
            <a:endParaRPr lang="en-US" sz="1100" dirty="0"/>
          </a:p>
        </p:txBody>
      </p:sp>
      <p:sp>
        <p:nvSpPr>
          <p:cNvPr id="15" name="Text 10"/>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WORKFLOW · HỢP ĐỒNG TRƯỚC THI CÔNG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Tách người thiết kế khỏi người thi công</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657509" cy="3901480"/>
          </a:xfrm>
          <a:prstGeom prst="rect">
            <a:avLst/>
          </a:prstGeom>
          <a:solidFill>
            <a:srgbClr val="F4B9A6"/>
          </a:solidFill>
          <a:ln/>
        </p:spPr>
      </p:sp>
      <p:sp>
        <p:nvSpPr>
          <p:cNvPr id="6" name="Text 4"/>
          <p:cNvSpPr/>
          <p:nvPr/>
        </p:nvSpPr>
        <p:spPr>
          <a:xfrm>
            <a:off x="800080" y="2035076"/>
            <a:ext cx="1400934"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Architect</a:t>
            </a:r>
            <a:endParaRPr lang="en-US" sz="1500" dirty="0"/>
          </a:p>
        </p:txBody>
      </p:sp>
      <p:sp>
        <p:nvSpPr>
          <p:cNvPr id="7" name="Text 5"/>
          <p:cNvSpPr/>
          <p:nvPr/>
        </p:nvSpPr>
        <p:spPr>
          <a:xfrm>
            <a:off x="800080" y="2384921"/>
            <a:ext cx="3276518"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Claude</a:t>
            </a:r>
            <a:endParaRPr lang="en-US" sz="2500" dirty="0"/>
          </a:p>
        </p:txBody>
      </p:sp>
      <p:sp>
        <p:nvSpPr>
          <p:cNvPr id="8" name="Text 6"/>
          <p:cNvSpPr/>
          <p:nvPr/>
        </p:nvSpPr>
        <p:spPr>
          <a:xfrm>
            <a:off x="800080" y="2946896"/>
            <a:ext cx="3467013"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Repo · rủi ro · spec</a:t>
            </a:r>
            <a:endParaRPr lang="en-US" sz="1500" dirty="0"/>
          </a:p>
        </p:txBody>
      </p:sp>
      <p:sp>
        <p:nvSpPr>
          <p:cNvPr id="9" name="Shape 7"/>
          <p:cNvSpPr/>
          <p:nvPr/>
        </p:nvSpPr>
        <p:spPr>
          <a:xfrm>
            <a:off x="4267093" y="1844576"/>
            <a:ext cx="3657509" cy="3901480"/>
          </a:xfrm>
          <a:prstGeom prst="rect">
            <a:avLst/>
          </a:prstGeom>
          <a:solidFill>
            <a:srgbClr val="8FD3C6"/>
          </a:solidFill>
          <a:ln/>
        </p:spPr>
      </p:sp>
      <p:sp>
        <p:nvSpPr>
          <p:cNvPr id="10" name="Text 8"/>
          <p:cNvSpPr/>
          <p:nvPr/>
        </p:nvSpPr>
        <p:spPr>
          <a:xfrm>
            <a:off x="4457588" y="2035076"/>
            <a:ext cx="1542317"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Con người</a:t>
            </a:r>
            <a:endParaRPr lang="en-US" sz="1500" dirty="0"/>
          </a:p>
        </p:txBody>
      </p:sp>
      <p:sp>
        <p:nvSpPr>
          <p:cNvPr id="11" name="Text 9"/>
          <p:cNvSpPr/>
          <p:nvPr/>
        </p:nvSpPr>
        <p:spPr>
          <a:xfrm>
            <a:off x="4457588" y="2384921"/>
            <a:ext cx="3276518" cy="419100"/>
          </a:xfrm>
          <a:prstGeom prst="rect">
            <a:avLst/>
          </a:prstGeom>
          <a:noFill/>
          <a:ln/>
        </p:spPr>
        <p:txBody>
          <a:bodyPr wrap="none" lIns="0" tIns="0" rIns="0" bIns="0" rtlCol="0" anchor="t"/>
          <a:lstStyle/>
          <a:p>
            <a:pPr algn="l" indent="0" marL="0">
              <a:lnSpc>
                <a:spcPct val="110000"/>
              </a:lnSpc>
              <a:buNone/>
            </a:pPr>
            <a:r>
              <a:rPr lang="en-US" sz="2500" dirty="0">
                <a:solidFill>
                  <a:srgbClr val="000000"/>
                </a:solidFill>
                <a:latin typeface="Noto Sans" pitchFamily="34" charset="0"/>
                <a:ea typeface="Noto Sans" pitchFamily="34" charset="-122"/>
                <a:cs typeface="Noto Sans" pitchFamily="34" charset="-120"/>
              </a:rPr>
              <a:t>Duyệt phạm vi</a:t>
            </a:r>
            <a:endParaRPr lang="en-US" sz="2500" dirty="0"/>
          </a:p>
        </p:txBody>
      </p:sp>
      <p:sp>
        <p:nvSpPr>
          <p:cNvPr id="12" name="Text 10"/>
          <p:cNvSpPr/>
          <p:nvPr/>
        </p:nvSpPr>
        <p:spPr>
          <a:xfrm>
            <a:off x="4457588" y="2946896"/>
            <a:ext cx="3467013"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Đúng mục tiêu sửa lỗi</a:t>
            </a:r>
            <a:endParaRPr lang="en-US" sz="1500" dirty="0"/>
          </a:p>
        </p:txBody>
      </p:sp>
      <p:sp>
        <p:nvSpPr>
          <p:cNvPr id="13" name="Shape 11"/>
          <p:cNvSpPr/>
          <p:nvPr/>
        </p:nvSpPr>
        <p:spPr>
          <a:xfrm>
            <a:off x="7924602" y="1844576"/>
            <a:ext cx="3657509" cy="3901480"/>
          </a:xfrm>
          <a:prstGeom prst="rect">
            <a:avLst/>
          </a:prstGeom>
          <a:solidFill>
            <a:srgbClr val="F4B9A6"/>
          </a:solidFill>
          <a:ln/>
        </p:spPr>
      </p:sp>
      <p:sp>
        <p:nvSpPr>
          <p:cNvPr id="14" name="Text 12"/>
          <p:cNvSpPr/>
          <p:nvPr/>
        </p:nvSpPr>
        <p:spPr>
          <a:xfrm>
            <a:off x="8115097" y="2035076"/>
            <a:ext cx="1252705"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Builder</a:t>
            </a:r>
            <a:endParaRPr lang="en-US" sz="1500" dirty="0"/>
          </a:p>
        </p:txBody>
      </p:sp>
      <p:sp>
        <p:nvSpPr>
          <p:cNvPr id="15" name="Text 13"/>
          <p:cNvSpPr/>
          <p:nvPr/>
        </p:nvSpPr>
        <p:spPr>
          <a:xfrm>
            <a:off x="8115097" y="2384921"/>
            <a:ext cx="3276518"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GPT-5.6 Sol / Antigravity Agent</a:t>
            </a:r>
            <a:endParaRPr lang="en-US" sz="1900" dirty="0"/>
          </a:p>
        </p:txBody>
      </p:sp>
      <p:sp>
        <p:nvSpPr>
          <p:cNvPr id="16" name="Text 14"/>
          <p:cNvSpPr/>
          <p:nvPr/>
        </p:nvSpPr>
        <p:spPr>
          <a:xfrm>
            <a:off x="8115097" y="3164780"/>
            <a:ext cx="327651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99 Domain Skills</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Code · test · diff</a:t>
            </a:r>
            <a:endParaRPr lang="en-US" sz="1500" dirty="0"/>
          </a:p>
        </p:txBody>
      </p:sp>
      <p:sp>
        <p:nvSpPr>
          <p:cNvPr id="17" name="Text 15"/>
          <p:cNvSpPr/>
          <p:nvPr/>
        </p:nvSpPr>
        <p:spPr>
          <a:xfrm>
            <a:off x="609585" y="5923855"/>
            <a:ext cx="11582110" cy="324545"/>
          </a:xfrm>
          <a:prstGeom prst="rect">
            <a:avLst/>
          </a:prstGeom>
          <a:noFill/>
          <a:ln/>
        </p:spPr>
        <p:txBody>
          <a:bodyPr wrap="none" lIns="0" tIns="0" rIns="0" bIns="0" rtlCol="0" anchor="t"/>
          <a:lstStyle/>
          <a:p>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Sửa </a:t>
            </a:r>
            <a:pPr algn="l" indent="0" marL="0">
              <a:lnSpc>
                <a:spcPct val="118000"/>
              </a:lnSpc>
              <a:buNone/>
            </a:pPr>
            <a:r>
              <a:rPr lang="en-US" sz="1800" dirty="0">
                <a:solidFill>
                  <a:srgbClr val="2B2D31"/>
                </a:solidFill>
                <a:highlight>
                  <a:srgbClr val="F4B9A6"/>
                </a:highlight>
                <a:latin typeface="Consolas" pitchFamily="34" charset="0"/>
                <a:ea typeface="Consolas" pitchFamily="34" charset="-122"/>
                <a:cs typeface="Consolas" pitchFamily="34" charset="-120"/>
              </a:rPr>
              <a:t>inventory_ui.gd</a:t>
            </a:r>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 để click Hotbar không bắn tên. Không sửa script player.</a:t>
            </a:r>
            <a:endParaRPr lang="en-US" sz="1800" dirty="0"/>
          </a:p>
        </p:txBody>
      </p:sp>
      <p:sp>
        <p:nvSpPr>
          <p:cNvPr id="18" name="Text 16"/>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MECHANICS · COLLISION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Hiểu mechanics trước khi giao việc cho AI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4206075"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Layer</a:t>
            </a:r>
            <a:endParaRPr lang="en-US" sz="2500" dirty="0"/>
          </a:p>
        </p:txBody>
      </p:sp>
      <p:sp>
        <p:nvSpPr>
          <p:cNvPr id="6" name="Text 4"/>
          <p:cNvSpPr/>
          <p:nvPr/>
        </p:nvSpPr>
        <p:spPr>
          <a:xfrm>
            <a:off x="609585" y="2406551"/>
            <a:ext cx="4206075"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Tôi thuộc nhóm nào?</a:t>
            </a:r>
            <a:endParaRPr lang="en-US" sz="1500" dirty="0"/>
          </a:p>
        </p:txBody>
      </p:sp>
      <p:sp>
        <p:nvSpPr>
          <p:cNvPr id="7" name="Text 5"/>
          <p:cNvSpPr/>
          <p:nvPr/>
        </p:nvSpPr>
        <p:spPr>
          <a:xfrm>
            <a:off x="609585" y="2854821"/>
            <a:ext cx="4206075"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Mask</a:t>
            </a:r>
            <a:endParaRPr lang="en-US" sz="2500" dirty="0"/>
          </a:p>
        </p:txBody>
      </p:sp>
      <p:sp>
        <p:nvSpPr>
          <p:cNvPr id="8" name="Text 6"/>
          <p:cNvSpPr/>
          <p:nvPr/>
        </p:nvSpPr>
        <p:spPr>
          <a:xfrm>
            <a:off x="609585" y="3416796"/>
            <a:ext cx="4206075"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Tôi tương tác với nhóm nào?</a:t>
            </a:r>
            <a:endParaRPr lang="en-US" sz="1500" dirty="0"/>
          </a:p>
        </p:txBody>
      </p:sp>
      <p:sp>
        <p:nvSpPr>
          <p:cNvPr id="9" name="Text 7"/>
          <p:cNvSpPr/>
          <p:nvPr/>
        </p:nvSpPr>
        <p:spPr>
          <a:xfrm>
            <a:off x="609585" y="5707459"/>
            <a:ext cx="4206075"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Spec giảm mơ hồ.</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Test vẫn bắt buộc.</a:t>
            </a:r>
            <a:endParaRPr lang="en-US" sz="1500" dirty="0"/>
          </a:p>
        </p:txBody>
      </p:sp>
      <p:pic>
        <p:nvPicPr>
          <p:cNvPr id="10" name="Image 0" descr="preencoded.png">    </p:cNvPr>
          <p:cNvPicPr>
            <a:picLocks noChangeAspect="1"/>
          </p:cNvPicPr>
          <p:nvPr/>
        </p:nvPicPr>
        <p:blipFill>
          <a:blip r:embed="rId1"/>
          <a:stretch>
            <a:fillRect/>
          </a:stretch>
        </p:blipFill>
        <p:spPr>
          <a:xfrm>
            <a:off x="5272749" y="1844576"/>
            <a:ext cx="6309361" cy="2857500"/>
          </a:xfrm>
          <a:prstGeom prst="rect">
            <a:avLst/>
          </a:prstGeom>
        </p:spPr>
      </p:pic>
      <p:sp>
        <p:nvSpPr>
          <p:cNvPr id="11" name="Text 8"/>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KỶ LUẬT THI CÔNG · KẾ HOẠCH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Quy tắc 1: Duyệt kế hoạch trước khi sửa code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352716" cy="19050"/>
          </a:xfrm>
          <a:prstGeom prst="rect">
            <a:avLst/>
          </a:prstGeom>
          <a:solidFill>
            <a:srgbClr val="C8321A"/>
          </a:solidFill>
          <a:ln/>
        </p:spPr>
      </p:sp>
      <p:sp>
        <p:nvSpPr>
          <p:cNvPr id="7" name="Text 5"/>
          <p:cNvSpPr/>
          <p:nvPr/>
        </p:nvSpPr>
        <p:spPr>
          <a:xfrm>
            <a:off x="609585" y="2473226"/>
            <a:ext cx="3352716"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Khảo sát repo</a:t>
            </a:r>
            <a:endParaRPr lang="en-US" sz="2500" dirty="0"/>
          </a:p>
        </p:txBody>
      </p:sp>
      <p:sp>
        <p:nvSpPr>
          <p:cNvPr id="8" name="Text 6"/>
          <p:cNvSpPr/>
          <p:nvPr/>
        </p:nvSpPr>
        <p:spPr>
          <a:xfrm>
            <a:off x="609585" y="3035201"/>
            <a:ext cx="3352716"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Tách UI, data, input</a:t>
            </a:r>
            <a:endParaRPr lang="en-US" sz="1500" dirty="0"/>
          </a:p>
        </p:txBody>
      </p:sp>
      <p:sp>
        <p:nvSpPr>
          <p:cNvPr id="9" name="Shape 7"/>
          <p:cNvSpPr/>
          <p:nvPr/>
        </p:nvSpPr>
        <p:spPr>
          <a:xfrm>
            <a:off x="4419489" y="1844576"/>
            <a:ext cx="3352716" cy="3901480"/>
          </a:xfrm>
          <a:prstGeom prst="rect">
            <a:avLst/>
          </a:prstGeom>
          <a:solidFill>
            <a:srgbClr val="F4B9A6"/>
          </a:solidFill>
          <a:ln/>
        </p:spPr>
      </p:sp>
      <p:sp>
        <p:nvSpPr>
          <p:cNvPr id="10" name="Text 8"/>
          <p:cNvSpPr/>
          <p:nvPr/>
        </p:nvSpPr>
        <p:spPr>
          <a:xfrm>
            <a:off x="4648084" y="20731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02</a:t>
            </a:r>
            <a:endParaRPr lang="en-US" sz="1500" dirty="0"/>
          </a:p>
        </p:txBody>
      </p:sp>
      <p:sp>
        <p:nvSpPr>
          <p:cNvPr id="11" name="Shape 9"/>
          <p:cNvSpPr/>
          <p:nvPr/>
        </p:nvSpPr>
        <p:spPr>
          <a:xfrm>
            <a:off x="4648084" y="2339876"/>
            <a:ext cx="2895528" cy="19050"/>
          </a:xfrm>
          <a:prstGeom prst="rect">
            <a:avLst/>
          </a:prstGeom>
          <a:solidFill>
            <a:srgbClr val="C8321A"/>
          </a:solidFill>
          <a:ln/>
        </p:spPr>
      </p:sp>
      <p:sp>
        <p:nvSpPr>
          <p:cNvPr id="12" name="Text 10"/>
          <p:cNvSpPr/>
          <p:nvPr/>
        </p:nvSpPr>
        <p:spPr>
          <a:xfrm>
            <a:off x="4648084" y="2473226"/>
            <a:ext cx="2895528"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Viết kế hoạch</a:t>
            </a:r>
            <a:endParaRPr lang="en-US" sz="2500" dirty="0"/>
          </a:p>
        </p:txBody>
      </p:sp>
      <p:sp>
        <p:nvSpPr>
          <p:cNvPr id="13" name="Text 11"/>
          <p:cNvSpPr/>
          <p:nvPr/>
        </p:nvSpPr>
        <p:spPr>
          <a:xfrm>
            <a:off x="4648084" y="3035201"/>
            <a:ext cx="2895528" cy="655241"/>
          </a:xfrm>
          <a:prstGeom prst="rect">
            <a:avLst/>
          </a:prstGeom>
          <a:noFill/>
          <a:ln/>
        </p:spPr>
        <p:txBody>
          <a:bodyPr wrap="square" lIns="0" tIns="0" rIns="0" bIns="0" rtlCol="0" anchor="t"/>
          <a:lstStyle/>
          <a:p>
            <a:pPr algn="l" indent="0" marL="0">
              <a:lnSpc>
                <a:spcPct val="118000"/>
              </a:lnSpc>
              <a:spcAft>
                <a:spcPts val="850"/>
              </a:spcAft>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Nguyên nhân · file · diff · test</a:t>
            </a:r>
            <a:endParaRPr lang="en-US" sz="1500" dirty="0"/>
          </a:p>
        </p:txBody>
      </p:sp>
      <p:sp>
        <p:nvSpPr>
          <p:cNvPr id="14" name="Shape 12"/>
          <p:cNvSpPr/>
          <p:nvPr/>
        </p:nvSpPr>
        <p:spPr>
          <a:xfrm>
            <a:off x="8229394" y="1844576"/>
            <a:ext cx="3352716" cy="3901480"/>
          </a:xfrm>
          <a:prstGeom prst="rect">
            <a:avLst/>
          </a:prstGeom>
          <a:solidFill>
            <a:srgbClr val="8FD3C6"/>
          </a:solidFill>
          <a:ln/>
        </p:spPr>
      </p:sp>
      <p:sp>
        <p:nvSpPr>
          <p:cNvPr id="15" name="Text 13"/>
          <p:cNvSpPr/>
          <p:nvPr/>
        </p:nvSpPr>
        <p:spPr>
          <a:xfrm>
            <a:off x="8457988" y="20731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03</a:t>
            </a:r>
            <a:endParaRPr lang="en-US" sz="1500" dirty="0"/>
          </a:p>
        </p:txBody>
      </p:sp>
      <p:sp>
        <p:nvSpPr>
          <p:cNvPr id="16" name="Shape 14"/>
          <p:cNvSpPr/>
          <p:nvPr/>
        </p:nvSpPr>
        <p:spPr>
          <a:xfrm>
            <a:off x="8457988" y="2339876"/>
            <a:ext cx="2895528" cy="19050"/>
          </a:xfrm>
          <a:prstGeom prst="rect">
            <a:avLst/>
          </a:prstGeom>
          <a:solidFill>
            <a:srgbClr val="C8321A"/>
          </a:solidFill>
          <a:ln/>
        </p:spPr>
      </p:sp>
      <p:sp>
        <p:nvSpPr>
          <p:cNvPr id="17" name="Text 15"/>
          <p:cNvSpPr/>
          <p:nvPr/>
        </p:nvSpPr>
        <p:spPr>
          <a:xfrm>
            <a:off x="8457988" y="2473226"/>
            <a:ext cx="2895528" cy="419100"/>
          </a:xfrm>
          <a:prstGeom prst="rect">
            <a:avLst/>
          </a:prstGeom>
          <a:noFill/>
          <a:ln/>
        </p:spPr>
        <p:txBody>
          <a:bodyPr wrap="none" lIns="0" tIns="0" rIns="0" bIns="0" rtlCol="0" anchor="t"/>
          <a:lstStyle/>
          <a:p>
            <a:pPr algn="l" indent="0" marL="0">
              <a:lnSpc>
                <a:spcPct val="110000"/>
              </a:lnSpc>
              <a:buNone/>
            </a:pPr>
            <a:r>
              <a:rPr lang="en-US" sz="2500" dirty="0">
                <a:solidFill>
                  <a:srgbClr val="000000"/>
                </a:solidFill>
                <a:latin typeface="Noto Sans" pitchFamily="34" charset="0"/>
                <a:ea typeface="Noto Sans" pitchFamily="34" charset="-122"/>
                <a:cs typeface="Noto Sans" pitchFamily="34" charset="-120"/>
              </a:rPr>
              <a:t>Tôi duyệt</a:t>
            </a:r>
            <a:endParaRPr lang="en-US" sz="2500" dirty="0"/>
          </a:p>
        </p:txBody>
      </p:sp>
      <p:sp>
        <p:nvSpPr>
          <p:cNvPr id="18" name="Text 16"/>
          <p:cNvSpPr/>
          <p:nvPr/>
        </p:nvSpPr>
        <p:spPr>
          <a:xfrm>
            <a:off x="8457988" y="3035201"/>
            <a:ext cx="3124122"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Rồi mới sửa code</a:t>
            </a:r>
            <a:endParaRPr lang="en-US" sz="1500" dirty="0"/>
          </a:p>
        </p:txBody>
      </p:sp>
      <p:sp>
        <p:nvSpPr>
          <p:cNvPr id="19" name="Text 17"/>
          <p:cNvSpPr/>
          <p:nvPr/>
        </p:nvSpPr>
        <p:spPr>
          <a:xfrm>
            <a:off x="609585" y="5923855"/>
            <a:ext cx="11582110" cy="324545"/>
          </a:xfrm>
          <a:prstGeom prst="rect">
            <a:avLst/>
          </a:prstGeom>
          <a:noFill/>
          <a:ln/>
        </p:spPr>
        <p:txBody>
          <a:bodyPr wrap="none" lIns="0" tIns="0" rIns="0" bIns="0" rtlCol="0" anchor="t"/>
          <a:lstStyle/>
          <a:p>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Phạm vi rõ ràng ngăn một bugfix biến thành sửa dây chuyền.</a:t>
            </a:r>
            <a:endParaRPr lang="en-US" sz="1800" dirty="0"/>
          </a:p>
        </p:txBody>
      </p:sp>
      <p:sp>
        <p:nvSpPr>
          <p:cNvPr id="20" name="Text 18"/>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KỶ LUẬT THI CÔNG · NGỮ CẢNH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Quy tắc 2: Một task, một phiên mới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505112" cy="4041676"/>
          </a:xfrm>
          <a:prstGeom prst="rect">
            <a:avLst/>
          </a:prstGeom>
          <a:solidFill>
            <a:srgbClr val="F4B9A6"/>
          </a:solidFill>
          <a:ln/>
        </p:spPr>
      </p:sp>
      <p:sp>
        <p:nvSpPr>
          <p:cNvPr id="6" name="Text 4"/>
          <p:cNvSpPr/>
          <p:nvPr/>
        </p:nvSpPr>
        <p:spPr>
          <a:xfrm>
            <a:off x="838179" y="2073176"/>
            <a:ext cx="3047924"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Phase 2</a:t>
            </a:r>
            <a:endParaRPr lang="en-US" sz="2500" dirty="0"/>
          </a:p>
        </p:txBody>
      </p:sp>
      <p:sp>
        <p:nvSpPr>
          <p:cNvPr id="7" name="Text 5"/>
          <p:cNvSpPr/>
          <p:nvPr/>
        </p:nvSpPr>
        <p:spPr>
          <a:xfrm>
            <a:off x="838179" y="2635151"/>
            <a:ext cx="3276518"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Cung tên + quái + spawner</a:t>
            </a:r>
            <a:endParaRPr lang="en-US" sz="1500" dirty="0"/>
          </a:p>
        </p:txBody>
      </p:sp>
      <p:sp>
        <p:nvSpPr>
          <p:cNvPr id="8" name="Text 6"/>
          <p:cNvSpPr/>
          <p:nvPr/>
        </p:nvSpPr>
        <p:spPr>
          <a:xfrm>
            <a:off x="838179" y="5116711"/>
            <a:ext cx="304792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Slime spawn trong núi.</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Cung thủ bắn ngược.</a:t>
            </a:r>
            <a:endParaRPr lang="en-US" sz="1500" dirty="0"/>
          </a:p>
        </p:txBody>
      </p:sp>
      <p:sp>
        <p:nvSpPr>
          <p:cNvPr id="9" name="Text 7"/>
          <p:cNvSpPr/>
          <p:nvPr/>
        </p:nvSpPr>
        <p:spPr>
          <a:xfrm>
            <a:off x="4571886" y="1844576"/>
            <a:ext cx="213354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Phiên mới</a:t>
            </a:r>
            <a:endParaRPr lang="en-US" sz="1900" dirty="0"/>
          </a:p>
        </p:txBody>
      </p:sp>
      <p:sp>
        <p:nvSpPr>
          <p:cNvPr id="10" name="Text 8"/>
          <p:cNvSpPr/>
          <p:nvPr/>
        </p:nvSpPr>
        <p:spPr>
          <a:xfrm>
            <a:off x="4571886" y="2305943"/>
            <a:ext cx="2133547"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Spec + file liên quan</a:t>
            </a:r>
            <a:endParaRPr lang="en-US" sz="1500" dirty="0"/>
          </a:p>
        </p:txBody>
      </p:sp>
      <p:sp>
        <p:nvSpPr>
          <p:cNvPr id="11" name="Text 9"/>
          <p:cNvSpPr/>
          <p:nvPr/>
        </p:nvSpPr>
        <p:spPr>
          <a:xfrm>
            <a:off x="7010225" y="1844576"/>
            <a:ext cx="213354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Nghiệm thu</a:t>
            </a:r>
            <a:endParaRPr lang="en-US" sz="1900" dirty="0"/>
          </a:p>
        </p:txBody>
      </p:sp>
      <p:sp>
        <p:nvSpPr>
          <p:cNvPr id="12" name="Text 10"/>
          <p:cNvSpPr/>
          <p:nvPr/>
        </p:nvSpPr>
        <p:spPr>
          <a:xfrm>
            <a:off x="7010225" y="2305943"/>
            <a:ext cx="2133547"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Tiêu chí rõ ràng</a:t>
            </a:r>
            <a:endParaRPr lang="en-US" sz="1500" dirty="0"/>
          </a:p>
        </p:txBody>
      </p:sp>
      <p:sp>
        <p:nvSpPr>
          <p:cNvPr id="13" name="Text 11"/>
          <p:cNvSpPr/>
          <p:nvPr/>
        </p:nvSpPr>
        <p:spPr>
          <a:xfrm>
            <a:off x="9448564" y="1844576"/>
            <a:ext cx="213354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Commit</a:t>
            </a:r>
            <a:endParaRPr lang="en-US" sz="1900" dirty="0"/>
          </a:p>
        </p:txBody>
      </p:sp>
      <p:sp>
        <p:nvSpPr>
          <p:cNvPr id="14" name="Text 12"/>
          <p:cNvSpPr/>
          <p:nvPr/>
        </p:nvSpPr>
        <p:spPr>
          <a:xfrm>
            <a:off x="9448564" y="2305943"/>
            <a:ext cx="2133547"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Rồi sang task khác</a:t>
            </a:r>
            <a:endParaRPr lang="en-US" sz="1500" dirty="0"/>
          </a:p>
        </p:txBody>
      </p:sp>
      <p:sp>
        <p:nvSpPr>
          <p:cNvPr id="15" name="Text 13"/>
          <p:cNvSpPr/>
          <p:nvPr/>
        </p:nvSpPr>
        <p:spPr>
          <a:xfrm>
            <a:off x="609585" y="6064052"/>
            <a:ext cx="11582110"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4A4C51"/>
                </a:solidFill>
                <a:latin typeface="Noto Sans" pitchFamily="34" charset="0"/>
                <a:ea typeface="Noto Sans" pitchFamily="34" charset="-122"/>
                <a:cs typeface="Noto Sans" pitchFamily="34" charset="-120"/>
              </a:rPr>
              <a:t>Giảm ngữ cảnh thừa, không phải phán quyết rằng mọi phiên dài đều thất bại.</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KỶ LUẬT THI CÔNG · GAUNTLET LOOP</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Quy tắc 3: Vượt kiểm tra rồi mới merge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r>
          <p:cNvPicPr>
            <a:picLocks noChangeAspect="1"/>
          </p:cNvPicPr>
          <p:nvPr/>
        </p:nvPicPr>
        <p:blipFill>
          <a:blip r:embed="rId1"/>
          <a:stretch>
            <a:fillRect/>
          </a:stretch>
        </p:blipFill>
        <p:spPr>
          <a:xfrm>
            <a:off x="609585" y="1844576"/>
            <a:ext cx="10972526" cy="2857500"/>
          </a:xfrm>
          <a:prstGeom prst="rect">
            <a:avLst/>
          </a:prstGeom>
        </p:spPr>
      </p:pic>
      <p:sp>
        <p:nvSpPr>
          <p:cNvPr id="6" name="Text 3"/>
          <p:cNvSpPr/>
          <p:nvPr/>
        </p:nvSpPr>
        <p:spPr>
          <a:xfrm>
            <a:off x="609585" y="4879876"/>
            <a:ext cx="11582110" cy="324545"/>
          </a:xfrm>
          <a:prstGeom prst="rect">
            <a:avLst/>
          </a:prstGeom>
          <a:noFill/>
          <a:ln/>
        </p:spPr>
        <p:txBody>
          <a:bodyPr wrap="none" lIns="0" tIns="0" rIns="0" bIns="0" rtlCol="0" anchor="t"/>
          <a:lstStyle/>
          <a:p>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Hai agent đồng ý chưa thay thế nghiệm thu của tôi.</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KỶ LUẬT THI CÔNG · TEST SCENE</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Quy tắc 4: Cô lập scene để đo đúng lỗi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6309262" cy="4403824"/>
          </a:xfrm>
          <a:prstGeom prst="rect">
            <a:avLst/>
          </a:prstGeom>
          <a:solidFill>
            <a:srgbClr val="F4B9A6"/>
          </a:solidFill>
          <a:ln/>
        </p:spPr>
      </p:sp>
      <p:sp>
        <p:nvSpPr>
          <p:cNvPr id="6" name="Text 4"/>
          <p:cNvSpPr/>
          <p:nvPr/>
        </p:nvSpPr>
        <p:spPr>
          <a:xfrm>
            <a:off x="838179" y="2073176"/>
            <a:ext cx="608066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2B2D31"/>
                </a:solidFill>
                <a:latin typeface="M PLUS 1 Code Medium" pitchFamily="34" charset="0"/>
                <a:ea typeface="M PLUS 1 Code Medium" pitchFamily="34" charset="-122"/>
                <a:cs typeface="M PLUS 1 Code Medium" pitchFamily="34" charset="-120"/>
              </a:rPr>
              <a:t>TEST_EXEC_DAMAGE.TSCN</a:t>
            </a:r>
            <a:endParaRPr lang="en-US" sz="1100" dirty="0"/>
          </a:p>
        </p:txBody>
      </p:sp>
      <p:sp>
        <p:nvSpPr>
          <p:cNvPr id="7" name="Text 5"/>
          <p:cNvSpPr/>
          <p:nvPr/>
        </p:nvSpPr>
        <p:spPr>
          <a:xfrm>
            <a:off x="838179" y="2334121"/>
            <a:ext cx="5852073" cy="1241425"/>
          </a:xfrm>
          <a:prstGeom prst="rect">
            <a:avLst/>
          </a:prstGeom>
          <a:noFill/>
          <a:ln/>
        </p:spPr>
        <p:txBody>
          <a:bodyPr wrap="square" lIns="0" tIns="0" rIns="0" bIns="0" rtlCol="0" anchor="t">
            <a:normAutofit/>
          </a:bodyPr>
          <a:lstStyle/>
          <a:p>
            <a:pPr algn="l" indent="0" marL="0">
              <a:lnSpc>
                <a:spcPct val="78000"/>
              </a:lnSpc>
              <a:buNone/>
            </a:pPr>
            <a:r>
              <a:rPr lang="en-US" sz="5200" spc="-208" kern="100" dirty="0">
                <a:solidFill>
                  <a:srgbClr val="2B2D31"/>
                </a:solidFill>
                <a:latin typeface="Noto Sans Black" pitchFamily="34" charset="0"/>
                <a:ea typeface="Noto Sans Black" pitchFamily="34" charset="-122"/>
                <a:cs typeface="Noto Sans Black" pitchFamily="34" charset="-120"/>
              </a:rPr>
              <a:t>3 giây</a:t>
            </a:r>
            <a:endParaRPr lang="en-US" sz="5200" dirty="0"/>
          </a:p>
          <a:p>
            <a:pPr algn="l" indent="0" marL="0">
              <a:lnSpc>
                <a:spcPct val="78000"/>
              </a:lnSpc>
              <a:buNone/>
            </a:pPr>
            <a:r>
              <a:rPr lang="en-US" sz="5200" spc="-208" kern="100" dirty="0">
                <a:solidFill>
                  <a:srgbClr val="2B2D31"/>
                </a:solidFill>
                <a:latin typeface="Noto Sans Black" pitchFamily="34" charset="0"/>
                <a:ea typeface="Noto Sans Black" pitchFamily="34" charset="-122"/>
                <a:cs typeface="Noto Sans Black" pitchFamily="34" charset="-120"/>
              </a:rPr>
              <a:t>25 HP</a:t>
            </a:r>
            <a:endParaRPr lang="en-US" sz="5200" dirty="0"/>
          </a:p>
        </p:txBody>
      </p:sp>
      <p:sp>
        <p:nvSpPr>
          <p:cNvPr id="8" name="Shape 6"/>
          <p:cNvSpPr/>
          <p:nvPr/>
        </p:nvSpPr>
        <p:spPr>
          <a:xfrm>
            <a:off x="838179" y="3818434"/>
            <a:ext cx="1462944" cy="31651"/>
          </a:xfrm>
          <a:prstGeom prst="roundRect">
            <a:avLst>
              <a:gd name="adj" fmla="val 49998"/>
            </a:avLst>
          </a:prstGeom>
          <a:solidFill>
            <a:srgbClr val="C8321A"/>
          </a:solidFill>
          <a:ln/>
        </p:spPr>
      </p:sp>
      <p:sp>
        <p:nvSpPr>
          <p:cNvPr id="9" name="Text 7"/>
          <p:cNvSpPr/>
          <p:nvPr/>
        </p:nvSpPr>
        <p:spPr>
          <a:xfrm>
            <a:off x="1028674" y="4201021"/>
            <a:ext cx="2544996" cy="838200"/>
          </a:xfrm>
          <a:prstGeom prst="rect">
            <a:avLst/>
          </a:prstGeom>
          <a:noFill/>
          <a:ln/>
        </p:spPr>
        <p:txBody>
          <a:bodyPr wrap="square" lIns="0" tIns="0" rIns="0" bIns="0" rtlCol="0" anchor="t">
            <a:normAutofit/>
          </a:bodyPr>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Boss Executioner</a:t>
            </a:r>
            <a:endParaRPr lang="en-US" sz="2500" dirty="0"/>
          </a:p>
        </p:txBody>
      </p:sp>
      <p:sp>
        <p:nvSpPr>
          <p:cNvPr id="10" name="Text 8"/>
          <p:cNvSpPr/>
          <p:nvPr/>
        </p:nvSpPr>
        <p:spPr>
          <a:xfrm>
            <a:off x="1028674" y="5182096"/>
            <a:ext cx="2735492"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Đòn đánh</a:t>
            </a:r>
            <a:endParaRPr lang="en-US" sz="1500" dirty="0"/>
          </a:p>
        </p:txBody>
      </p:sp>
      <p:sp>
        <p:nvSpPr>
          <p:cNvPr id="11" name="Text 9"/>
          <p:cNvSpPr/>
          <p:nvPr/>
        </p:nvSpPr>
        <p:spPr>
          <a:xfrm>
            <a:off x="3954661" y="4201021"/>
            <a:ext cx="2545096"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Dummy</a:t>
            </a:r>
            <a:endParaRPr lang="en-US" sz="2500" dirty="0"/>
          </a:p>
        </p:txBody>
      </p:sp>
      <p:sp>
        <p:nvSpPr>
          <p:cNvPr id="12" name="Text 10"/>
          <p:cNvSpPr/>
          <p:nvPr/>
        </p:nvSpPr>
        <p:spPr>
          <a:xfrm>
            <a:off x="3954661" y="4762996"/>
            <a:ext cx="2735591"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Sát thương + giật lùi</a:t>
            </a:r>
            <a:endParaRPr lang="en-US" sz="1500" dirty="0"/>
          </a:p>
        </p:txBody>
      </p:sp>
      <p:sp>
        <p:nvSpPr>
          <p:cNvPr id="13" name="Text 11"/>
          <p:cNvSpPr/>
          <p:nvPr/>
        </p:nvSpPr>
        <p:spPr>
          <a:xfrm>
            <a:off x="7375936" y="1844576"/>
            <a:ext cx="4206174"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Logic</a:t>
            </a:r>
            <a:endParaRPr lang="en-US" sz="2500" dirty="0"/>
          </a:p>
        </p:txBody>
      </p:sp>
      <p:sp>
        <p:nvSpPr>
          <p:cNvPr id="14" name="Text 12"/>
          <p:cNvSpPr/>
          <p:nvPr/>
        </p:nvSpPr>
        <p:spPr>
          <a:xfrm>
            <a:off x="7375936" y="2406551"/>
            <a:ext cx="4206174"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Log + thông số</a:t>
            </a:r>
            <a:endParaRPr lang="en-US" sz="1500" dirty="0"/>
          </a:p>
        </p:txBody>
      </p:sp>
      <p:sp>
        <p:nvSpPr>
          <p:cNvPr id="15" name="Text 13"/>
          <p:cNvSpPr/>
          <p:nvPr/>
        </p:nvSpPr>
        <p:spPr>
          <a:xfrm>
            <a:off x="7375936" y="4139803"/>
            <a:ext cx="4206174"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Hiển thị</a:t>
            </a:r>
            <a:endParaRPr lang="en-US" sz="2500" dirty="0"/>
          </a:p>
        </p:txBody>
      </p:sp>
      <p:sp>
        <p:nvSpPr>
          <p:cNvPr id="16" name="Text 14"/>
          <p:cNvSpPr/>
          <p:nvPr/>
        </p:nvSpPr>
        <p:spPr>
          <a:xfrm>
            <a:off x="7375936" y="4701778"/>
            <a:ext cx="420617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Ảnh từ engine</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Thanh máu · chữ · icon · bố cục</a:t>
            </a:r>
            <a:endParaRPr lang="en-US" sz="1500" dirty="0"/>
          </a:p>
        </p:txBody>
      </p:sp>
      <p:sp>
        <p:nvSpPr>
          <p:cNvPr id="17" name="Shape 15"/>
          <p:cNvSpPr/>
          <p:nvPr/>
        </p:nvSpPr>
        <p:spPr>
          <a:xfrm>
            <a:off x="7375936" y="3904853"/>
            <a:ext cx="4206174" cy="12700"/>
          </a:xfrm>
          <a:prstGeom prst="rect">
            <a:avLst/>
          </a:prstGeom>
          <a:solidFill>
            <a:srgbClr val="B9B7AE"/>
          </a:solidFill>
          <a:ln/>
        </p:spPr>
      </p:sp>
      <p:sp>
        <p:nvSpPr>
          <p:cNvPr id="18" name="Text 16"/>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ASSET · MINH HỌA KỸ THUẬT, KHÔNG PHẢI ASSET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Pixel art đẹp chưa chắc là asset dùng được</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r>
          <p:cNvPicPr>
            <a:picLocks noChangeAspect="1"/>
          </p:cNvPicPr>
          <p:nvPr/>
        </p:nvPicPr>
        <p:blipFill>
          <a:blip r:embed="rId1"/>
          <a:stretch>
            <a:fillRect/>
          </a:stretch>
        </p:blipFill>
        <p:spPr>
          <a:xfrm>
            <a:off x="609585" y="1844576"/>
            <a:ext cx="10972526" cy="2762250"/>
          </a:xfrm>
          <a:prstGeom prst="rect">
            <a:avLst/>
          </a:prstGeom>
        </p:spPr>
      </p:pic>
      <p:sp>
        <p:nvSpPr>
          <p:cNvPr id="6" name="Text 3"/>
          <p:cNvSpPr/>
          <p:nvPr/>
        </p:nvSpPr>
        <p:spPr>
          <a:xfrm>
            <a:off x="609585" y="4784626"/>
            <a:ext cx="11582110" cy="324545"/>
          </a:xfrm>
          <a:prstGeom prst="rect">
            <a:avLst/>
          </a:prstGeom>
          <a:noFill/>
          <a:ln/>
        </p:spPr>
        <p:txBody>
          <a:bodyPr wrap="none" lIns="0" tIns="0" rIns="0" bIns="0" rtlCol="0" anchor="t"/>
          <a:lstStyle/>
          <a:p>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Đánh giá trên lưới và chuỗi frame, không chỉ trên một ảnh đẹp.</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ASSET · PIPELINE CHUẨN HÓA</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Năm bước chuẩn hóa asset trước khi vào game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01</a:t>
            </a:r>
            <a:endParaRPr lang="en-US" sz="1500" dirty="0"/>
          </a:p>
        </p:txBody>
      </p:sp>
      <p:sp>
        <p:nvSpPr>
          <p:cNvPr id="6" name="Shape 4"/>
          <p:cNvSpPr/>
          <p:nvPr/>
        </p:nvSpPr>
        <p:spPr>
          <a:xfrm>
            <a:off x="609585" y="2111276"/>
            <a:ext cx="1950592" cy="19050"/>
          </a:xfrm>
          <a:prstGeom prst="rect">
            <a:avLst/>
          </a:prstGeom>
          <a:solidFill>
            <a:srgbClr val="C8321A"/>
          </a:solidFill>
          <a:ln/>
        </p:spPr>
      </p:sp>
      <p:sp>
        <p:nvSpPr>
          <p:cNvPr id="7" name="Text 5"/>
          <p:cNvSpPr/>
          <p:nvPr/>
        </p:nvSpPr>
        <p:spPr>
          <a:xfrm>
            <a:off x="609585" y="2244626"/>
            <a:ext cx="1950691"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Identity Anchor</a:t>
            </a:r>
            <a:endParaRPr lang="en-US" sz="1900" dirty="0"/>
          </a:p>
        </p:txBody>
      </p:sp>
      <p:sp>
        <p:nvSpPr>
          <p:cNvPr id="8" name="Text 6"/>
          <p:cNvSpPr/>
          <p:nvPr/>
        </p:nvSpPr>
        <p:spPr>
          <a:xfrm>
            <a:off x="609585" y="2705993"/>
            <a:ext cx="195069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Canvas 1024 × 1024</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Chroma key</a:t>
            </a:r>
            <a:endParaRPr lang="en-US" sz="1500" dirty="0"/>
          </a:p>
        </p:txBody>
      </p:sp>
      <p:sp>
        <p:nvSpPr>
          <p:cNvPr id="9" name="Text 7"/>
          <p:cNvSpPr/>
          <p:nvPr/>
        </p:nvSpPr>
        <p:spPr>
          <a:xfrm>
            <a:off x="2864969" y="18445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02</a:t>
            </a:r>
            <a:endParaRPr lang="en-US" sz="1500" dirty="0"/>
          </a:p>
        </p:txBody>
      </p:sp>
      <p:sp>
        <p:nvSpPr>
          <p:cNvPr id="10" name="Shape 8"/>
          <p:cNvSpPr/>
          <p:nvPr/>
        </p:nvSpPr>
        <p:spPr>
          <a:xfrm>
            <a:off x="2864969" y="2111276"/>
            <a:ext cx="1950592" cy="19050"/>
          </a:xfrm>
          <a:prstGeom prst="rect">
            <a:avLst/>
          </a:prstGeom>
          <a:solidFill>
            <a:srgbClr val="C8321A"/>
          </a:solidFill>
          <a:ln/>
        </p:spPr>
      </p:sp>
      <p:sp>
        <p:nvSpPr>
          <p:cNvPr id="11" name="Text 9"/>
          <p:cNvSpPr/>
          <p:nvPr/>
        </p:nvSpPr>
        <p:spPr>
          <a:xfrm>
            <a:off x="2864969" y="2244626"/>
            <a:ext cx="1950691"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Pixel Snapping</a:t>
            </a:r>
            <a:endParaRPr lang="en-US" sz="1900" dirty="0"/>
          </a:p>
        </p:txBody>
      </p:sp>
      <p:sp>
        <p:nvSpPr>
          <p:cNvPr id="12" name="Text 10"/>
          <p:cNvSpPr/>
          <p:nvPr/>
        </p:nvSpPr>
        <p:spPr>
          <a:xfrm>
            <a:off x="2864969" y="2705993"/>
            <a:ext cx="195069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Palette hữu hạn</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Nearest-neighbor</a:t>
            </a:r>
            <a:endParaRPr lang="en-US" sz="1500" dirty="0"/>
          </a:p>
        </p:txBody>
      </p:sp>
      <p:sp>
        <p:nvSpPr>
          <p:cNvPr id="13" name="Text 11"/>
          <p:cNvSpPr/>
          <p:nvPr/>
        </p:nvSpPr>
        <p:spPr>
          <a:xfrm>
            <a:off x="5120353" y="18445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03</a:t>
            </a:r>
            <a:endParaRPr lang="en-US" sz="1500" dirty="0"/>
          </a:p>
        </p:txBody>
      </p:sp>
      <p:sp>
        <p:nvSpPr>
          <p:cNvPr id="14" name="Shape 12"/>
          <p:cNvSpPr/>
          <p:nvPr/>
        </p:nvSpPr>
        <p:spPr>
          <a:xfrm>
            <a:off x="5120353" y="2111276"/>
            <a:ext cx="1950889" cy="19050"/>
          </a:xfrm>
          <a:prstGeom prst="rect">
            <a:avLst/>
          </a:prstGeom>
          <a:solidFill>
            <a:srgbClr val="C8321A"/>
          </a:solidFill>
          <a:ln/>
        </p:spPr>
      </p:sp>
      <p:sp>
        <p:nvSpPr>
          <p:cNvPr id="15" name="Text 13"/>
          <p:cNvSpPr/>
          <p:nvPr/>
        </p:nvSpPr>
        <p:spPr>
          <a:xfrm>
            <a:off x="5120353" y="2244626"/>
            <a:ext cx="1950889"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Pose Board</a:t>
            </a:r>
            <a:endParaRPr lang="en-US" sz="1900" dirty="0"/>
          </a:p>
        </p:txBody>
      </p:sp>
      <p:sp>
        <p:nvSpPr>
          <p:cNvPr id="16" name="Text 14"/>
          <p:cNvSpPr/>
          <p:nvPr/>
        </p:nvSpPr>
        <p:spPr>
          <a:xfrm>
            <a:off x="5120353" y="2705993"/>
            <a:ext cx="1950889"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Attack 8 frame</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Hurt 6 frame</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Death 10 frame</a:t>
            </a:r>
            <a:endParaRPr lang="en-US" sz="1500" dirty="0"/>
          </a:p>
        </p:txBody>
      </p:sp>
      <p:sp>
        <p:nvSpPr>
          <p:cNvPr id="17" name="Text 15"/>
          <p:cNvSpPr/>
          <p:nvPr/>
        </p:nvSpPr>
        <p:spPr>
          <a:xfrm>
            <a:off x="7375936" y="18445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04</a:t>
            </a:r>
            <a:endParaRPr lang="en-US" sz="1500" dirty="0"/>
          </a:p>
        </p:txBody>
      </p:sp>
      <p:sp>
        <p:nvSpPr>
          <p:cNvPr id="18" name="Shape 16"/>
          <p:cNvSpPr/>
          <p:nvPr/>
        </p:nvSpPr>
        <p:spPr>
          <a:xfrm>
            <a:off x="7375936" y="2111276"/>
            <a:ext cx="1950592" cy="19050"/>
          </a:xfrm>
          <a:prstGeom prst="rect">
            <a:avLst/>
          </a:prstGeom>
          <a:solidFill>
            <a:srgbClr val="C8321A"/>
          </a:solidFill>
          <a:ln/>
        </p:spPr>
      </p:sp>
      <p:sp>
        <p:nvSpPr>
          <p:cNvPr id="19" name="Text 17"/>
          <p:cNvSpPr/>
          <p:nvPr/>
        </p:nvSpPr>
        <p:spPr>
          <a:xfrm>
            <a:off x="7375936" y="2244626"/>
            <a:ext cx="1950691"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Recovery &amp; Curation</a:t>
            </a:r>
            <a:endParaRPr lang="en-US" sz="1900" dirty="0"/>
          </a:p>
        </p:txBody>
      </p:sp>
      <p:sp>
        <p:nvSpPr>
          <p:cNvPr id="20" name="Text 18"/>
          <p:cNvSpPr/>
          <p:nvPr/>
        </p:nvSpPr>
        <p:spPr>
          <a:xfrm>
            <a:off x="7375936" y="3024485"/>
            <a:ext cx="1950691"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Tách nền</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Bounding box</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Loại frame lỗi</a:t>
            </a:r>
            <a:endParaRPr lang="en-US" sz="1500" dirty="0"/>
          </a:p>
        </p:txBody>
      </p:sp>
      <p:sp>
        <p:nvSpPr>
          <p:cNvPr id="21" name="Text 19"/>
          <p:cNvSpPr/>
          <p:nvPr/>
        </p:nvSpPr>
        <p:spPr>
          <a:xfrm>
            <a:off x="9631320" y="18445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05</a:t>
            </a:r>
            <a:endParaRPr lang="en-US" sz="1500" dirty="0"/>
          </a:p>
        </p:txBody>
      </p:sp>
      <p:sp>
        <p:nvSpPr>
          <p:cNvPr id="22" name="Shape 20"/>
          <p:cNvSpPr/>
          <p:nvPr/>
        </p:nvSpPr>
        <p:spPr>
          <a:xfrm>
            <a:off x="9631320" y="2111276"/>
            <a:ext cx="1950691" cy="19050"/>
          </a:xfrm>
          <a:prstGeom prst="rect">
            <a:avLst/>
          </a:prstGeom>
          <a:solidFill>
            <a:srgbClr val="C8321A"/>
          </a:solidFill>
          <a:ln/>
        </p:spPr>
      </p:sp>
      <p:sp>
        <p:nvSpPr>
          <p:cNvPr id="23" name="Text 21"/>
          <p:cNvSpPr/>
          <p:nvPr/>
        </p:nvSpPr>
        <p:spPr>
          <a:xfrm>
            <a:off x="9631320" y="2244626"/>
            <a:ext cx="1950790"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Anchoring &amp; Onion Skin</a:t>
            </a:r>
            <a:endParaRPr lang="en-US" sz="1900" dirty="0"/>
          </a:p>
        </p:txBody>
      </p:sp>
      <p:sp>
        <p:nvSpPr>
          <p:cNvPr id="24" name="Text 22"/>
          <p:cNvSpPr/>
          <p:nvPr/>
        </p:nvSpPr>
        <p:spPr>
          <a:xfrm>
            <a:off x="9631320" y="3024485"/>
            <a:ext cx="1950790"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Cố định chân</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AnimatedSprite2D trong Godot</a:t>
            </a:r>
            <a:endParaRPr lang="en-US" sz="1500" dirty="0"/>
          </a:p>
        </p:txBody>
      </p:sp>
      <p:sp>
        <p:nvSpPr>
          <p:cNvPr id="25" name="Shape 23"/>
          <p:cNvSpPr/>
          <p:nvPr/>
        </p:nvSpPr>
        <p:spPr>
          <a:xfrm>
            <a:off x="609585" y="5571530"/>
            <a:ext cx="10972526" cy="676870"/>
          </a:xfrm>
          <a:prstGeom prst="rect">
            <a:avLst/>
          </a:prstGeom>
          <a:solidFill>
            <a:srgbClr val="8FD3C6"/>
          </a:solidFill>
          <a:ln/>
        </p:spPr>
      </p:sp>
      <p:sp>
        <p:nvSpPr>
          <p:cNvPr id="26" name="Text 24"/>
          <p:cNvSpPr/>
          <p:nvPr/>
        </p:nvSpPr>
        <p:spPr>
          <a:xfrm>
            <a:off x="863578" y="5774730"/>
            <a:ext cx="10718532"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Kiểm tra animation trong Godot trước khi duyệt asset.</a:t>
            </a:r>
            <a:endParaRPr lang="en-US" sz="1500" dirty="0"/>
          </a:p>
        </p:txBody>
      </p:sp>
      <p:sp>
        <p:nvSpPr>
          <p:cNvPr id="27" name="Text 25"/>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426709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LEVEL DESIGN · QUYẾT ĐỊNH CỦA TÔI</a:t>
            </a:r>
            <a:endParaRPr lang="en-US" sz="1100" dirty="0"/>
          </a:p>
        </p:txBody>
      </p:sp>
      <p:sp>
        <p:nvSpPr>
          <p:cNvPr id="3" name="Text 1"/>
          <p:cNvSpPr/>
          <p:nvPr/>
        </p:nvSpPr>
        <p:spPr>
          <a:xfrm>
            <a:off x="609585" y="870545"/>
            <a:ext cx="3657509" cy="1902222"/>
          </a:xfrm>
          <a:prstGeom prst="rect">
            <a:avLst/>
          </a:prstGeom>
          <a:noFill/>
          <a:ln/>
        </p:spPr>
        <p:txBody>
          <a:bodyPr wrap="square" lIns="0" tIns="0" rIns="0" bIns="0" rtlCol="0" anchor="t">
            <a:normAutofit/>
          </a:bodyPr>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Trong dự án này, con người giữ quyền thiết kế map</a:t>
            </a:r>
            <a:endParaRPr lang="en-US" sz="3500" dirty="0"/>
          </a:p>
        </p:txBody>
      </p:sp>
      <p:sp>
        <p:nvSpPr>
          <p:cNvPr id="4" name="Shape 2"/>
          <p:cNvSpPr/>
          <p:nvPr/>
        </p:nvSpPr>
        <p:spPr>
          <a:xfrm>
            <a:off x="609585" y="3015655"/>
            <a:ext cx="914377" cy="31651"/>
          </a:xfrm>
          <a:prstGeom prst="roundRect">
            <a:avLst>
              <a:gd name="adj" fmla="val 49998"/>
            </a:avLst>
          </a:prstGeom>
          <a:solidFill>
            <a:srgbClr val="C8321A"/>
          </a:solidFill>
          <a:ln/>
        </p:spPr>
      </p:sp>
      <p:sp>
        <p:nvSpPr>
          <p:cNvPr id="5" name="Text 3"/>
          <p:cNvSpPr/>
          <p:nvPr/>
        </p:nvSpPr>
        <p:spPr>
          <a:xfrm>
            <a:off x="609585" y="3271242"/>
            <a:ext cx="3657509" cy="649089"/>
          </a:xfrm>
          <a:prstGeom prst="rect">
            <a:avLst/>
          </a:prstGeom>
          <a:noFill/>
          <a:ln/>
        </p:spPr>
        <p:txBody>
          <a:bodyPr wrap="square" lIns="0" tIns="0" rIns="0" bIns="0" rtlCol="0" anchor="t">
            <a:normAutofit/>
          </a:bodyPr>
          <a:lstStyle/>
          <a:p>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Y-sort · cây · bờ hồ</a:t>
            </a:r>
            <a:endParaRPr lang="en-US" sz="1800" dirty="0"/>
          </a:p>
          <a:p>
            <a:pPr algn="l" indent="0" marL="0">
              <a:lnSpc>
                <a:spcPct val="118000"/>
              </a:lnSpc>
              <a:buNone/>
            </a:pPr>
            <a:r>
              <a:rPr lang="en-US" sz="1800" dirty="0">
                <a:solidFill>
                  <a:srgbClr val="2B2D31"/>
                </a:solidFill>
                <a:latin typeface="Noto Sans" pitchFamily="34" charset="0"/>
                <a:ea typeface="Noto Sans" pitchFamily="34" charset="-122"/>
                <a:cs typeface="Noto Sans" pitchFamily="34" charset="-120"/>
              </a:rPr>
              <a:t>Lối đi · giếng nước</a:t>
            </a:r>
            <a:endParaRPr lang="en-US" sz="1800" dirty="0"/>
          </a:p>
        </p:txBody>
      </p:sp>
      <p:sp>
        <p:nvSpPr>
          <p:cNvPr id="6" name="Text 4"/>
          <p:cNvSpPr/>
          <p:nvPr/>
        </p:nvSpPr>
        <p:spPr>
          <a:xfrm>
            <a:off x="609585" y="5707459"/>
            <a:ext cx="3657509"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Tôi dựng map trong Godot và kiểm tra bằng trải nghiệm người chơi.</a:t>
            </a:r>
            <a:endParaRPr lang="en-US" sz="1500" dirty="0"/>
          </a:p>
        </p:txBody>
      </p:sp>
      <p:sp>
        <p:nvSpPr>
          <p:cNvPr id="7" name="Shape 5"/>
          <p:cNvSpPr/>
          <p:nvPr/>
        </p:nvSpPr>
        <p:spPr>
          <a:xfrm>
            <a:off x="4876678" y="0"/>
            <a:ext cx="7315017" cy="6858000"/>
          </a:xfrm>
          <a:prstGeom prst="rect">
            <a:avLst/>
          </a:prstGeom>
          <a:solidFill>
            <a:srgbClr val="8FD3C6"/>
          </a:solidFill>
          <a:ln/>
        </p:spPr>
      </p:sp>
      <p:pic>
        <p:nvPicPr>
          <p:cNvPr id="8" name="Image 0" descr="preencoded.png">    </p:cNvPr>
          <p:cNvPicPr>
            <a:picLocks noChangeAspect="1"/>
          </p:cNvPicPr>
          <p:nvPr/>
        </p:nvPicPr>
        <p:blipFill>
          <a:blip r:embed="rId1"/>
          <a:stretch>
            <a:fillRect/>
          </a:stretch>
        </p:blipFill>
        <p:spPr>
          <a:xfrm>
            <a:off x="5486263" y="2139255"/>
            <a:ext cx="476238" cy="476250"/>
          </a:xfrm>
          <a:prstGeom prst="rect">
            <a:avLst/>
          </a:prstGeom>
        </p:spPr>
      </p:pic>
      <p:sp>
        <p:nvSpPr>
          <p:cNvPr id="9" name="Text 6"/>
          <p:cNvSpPr/>
          <p:nvPr/>
        </p:nvSpPr>
        <p:spPr>
          <a:xfrm>
            <a:off x="5486263" y="2952055"/>
            <a:ext cx="6095848" cy="419100"/>
          </a:xfrm>
          <a:prstGeom prst="rect">
            <a:avLst/>
          </a:prstGeom>
          <a:noFill/>
          <a:ln/>
        </p:spPr>
        <p:txBody>
          <a:bodyPr wrap="none" lIns="0" tIns="0" rIns="0" bIns="0" rtlCol="0" anchor="t"/>
          <a:lstStyle/>
          <a:p>
            <a:pPr algn="l" indent="0" marL="0">
              <a:lnSpc>
                <a:spcPct val="110000"/>
              </a:lnSpc>
              <a:buNone/>
            </a:pPr>
            <a:r>
              <a:rPr lang="en-US" sz="2500" dirty="0">
                <a:solidFill>
                  <a:srgbClr val="000000"/>
                </a:solidFill>
                <a:latin typeface="Noto Sans" pitchFamily="34" charset="0"/>
                <a:ea typeface="Noto Sans" pitchFamily="34" charset="-122"/>
                <a:cs typeface="Noto Sans" pitchFamily="34" charset="-120"/>
              </a:rPr>
              <a:t>Thêm ảnh TileSet Editor từ dự án</a:t>
            </a:r>
            <a:endParaRPr lang="en-US" sz="2500" dirty="0"/>
          </a:p>
        </p:txBody>
      </p:sp>
      <p:sp>
        <p:nvSpPr>
          <p:cNvPr id="10" name="Shape 7"/>
          <p:cNvSpPr/>
          <p:nvPr/>
        </p:nvSpPr>
        <p:spPr>
          <a:xfrm>
            <a:off x="5486263" y="3560068"/>
            <a:ext cx="6095848" cy="31651"/>
          </a:xfrm>
          <a:prstGeom prst="roundRect">
            <a:avLst>
              <a:gd name="adj" fmla="val 49998"/>
            </a:avLst>
          </a:prstGeom>
          <a:solidFill>
            <a:srgbClr val="16181C"/>
          </a:solidFill>
          <a:ln/>
        </p:spPr>
      </p:sp>
      <p:sp>
        <p:nvSpPr>
          <p:cNvPr id="11" name="Text 8"/>
          <p:cNvSpPr/>
          <p:nvPr/>
        </p:nvSpPr>
        <p:spPr>
          <a:xfrm>
            <a:off x="5486263" y="3815655"/>
            <a:ext cx="6705432"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000000"/>
                </a:solidFill>
                <a:latin typeface="Noto Sans" pitchFamily="34" charset="0"/>
                <a:ea typeface="Noto Sans" pitchFamily="34" charset="-122"/>
                <a:cs typeface="Noto Sans" pitchFamily="34" charset="-120"/>
              </a:rPr>
              <a:t>real_godot_tileset_map_design.png</a:t>
            </a:r>
            <a:endParaRPr lang="en-US" sz="1100" dirty="0"/>
          </a:p>
        </p:txBody>
      </p:sp>
      <p:sp>
        <p:nvSpPr>
          <p:cNvPr id="12" name="Text 9"/>
          <p:cNvSpPr/>
          <p:nvPr/>
        </p:nvSpPr>
        <p:spPr>
          <a:xfrm>
            <a:off x="5486263" y="4177804"/>
            <a:ext cx="609584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Chưa được cung cấp.</a:t>
            </a:r>
            <a:endParaRPr lang="en-US" sz="1500" dirty="0"/>
          </a:p>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Vùng dành cho ảnh thật.</a:t>
            </a:r>
            <a:endParaRPr lang="en-US" sz="1500" dirty="0"/>
          </a:p>
        </p:txBody>
      </p:sp>
      <p:sp>
        <p:nvSpPr>
          <p:cNvPr id="13" name="Text 10"/>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PHÂN CÔNG · TRÁCH NHIỆM, KHÔNG PHẢI HIỆU SUẤT</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Giao việc theo mức độ cần phán đoán</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9585" y="2678708"/>
          <a:ext cx="10972526" cy="914400"/>
        </p:xfrm>
        <a:graphic>
          <a:graphicData uri="http://schemas.openxmlformats.org/drawingml/2006/table">
            <a:tbl>
              <a:tblPr/>
              <a:tblGrid>
                <a:gridCol w="3072232"/>
                <a:gridCol w="4718130"/>
                <a:gridCol w="3182163"/>
              </a:tblGrid>
              <a:tr h="398849">
                <a:tc>
                  <a:txBody>
                    <a:bodyPr/>
                    <a:lstStyle/>
                    <a:p>
                      <a:pPr algn="l" indent="0" marL="0">
                        <a:buNone/>
                      </a:pPr>
                      <a:r>
                        <a:rPr lang="en-US" sz="1050" spc="126" kern="100" dirty="0">
                          <a:solidFill>
                            <a:srgbClr val="16181C"/>
                          </a:solidFill>
                          <a:latin typeface="M PLUS 2" pitchFamily="34" charset="0"/>
                          <a:ea typeface="M PLUS 2" pitchFamily="34" charset="-122"/>
                          <a:cs typeface="M PLUS 2" pitchFamily="34" charset="-120"/>
                        </a:rPr>
                        <a:t>MỨC TRÁCH NHIỆM</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050" spc="126" kern="100" dirty="0">
                          <a:solidFill>
                            <a:srgbClr val="16181C"/>
                          </a:solidFill>
                          <a:latin typeface="M PLUS 2" pitchFamily="34" charset="0"/>
                          <a:ea typeface="M PLUS 2" pitchFamily="34" charset="-122"/>
                          <a:cs typeface="M PLUS 2" pitchFamily="34" charset="-120"/>
                        </a:rPr>
                        <a:t>CÔNG VIỆC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050" spc="126" kern="100" dirty="0">
                          <a:solidFill>
                            <a:srgbClr val="16181C"/>
                          </a:solidFill>
                          <a:latin typeface="M PLUS 2" pitchFamily="34" charset="0"/>
                          <a:ea typeface="M PLUS 2" pitchFamily="34" charset="-122"/>
                          <a:cs typeface="M PLUS 2" pitchFamily="34" charset="-120"/>
                        </a:rPr>
                        <a:t>VAI TRÒ CỦA TÔI</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750472">
                <a:tc>
                  <a:txBody>
                    <a:bodyPr/>
                    <a:lstStyle/>
                    <a:p>
                      <a:pPr algn="l" indent="0" marL="0">
                        <a:buNone/>
                      </a:pPr>
                      <a:r>
                        <a:rPr lang="en-US" sz="1500" b="1" dirty="0">
                          <a:solidFill>
                            <a:srgbClr val="000000"/>
                          </a:solidFill>
                          <a:latin typeface="Noto Sans" pitchFamily="34" charset="0"/>
                          <a:ea typeface="Noto Sans" pitchFamily="34" charset="-122"/>
                          <a:cs typeface="Noto Sans" pitchFamily="34" charset="-120"/>
                        </a:rPr>
                        <a:t>AI dẫn dắt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8FD3C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8FD3C6"/>
                    </a:solidFill>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Thuật toán · state machine</a:t>
                      </a:r>
                      <a:endParaRPr lang="en-US" sz="1500" dirty="0">
                        <a:latin typeface="Noto Sans" charset="0"/>
                        <a:ea typeface="Noto Sans" charset="0"/>
                        <a:cs typeface="Noto Sans" charset="0"/>
                      </a:endParaRPr>
                    </a:p>
                    <a:p>
                      <a:pPr algn="l" indent="0" marL="0">
                        <a:buNone/>
                      </a:pPr>
                      <a:r>
                        <a:rPr lang="en-US" sz="1500" dirty="0">
                          <a:solidFill>
                            <a:srgbClr val="2B2D31"/>
                          </a:solidFill>
                          <a:latin typeface="Noto Sans" pitchFamily="34" charset="0"/>
                          <a:ea typeface="Noto Sans" pitchFamily="34" charset="-122"/>
                          <a:cs typeface="Noto Sans" pitchFamily="34" charset="-120"/>
                        </a:rPr>
                        <a:t>Refactor · test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Duyệt spec và kết quả</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480008">
                <a:tc>
                  <a:txBody>
                    <a:bodyPr/>
                    <a:lstStyle/>
                    <a:p>
                      <a:pPr algn="l" indent="0" marL="0">
                        <a:buNone/>
                      </a:pPr>
                      <a:r>
                        <a:rPr lang="en-US" sz="1500" b="1" dirty="0">
                          <a:solidFill>
                            <a:srgbClr val="2B2D31"/>
                          </a:solidFill>
                          <a:latin typeface="Noto Sans" pitchFamily="34" charset="0"/>
                          <a:ea typeface="Noto Sans" pitchFamily="34" charset="-122"/>
                          <a:cs typeface="Noto Sans" pitchFamily="34" charset="-120"/>
                        </a:rPr>
                        <a:t>Người kèm</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F4B9A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F4B9A6"/>
                    </a:solidFill>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Lắp scene · animation · UI</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Hướng dẫn và kiểm tra</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r>
              <a:tr h="744122">
                <a:tc>
                  <a:txBody>
                    <a:bodyPr/>
                    <a:lstStyle/>
                    <a:p>
                      <a:pPr algn="l" indent="0" marL="0">
                        <a:buNone/>
                      </a:pPr>
                      <a:r>
                        <a:rPr lang="en-US" sz="1500" b="1" dirty="0">
                          <a:solidFill>
                            <a:srgbClr val="000000"/>
                          </a:solidFill>
                          <a:latin typeface="Noto Sans" pitchFamily="34" charset="0"/>
                          <a:ea typeface="Noto Sans" pitchFamily="34" charset="-122"/>
                          <a:cs typeface="Noto Sans" pitchFamily="34" charset="-120"/>
                        </a:rPr>
                        <a:t>Người quyết định</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F4C542"/>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F4C542"/>
                      </a:solidFill>
                      <a:prstDash val="solid"/>
                      <a:round/>
                      <a:headEnd type="none" w="med" len="med"/>
                      <a:tailEnd type="none" w="med" len="med"/>
                    </a:lnB>
                    <a:solidFill>
                      <a:srgbClr val="F4C542"/>
                    </a:solidFill>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Map · game feel</a:t>
                      </a:r>
                      <a:endParaRPr lang="en-US" sz="1500" dirty="0">
                        <a:latin typeface="Noto Sans" charset="0"/>
                        <a:ea typeface="Noto Sans" charset="0"/>
                        <a:cs typeface="Noto Sans" charset="0"/>
                      </a:endParaRPr>
                    </a:p>
                    <a:p>
                      <a:pPr algn="l" indent="0" marL="0">
                        <a:buNone/>
                      </a:pPr>
                      <a:r>
                        <a:rPr lang="en-US" sz="1500" dirty="0">
                          <a:solidFill>
                            <a:srgbClr val="2B2D31"/>
                          </a:solidFill>
                          <a:latin typeface="Noto Sans" pitchFamily="34" charset="0"/>
                          <a:ea typeface="Noto Sans" pitchFamily="34" charset="-122"/>
                          <a:cs typeface="Noto Sans" pitchFamily="34" charset="-120"/>
                        </a:rPr>
                        <a:t>Balance · scope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algn="l" indent="0" marL="0">
                        <a:buNone/>
                      </a:pPr>
                      <a:r>
                        <a:rPr lang="en-US" sz="1500" dirty="0">
                          <a:solidFill>
                            <a:srgbClr val="2B2D31"/>
                          </a:solidFill>
                          <a:latin typeface="Noto Sans" pitchFamily="34" charset="0"/>
                          <a:ea typeface="Noto Sans" pitchFamily="34" charset="-122"/>
                          <a:cs typeface="Noto Sans" pitchFamily="34" charset="-120"/>
                        </a:rPr>
                        <a:t>Chốt thiết kế</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r>
            </a:tbl>
          </a:graphicData>
        </a:graphic>
      </p:graphicFrame>
      <p:sp>
        <p:nvSpPr>
          <p:cNvPr id="6" name="Text 3"/>
          <p:cNvSpPr/>
          <p:nvPr/>
        </p:nvSpPr>
        <p:spPr>
          <a:xfrm>
            <a:off x="609585" y="6064151"/>
            <a:ext cx="11582110"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4A4C51"/>
                </a:solidFill>
                <a:latin typeface="Noto Sans" pitchFamily="34" charset="0"/>
                <a:ea typeface="Noto Sans" pitchFamily="34" charset="-122"/>
                <a:cs typeface="Noto Sans" pitchFamily="34" charset="-120"/>
              </a:rPr>
              <a:t>Phân công đề xuất từ dự án của tôi, không phải benchmark năng lực AI.</a:t>
            </a:r>
            <a:endParaRPr lang="en-US" sz="11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PHASE 4 · NHẬT KÝ BUG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Bug hài hước trở thành regression test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r>
          <p:cNvPicPr>
            <a:picLocks noChangeAspect="1"/>
          </p:cNvPicPr>
          <p:nvPr/>
        </p:nvPicPr>
        <p:blipFill>
          <a:blip r:embed="rId1"/>
          <a:stretch>
            <a:fillRect/>
          </a:stretch>
        </p:blipFill>
        <p:spPr>
          <a:xfrm>
            <a:off x="609585" y="1844576"/>
            <a:ext cx="380990" cy="381000"/>
          </a:xfrm>
          <a:prstGeom prst="rect">
            <a:avLst/>
          </a:prstGeom>
        </p:spPr>
      </p:pic>
      <p:sp>
        <p:nvSpPr>
          <p:cNvPr id="6" name="Text 3"/>
          <p:cNvSpPr/>
          <p:nvPr/>
        </p:nvSpPr>
        <p:spPr>
          <a:xfrm>
            <a:off x="609585" y="2403376"/>
            <a:ext cx="530846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WaterBlock làm tên biến mất</a:t>
            </a:r>
            <a:endParaRPr lang="en-US" sz="1900" dirty="0"/>
          </a:p>
        </p:txBody>
      </p:sp>
      <p:sp>
        <p:nvSpPr>
          <p:cNvPr id="7" name="Text 4"/>
          <p:cNvSpPr/>
          <p:nvPr/>
        </p:nvSpPr>
        <p:spPr>
          <a:xfrm>
            <a:off x="609585" y="2864743"/>
            <a:ext cx="5486263"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Test đường đạn qua vùng nước.</a:t>
            </a:r>
            <a:endParaRPr lang="en-US" sz="1500" dirty="0"/>
          </a:p>
        </p:txBody>
      </p:sp>
      <p:pic>
        <p:nvPicPr>
          <p:cNvPr id="8" name="Image 1" descr="preencoded.png">    </p:cNvPr>
          <p:cNvPicPr>
            <a:picLocks noChangeAspect="1"/>
          </p:cNvPicPr>
          <p:nvPr/>
        </p:nvPicPr>
        <p:blipFill>
          <a:blip r:embed="rId2"/>
          <a:stretch>
            <a:fillRect/>
          </a:stretch>
        </p:blipFill>
        <p:spPr>
          <a:xfrm>
            <a:off x="6273643" y="1844576"/>
            <a:ext cx="380990" cy="381000"/>
          </a:xfrm>
          <a:prstGeom prst="rect">
            <a:avLst/>
          </a:prstGeom>
        </p:spPr>
      </p:pic>
      <p:sp>
        <p:nvSpPr>
          <p:cNvPr id="9" name="Text 5"/>
          <p:cNvSpPr/>
          <p:nvPr/>
        </p:nvSpPr>
        <p:spPr>
          <a:xfrm>
            <a:off x="6273643" y="2403376"/>
            <a:ext cx="530846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Cung thủ giữ giáp chiến binh</a:t>
            </a:r>
            <a:endParaRPr lang="en-US" sz="1900" dirty="0"/>
          </a:p>
        </p:txBody>
      </p:sp>
      <p:sp>
        <p:nvSpPr>
          <p:cNvPr id="10" name="Text 6"/>
          <p:cNvSpPr/>
          <p:nvPr/>
        </p:nvSpPr>
        <p:spPr>
          <a:xfrm>
            <a:off x="6273643" y="2864743"/>
            <a:ext cx="5308467"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Test đổi class và trang bị.</a:t>
            </a:r>
            <a:endParaRPr lang="en-US" sz="1500" dirty="0"/>
          </a:p>
        </p:txBody>
      </p:sp>
      <p:pic>
        <p:nvPicPr>
          <p:cNvPr id="11" name="Image 2" descr="preencoded.png">    </p:cNvPr>
          <p:cNvPicPr>
            <a:picLocks noChangeAspect="1"/>
          </p:cNvPicPr>
          <p:nvPr/>
        </p:nvPicPr>
        <p:blipFill>
          <a:blip r:embed="rId3"/>
          <a:stretch>
            <a:fillRect/>
          </a:stretch>
        </p:blipFill>
        <p:spPr>
          <a:xfrm>
            <a:off x="609585" y="4224238"/>
            <a:ext cx="380990" cy="381000"/>
          </a:xfrm>
          <a:prstGeom prst="rect">
            <a:avLst/>
          </a:prstGeom>
        </p:spPr>
      </p:pic>
      <p:sp>
        <p:nvSpPr>
          <p:cNvPr id="12" name="Text 7"/>
          <p:cNvSpPr/>
          <p:nvPr/>
        </p:nvSpPr>
        <p:spPr>
          <a:xfrm>
            <a:off x="609585" y="4783038"/>
            <a:ext cx="530846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Click Inventory bắn tên</a:t>
            </a:r>
            <a:endParaRPr lang="en-US" sz="1900" dirty="0"/>
          </a:p>
        </p:txBody>
      </p:sp>
      <p:sp>
        <p:nvSpPr>
          <p:cNvPr id="13" name="Text 8"/>
          <p:cNvSpPr/>
          <p:nvPr/>
        </p:nvSpPr>
        <p:spPr>
          <a:xfrm>
            <a:off x="609585" y="5244405"/>
            <a:ext cx="5486263"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Test UI tách khỏi input chiến đấu.</a:t>
            </a:r>
            <a:endParaRPr lang="en-US" sz="1500" dirty="0"/>
          </a:p>
        </p:txBody>
      </p:sp>
      <p:pic>
        <p:nvPicPr>
          <p:cNvPr id="14" name="Image 3" descr="preencoded.png">    </p:cNvPr>
          <p:cNvPicPr>
            <a:picLocks noChangeAspect="1"/>
          </p:cNvPicPr>
          <p:nvPr/>
        </p:nvPicPr>
        <p:blipFill>
          <a:blip r:embed="rId4"/>
          <a:stretch>
            <a:fillRect/>
          </a:stretch>
        </p:blipFill>
        <p:spPr>
          <a:xfrm>
            <a:off x="6273643" y="4224238"/>
            <a:ext cx="380990" cy="381000"/>
          </a:xfrm>
          <a:prstGeom prst="rect">
            <a:avLst/>
          </a:prstGeom>
        </p:spPr>
      </p:pic>
      <p:sp>
        <p:nvSpPr>
          <p:cNvPr id="15" name="Text 9"/>
          <p:cNvSpPr/>
          <p:nvPr/>
        </p:nvSpPr>
        <p:spPr>
          <a:xfrm>
            <a:off x="6273643" y="4783038"/>
            <a:ext cx="5308467"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Vứt đồ để lại slot ma</a:t>
            </a:r>
            <a:endParaRPr lang="en-US" sz="1900" dirty="0"/>
          </a:p>
        </p:txBody>
      </p:sp>
      <p:sp>
        <p:nvSpPr>
          <p:cNvPr id="16" name="Text 10"/>
          <p:cNvSpPr/>
          <p:nvPr/>
        </p:nvSpPr>
        <p:spPr>
          <a:xfrm>
            <a:off x="6273643" y="5244405"/>
            <a:ext cx="5308467"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Test đồng bộ item và slot.</a:t>
            </a:r>
            <a:endParaRPr lang="en-US" sz="1500" dirty="0"/>
          </a:p>
        </p:txBody>
      </p:sp>
      <p:sp>
        <p:nvSpPr>
          <p:cNvPr id="17" name="Shape 11"/>
          <p:cNvSpPr/>
          <p:nvPr/>
        </p:nvSpPr>
        <p:spPr>
          <a:xfrm>
            <a:off x="6089498" y="1844576"/>
            <a:ext cx="12700" cy="2201863"/>
          </a:xfrm>
          <a:prstGeom prst="rect">
            <a:avLst/>
          </a:prstGeom>
          <a:solidFill>
            <a:srgbClr val="B9B7AE"/>
          </a:solidFill>
          <a:ln/>
        </p:spPr>
      </p:sp>
      <p:sp>
        <p:nvSpPr>
          <p:cNvPr id="18" name="Shape 12"/>
          <p:cNvSpPr/>
          <p:nvPr/>
        </p:nvSpPr>
        <p:spPr>
          <a:xfrm>
            <a:off x="609585" y="4040088"/>
            <a:ext cx="5486263" cy="12700"/>
          </a:xfrm>
          <a:prstGeom prst="rect">
            <a:avLst/>
          </a:prstGeom>
          <a:solidFill>
            <a:srgbClr val="B9B7AE"/>
          </a:solidFill>
          <a:ln/>
        </p:spPr>
      </p:sp>
      <p:sp>
        <p:nvSpPr>
          <p:cNvPr id="19" name="Shape 13"/>
          <p:cNvSpPr/>
          <p:nvPr/>
        </p:nvSpPr>
        <p:spPr>
          <a:xfrm>
            <a:off x="6089498" y="4046438"/>
            <a:ext cx="12700" cy="2201962"/>
          </a:xfrm>
          <a:prstGeom prst="rect">
            <a:avLst/>
          </a:prstGeom>
          <a:solidFill>
            <a:srgbClr val="B9B7AE"/>
          </a:solidFill>
          <a:ln/>
        </p:spPr>
      </p:sp>
      <p:sp>
        <p:nvSpPr>
          <p:cNvPr id="20" name="Shape 14"/>
          <p:cNvSpPr/>
          <p:nvPr/>
        </p:nvSpPr>
        <p:spPr>
          <a:xfrm>
            <a:off x="6095848" y="4040088"/>
            <a:ext cx="5486263" cy="12700"/>
          </a:xfrm>
          <a:prstGeom prst="rect">
            <a:avLst/>
          </a:prstGeom>
          <a:solidFill>
            <a:srgbClr val="B9B7AE"/>
          </a:solidFill>
          <a:ln/>
        </p:spPr>
      </p:sp>
      <p:sp>
        <p:nvSpPr>
          <p:cNvPr id="21" name="Text 15"/>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ÁP DỤNG · MỘT LOOP NHỎ</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Bắt đầu ngày mai với một gameplay loop nhỏ</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505112" cy="19050"/>
          </a:xfrm>
          <a:prstGeom prst="rect">
            <a:avLst/>
          </a:prstGeom>
          <a:solidFill>
            <a:srgbClr val="C8321A"/>
          </a:solidFill>
          <a:ln/>
        </p:spPr>
      </p:sp>
      <p:sp>
        <p:nvSpPr>
          <p:cNvPr id="7" name="Text 5"/>
          <p:cNvSpPr/>
          <p:nvPr/>
        </p:nvSpPr>
        <p:spPr>
          <a:xfrm>
            <a:off x="609585" y="2473226"/>
            <a:ext cx="3505112"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Chọn loop</a:t>
            </a:r>
            <a:endParaRPr lang="en-US" sz="1900" dirty="0"/>
          </a:p>
        </p:txBody>
      </p:sp>
      <p:sp>
        <p:nvSpPr>
          <p:cNvPr id="8" name="Text 6"/>
          <p:cNvSpPr/>
          <p:nvPr/>
        </p:nvSpPr>
        <p:spPr>
          <a:xfrm>
            <a:off x="609585" y="2934593"/>
            <a:ext cx="3505112"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Di chuyển · một đòn đánh · một quái</a:t>
            </a:r>
            <a:endParaRPr lang="en-US" sz="1500" dirty="0"/>
          </a:p>
        </p:txBody>
      </p:sp>
      <p:sp>
        <p:nvSpPr>
          <p:cNvPr id="9" name="Text 7"/>
          <p:cNvSpPr/>
          <p:nvPr/>
        </p:nvSpPr>
        <p:spPr>
          <a:xfrm>
            <a:off x="4419489" y="20731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02</a:t>
            </a:r>
            <a:endParaRPr lang="en-US" sz="1500" dirty="0"/>
          </a:p>
        </p:txBody>
      </p:sp>
      <p:sp>
        <p:nvSpPr>
          <p:cNvPr id="10" name="Shape 8"/>
          <p:cNvSpPr/>
          <p:nvPr/>
        </p:nvSpPr>
        <p:spPr>
          <a:xfrm>
            <a:off x="4419489" y="2339876"/>
            <a:ext cx="3352716" cy="19050"/>
          </a:xfrm>
          <a:prstGeom prst="rect">
            <a:avLst/>
          </a:prstGeom>
          <a:solidFill>
            <a:srgbClr val="C8321A"/>
          </a:solidFill>
          <a:ln/>
        </p:spPr>
      </p:sp>
      <p:sp>
        <p:nvSpPr>
          <p:cNvPr id="11" name="Text 9"/>
          <p:cNvSpPr/>
          <p:nvPr/>
        </p:nvSpPr>
        <p:spPr>
          <a:xfrm>
            <a:off x="4419489" y="2473226"/>
            <a:ext cx="3352716"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Nạp nền tảng</a:t>
            </a:r>
            <a:endParaRPr lang="en-US" sz="1900" dirty="0"/>
          </a:p>
        </p:txBody>
      </p:sp>
      <p:sp>
        <p:nvSpPr>
          <p:cNvPr id="12" name="Text 10"/>
          <p:cNvSpPr/>
          <p:nvPr/>
        </p:nvSpPr>
        <p:spPr>
          <a:xfrm>
            <a:off x="4419489" y="2934593"/>
            <a:ext cx="3352716"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Rules + domain skills</a:t>
            </a:r>
            <a:endParaRPr lang="en-US" sz="1500" dirty="0"/>
          </a:p>
        </p:txBody>
      </p:sp>
      <p:sp>
        <p:nvSpPr>
          <p:cNvPr id="13" name="Text 11"/>
          <p:cNvSpPr/>
          <p:nvPr/>
        </p:nvSpPr>
        <p:spPr>
          <a:xfrm>
            <a:off x="8076998" y="2073176"/>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03</a:t>
            </a:r>
            <a:endParaRPr lang="en-US" sz="1500" dirty="0"/>
          </a:p>
        </p:txBody>
      </p:sp>
      <p:sp>
        <p:nvSpPr>
          <p:cNvPr id="14" name="Shape 12"/>
          <p:cNvSpPr/>
          <p:nvPr/>
        </p:nvSpPr>
        <p:spPr>
          <a:xfrm>
            <a:off x="8076998" y="2339876"/>
            <a:ext cx="3505112" cy="19050"/>
          </a:xfrm>
          <a:prstGeom prst="rect">
            <a:avLst/>
          </a:prstGeom>
          <a:solidFill>
            <a:srgbClr val="C8321A"/>
          </a:solidFill>
          <a:ln/>
        </p:spPr>
      </p:sp>
      <p:sp>
        <p:nvSpPr>
          <p:cNvPr id="15" name="Text 13"/>
          <p:cNvSpPr/>
          <p:nvPr/>
        </p:nvSpPr>
        <p:spPr>
          <a:xfrm>
            <a:off x="8076998" y="2473226"/>
            <a:ext cx="3505112"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Duyệt kế hoạch</a:t>
            </a:r>
            <a:endParaRPr lang="en-US" sz="1900" dirty="0"/>
          </a:p>
        </p:txBody>
      </p:sp>
      <p:sp>
        <p:nvSpPr>
          <p:cNvPr id="16" name="Text 14"/>
          <p:cNvSpPr/>
          <p:nvPr/>
        </p:nvSpPr>
        <p:spPr>
          <a:xfrm>
            <a:off x="8076998" y="2934593"/>
            <a:ext cx="3505112"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Yêu cầu plan trước code</a:t>
            </a:r>
            <a:endParaRPr lang="en-US" sz="1500" dirty="0"/>
          </a:p>
        </p:txBody>
      </p:sp>
      <p:sp>
        <p:nvSpPr>
          <p:cNvPr id="17" name="Text 15"/>
          <p:cNvSpPr/>
          <p:nvPr/>
        </p:nvSpPr>
        <p:spPr>
          <a:xfrm>
            <a:off x="609585" y="4427438"/>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04</a:t>
            </a:r>
            <a:endParaRPr lang="en-US" sz="1500" dirty="0"/>
          </a:p>
        </p:txBody>
      </p:sp>
      <p:sp>
        <p:nvSpPr>
          <p:cNvPr id="18" name="Shape 16"/>
          <p:cNvSpPr/>
          <p:nvPr/>
        </p:nvSpPr>
        <p:spPr>
          <a:xfrm>
            <a:off x="609585" y="4694138"/>
            <a:ext cx="3505112" cy="19050"/>
          </a:xfrm>
          <a:prstGeom prst="rect">
            <a:avLst/>
          </a:prstGeom>
          <a:solidFill>
            <a:srgbClr val="C8321A"/>
          </a:solidFill>
          <a:ln/>
        </p:spPr>
      </p:sp>
      <p:sp>
        <p:nvSpPr>
          <p:cNvPr id="19" name="Text 17"/>
          <p:cNvSpPr/>
          <p:nvPr/>
        </p:nvSpPr>
        <p:spPr>
          <a:xfrm>
            <a:off x="609585" y="4827488"/>
            <a:ext cx="3505112"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Chuẩn hóa asset</a:t>
            </a:r>
            <a:endParaRPr lang="en-US" sz="1900" dirty="0"/>
          </a:p>
        </p:txBody>
      </p:sp>
      <p:sp>
        <p:nvSpPr>
          <p:cNvPr id="20" name="Text 18"/>
          <p:cNvSpPr/>
          <p:nvPr/>
        </p:nvSpPr>
        <p:spPr>
          <a:xfrm>
            <a:off x="609585" y="5288855"/>
            <a:ext cx="3505112"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Pixel art + bounding box</a:t>
            </a:r>
            <a:endParaRPr lang="en-US" sz="1500" dirty="0"/>
          </a:p>
        </p:txBody>
      </p:sp>
      <p:sp>
        <p:nvSpPr>
          <p:cNvPr id="21" name="Text 19"/>
          <p:cNvSpPr/>
          <p:nvPr/>
        </p:nvSpPr>
        <p:spPr>
          <a:xfrm>
            <a:off x="4419489" y="4427438"/>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05</a:t>
            </a:r>
            <a:endParaRPr lang="en-US" sz="1500" dirty="0"/>
          </a:p>
        </p:txBody>
      </p:sp>
      <p:sp>
        <p:nvSpPr>
          <p:cNvPr id="22" name="Shape 20"/>
          <p:cNvSpPr/>
          <p:nvPr/>
        </p:nvSpPr>
        <p:spPr>
          <a:xfrm>
            <a:off x="4419489" y="4694138"/>
            <a:ext cx="3352716" cy="19050"/>
          </a:xfrm>
          <a:prstGeom prst="rect">
            <a:avLst/>
          </a:prstGeom>
          <a:solidFill>
            <a:srgbClr val="C8321A"/>
          </a:solidFill>
          <a:ln/>
        </p:spPr>
      </p:sp>
      <p:sp>
        <p:nvSpPr>
          <p:cNvPr id="23" name="Text 21"/>
          <p:cNvSpPr/>
          <p:nvPr/>
        </p:nvSpPr>
        <p:spPr>
          <a:xfrm>
            <a:off x="4419489" y="4827488"/>
            <a:ext cx="3352716" cy="318492"/>
          </a:xfrm>
          <a:prstGeom prst="rect">
            <a:avLst/>
          </a:prstGeom>
          <a:noFill/>
          <a:ln/>
        </p:spPr>
        <p:txBody>
          <a:bodyPr wrap="none" lIns="0" tIns="0" rIns="0" bIns="0" rtlCol="0" anchor="t"/>
          <a:lstStyle/>
          <a:p>
            <a:pPr algn="l" indent="0" marL="0">
              <a:lnSpc>
                <a:spcPct val="110000"/>
              </a:lnSpc>
              <a:buNone/>
            </a:pPr>
            <a:r>
              <a:rPr lang="en-US" sz="1900" dirty="0">
                <a:solidFill>
                  <a:srgbClr val="2B2D31"/>
                </a:solidFill>
                <a:latin typeface="Noto Sans" pitchFamily="34" charset="0"/>
                <a:ea typeface="Noto Sans" pitchFamily="34" charset="-122"/>
                <a:cs typeface="Noto Sans" pitchFamily="34" charset="-120"/>
              </a:rPr>
              <a:t>Chạy kiểm tra</a:t>
            </a:r>
            <a:endParaRPr lang="en-US" sz="1900" dirty="0"/>
          </a:p>
        </p:txBody>
      </p:sp>
      <p:sp>
        <p:nvSpPr>
          <p:cNvPr id="24" name="Text 22"/>
          <p:cNvSpPr/>
          <p:nvPr/>
        </p:nvSpPr>
        <p:spPr>
          <a:xfrm>
            <a:off x="4419489" y="5288855"/>
            <a:ext cx="3352716"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Code → Test cô lập → Critic</a:t>
            </a:r>
            <a:endParaRPr lang="en-US" sz="1500" dirty="0"/>
          </a:p>
        </p:txBody>
      </p:sp>
      <p:sp>
        <p:nvSpPr>
          <p:cNvPr id="25" name="Shape 23"/>
          <p:cNvSpPr/>
          <p:nvPr/>
        </p:nvSpPr>
        <p:spPr>
          <a:xfrm>
            <a:off x="8076998" y="4198838"/>
            <a:ext cx="3505112" cy="2049562"/>
          </a:xfrm>
          <a:prstGeom prst="rect">
            <a:avLst/>
          </a:prstGeom>
          <a:solidFill>
            <a:srgbClr val="8FD3C6"/>
          </a:solidFill>
          <a:ln/>
        </p:spPr>
      </p:sp>
      <p:sp>
        <p:nvSpPr>
          <p:cNvPr id="26" name="Text 24"/>
          <p:cNvSpPr/>
          <p:nvPr/>
        </p:nvSpPr>
        <p:spPr>
          <a:xfrm>
            <a:off x="8305592" y="4427438"/>
            <a:ext cx="827563" cy="190500"/>
          </a:xfrm>
          <a:prstGeom prst="rect">
            <a:avLst/>
          </a:prstGeom>
          <a:noFill/>
          <a:ln/>
        </p:spPr>
        <p:txBody>
          <a:bodyPr wrap="none" lIns="0" tIns="0" rIns="0" bIns="0" rtlCol="0" anchor="t"/>
          <a:lstStyle/>
          <a:p>
            <a:pPr algn="l" indent="0" marL="0">
              <a:lnSpc>
                <a:spcPct val="83000"/>
              </a:lnSpc>
              <a:buNone/>
            </a:pPr>
            <a:r>
              <a:rPr lang="en-US" sz="1500" dirty="0">
                <a:solidFill>
                  <a:srgbClr val="16181C"/>
                </a:solidFill>
                <a:latin typeface="Noto Sans SemiBold" pitchFamily="34" charset="0"/>
                <a:ea typeface="Noto Sans SemiBold" pitchFamily="34" charset="-122"/>
                <a:cs typeface="Noto Sans SemiBold" pitchFamily="34" charset="-120"/>
              </a:rPr>
              <a:t>06</a:t>
            </a:r>
            <a:endParaRPr lang="en-US" sz="1500" dirty="0"/>
          </a:p>
        </p:txBody>
      </p:sp>
      <p:sp>
        <p:nvSpPr>
          <p:cNvPr id="27" name="Shape 25"/>
          <p:cNvSpPr/>
          <p:nvPr/>
        </p:nvSpPr>
        <p:spPr>
          <a:xfrm>
            <a:off x="8305592" y="4694138"/>
            <a:ext cx="3047924" cy="19050"/>
          </a:xfrm>
          <a:prstGeom prst="rect">
            <a:avLst/>
          </a:prstGeom>
          <a:solidFill>
            <a:srgbClr val="C8321A"/>
          </a:solidFill>
          <a:ln/>
        </p:spPr>
      </p:sp>
      <p:sp>
        <p:nvSpPr>
          <p:cNvPr id="28" name="Text 26"/>
          <p:cNvSpPr/>
          <p:nvPr/>
        </p:nvSpPr>
        <p:spPr>
          <a:xfrm>
            <a:off x="8305592" y="4827488"/>
            <a:ext cx="3047924" cy="318492"/>
          </a:xfrm>
          <a:prstGeom prst="rect">
            <a:avLst/>
          </a:prstGeom>
          <a:noFill/>
          <a:ln/>
        </p:spPr>
        <p:txBody>
          <a:bodyPr wrap="none" lIns="0" tIns="0" rIns="0" bIns="0" rtlCol="0" anchor="t"/>
          <a:lstStyle/>
          <a:p>
            <a:pPr algn="l" indent="0" marL="0">
              <a:lnSpc>
                <a:spcPct val="110000"/>
              </a:lnSpc>
              <a:buNone/>
            </a:pPr>
            <a:r>
              <a:rPr lang="en-US" sz="1900" dirty="0">
                <a:solidFill>
                  <a:srgbClr val="000000"/>
                </a:solidFill>
                <a:latin typeface="Noto Sans" pitchFamily="34" charset="0"/>
                <a:ea typeface="Noto Sans" pitchFamily="34" charset="-122"/>
                <a:cs typeface="Noto Sans" pitchFamily="34" charset="-120"/>
              </a:rPr>
              <a:t>Playtest</a:t>
            </a:r>
            <a:endParaRPr lang="en-US" sz="1900" dirty="0"/>
          </a:p>
        </p:txBody>
      </p:sp>
      <p:sp>
        <p:nvSpPr>
          <p:cNvPr id="29" name="Text 27"/>
          <p:cNvSpPr/>
          <p:nvPr/>
        </p:nvSpPr>
        <p:spPr>
          <a:xfrm>
            <a:off x="8305592" y="5288855"/>
            <a:ext cx="3276518"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Bằng tay, rồi lặp lại</a:t>
            </a:r>
            <a:endParaRPr lang="en-US" sz="1500" dirty="0"/>
          </a:p>
        </p:txBody>
      </p:sp>
      <p:sp>
        <p:nvSpPr>
          <p:cNvPr id="30" name="Text 28"/>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E4DF"/>
        </a:solidFill>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DEMO DỰ KIẾN · GAME + WORKFLOW</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algn="l" indent="0" marL="0">
              <a:lnSpc>
                <a:spcPct val="89000"/>
              </a:lnSpc>
              <a:buNone/>
            </a:pPr>
            <a:r>
              <a:rPr lang="en-US" sz="3500" b="1" spc="-42" kern="100" dirty="0">
                <a:solidFill>
                  <a:srgbClr val="14161A"/>
                </a:solidFill>
                <a:latin typeface="Noto Sans Bold" pitchFamily="34" charset="0"/>
                <a:ea typeface="Noto Sans Bold" pitchFamily="34" charset="-122"/>
                <a:cs typeface="Noto Sans Bold" pitchFamily="34" charset="-120"/>
              </a:rPr>
              <a:t>Live demo: Xem game và mở workflow phía sau</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5333867" cy="4044454"/>
          </a:xfrm>
          <a:prstGeom prst="rect">
            <a:avLst/>
          </a:prstGeom>
          <a:solidFill>
            <a:srgbClr val="8FD3C6"/>
          </a:solidFill>
          <a:ln/>
        </p:spPr>
      </p:sp>
      <p:sp>
        <p:nvSpPr>
          <p:cNvPr id="6" name="Text 4"/>
          <p:cNvSpPr/>
          <p:nvPr/>
        </p:nvSpPr>
        <p:spPr>
          <a:xfrm>
            <a:off x="838179" y="2073176"/>
            <a:ext cx="5105272"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000000"/>
                </a:solidFill>
                <a:latin typeface="M PLUS 2 SemiBold" pitchFamily="34" charset="0"/>
                <a:ea typeface="M PLUS 2 SemiBold" pitchFamily="34" charset="-122"/>
                <a:cs typeface="M PLUS 2 SemiBold" pitchFamily="34" charset="-120"/>
              </a:rPr>
              <a:t>TRONG GAME</a:t>
            </a:r>
            <a:endParaRPr lang="en-US" sz="1200" dirty="0"/>
          </a:p>
        </p:txBody>
      </p:sp>
      <p:sp>
        <p:nvSpPr>
          <p:cNvPr id="7" name="Text 5"/>
          <p:cNvSpPr/>
          <p:nvPr/>
        </p:nvSpPr>
        <p:spPr>
          <a:xfrm>
            <a:off x="838179" y="2449016"/>
            <a:ext cx="4876678" cy="419100"/>
          </a:xfrm>
          <a:prstGeom prst="rect">
            <a:avLst/>
          </a:prstGeom>
          <a:noFill/>
          <a:ln/>
        </p:spPr>
        <p:txBody>
          <a:bodyPr wrap="none" lIns="0" tIns="0" rIns="0" bIns="0" rtlCol="0" anchor="t"/>
          <a:lstStyle/>
          <a:p>
            <a:pPr algn="l" indent="0" marL="0">
              <a:lnSpc>
                <a:spcPct val="110000"/>
              </a:lnSpc>
              <a:buNone/>
            </a:pPr>
            <a:r>
              <a:rPr lang="en-US" sz="2500" dirty="0">
                <a:solidFill>
                  <a:srgbClr val="000000"/>
                </a:solidFill>
                <a:latin typeface="Noto Sans" pitchFamily="34" charset="0"/>
                <a:ea typeface="Noto Sans" pitchFamily="34" charset="-122"/>
                <a:cs typeface="Noto Sans" pitchFamily="34" charset="-120"/>
              </a:rPr>
              <a:t>Boss Undead Executioner</a:t>
            </a:r>
            <a:endParaRPr lang="en-US" sz="2500" dirty="0"/>
          </a:p>
        </p:txBody>
      </p:sp>
      <p:sp>
        <p:nvSpPr>
          <p:cNvPr id="8" name="Text 6"/>
          <p:cNvSpPr/>
          <p:nvPr/>
        </p:nvSpPr>
        <p:spPr>
          <a:xfrm>
            <a:off x="838179" y="3010991"/>
            <a:ext cx="5105272"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3 phase + minion</a:t>
            </a:r>
            <a:endParaRPr lang="en-US" sz="1500" dirty="0"/>
          </a:p>
        </p:txBody>
      </p:sp>
      <p:sp>
        <p:nvSpPr>
          <p:cNvPr id="9" name="Text 7"/>
          <p:cNvSpPr/>
          <p:nvPr/>
        </p:nvSpPr>
        <p:spPr>
          <a:xfrm>
            <a:off x="838179" y="5389959"/>
            <a:ext cx="5105272" cy="270470"/>
          </a:xfrm>
          <a:prstGeom prst="rect">
            <a:avLst/>
          </a:prstGeom>
          <a:noFill/>
          <a:ln/>
        </p:spPr>
        <p:txBody>
          <a:bodyPr wrap="none" lIns="0" tIns="0" rIns="0" bIns="0" rtlCol="0" anchor="t"/>
          <a:lstStyle/>
          <a:p>
            <a:pPr algn="l" indent="0" marL="0">
              <a:lnSpc>
                <a:spcPct val="118000"/>
              </a:lnSpc>
              <a:buNone/>
            </a:pPr>
            <a:r>
              <a:rPr lang="en-US" sz="1500" dirty="0">
                <a:solidFill>
                  <a:srgbClr val="000000"/>
                </a:solidFill>
                <a:latin typeface="Noto Sans" pitchFamily="34" charset="0"/>
                <a:ea typeface="Noto Sans" pitchFamily="34" charset="-122"/>
                <a:cs typeface="Noto Sans" pitchFamily="34" charset="-120"/>
              </a:rPr>
              <a:t>Kéo thả hotbar · đổi class</a:t>
            </a:r>
            <a:endParaRPr lang="en-US" sz="1500" dirty="0"/>
          </a:p>
        </p:txBody>
      </p:sp>
      <p:sp>
        <p:nvSpPr>
          <p:cNvPr id="10" name="Shape 8"/>
          <p:cNvSpPr/>
          <p:nvPr/>
        </p:nvSpPr>
        <p:spPr>
          <a:xfrm>
            <a:off x="6248244" y="1844576"/>
            <a:ext cx="5333867" cy="4044454"/>
          </a:xfrm>
          <a:prstGeom prst="rect">
            <a:avLst/>
          </a:prstGeom>
          <a:solidFill>
            <a:srgbClr val="F4B9A6"/>
          </a:solidFill>
          <a:ln/>
        </p:spPr>
      </p:sp>
      <p:sp>
        <p:nvSpPr>
          <p:cNvPr id="11" name="Text 9"/>
          <p:cNvSpPr/>
          <p:nvPr/>
        </p:nvSpPr>
        <p:spPr>
          <a:xfrm>
            <a:off x="6476838" y="2073176"/>
            <a:ext cx="5105272"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2B2D31"/>
                </a:solidFill>
                <a:latin typeface="M PLUS 2 SemiBold" pitchFamily="34" charset="0"/>
                <a:ea typeface="M PLUS 2 SemiBold" pitchFamily="34" charset="-122"/>
                <a:cs typeface="M PLUS 2 SemiBold" pitchFamily="34" charset="-120"/>
              </a:rPr>
              <a:t>PHÍA SAU GAME</a:t>
            </a:r>
            <a:endParaRPr lang="en-US" sz="1200" dirty="0"/>
          </a:p>
        </p:txBody>
      </p:sp>
      <p:sp>
        <p:nvSpPr>
          <p:cNvPr id="12" name="Text 10"/>
          <p:cNvSpPr/>
          <p:nvPr/>
        </p:nvSpPr>
        <p:spPr>
          <a:xfrm>
            <a:off x="6476838" y="2449016"/>
            <a:ext cx="4876678" cy="419100"/>
          </a:xfrm>
          <a:prstGeom prst="rect">
            <a:avLst/>
          </a:prstGeom>
          <a:noFill/>
          <a:ln/>
        </p:spPr>
        <p:txBody>
          <a:bodyPr wrap="none" lIns="0" tIns="0" rIns="0" bIns="0" rtlCol="0" anchor="t"/>
          <a:lstStyle/>
          <a:p>
            <a:pPr algn="l" indent="0" marL="0">
              <a:lnSpc>
                <a:spcPct val="110000"/>
              </a:lnSpc>
              <a:buNone/>
            </a:pPr>
            <a:r>
              <a:rPr lang="en-US" sz="2500" dirty="0">
                <a:solidFill>
                  <a:srgbClr val="2B2D31"/>
                </a:solidFill>
                <a:latin typeface="Noto Sans" pitchFamily="34" charset="0"/>
                <a:ea typeface="Noto Sans" pitchFamily="34" charset="-122"/>
                <a:cs typeface="Noto Sans" pitchFamily="34" charset="-120"/>
              </a:rPr>
              <a:t>Godot 4.7</a:t>
            </a:r>
            <a:endParaRPr lang="en-US" sz="2500" dirty="0"/>
          </a:p>
        </p:txBody>
      </p:sp>
      <p:sp>
        <p:nvSpPr>
          <p:cNvPr id="13" name="Text 11"/>
          <p:cNvSpPr/>
          <p:nvPr/>
        </p:nvSpPr>
        <p:spPr>
          <a:xfrm>
            <a:off x="6476838" y="3010991"/>
            <a:ext cx="487667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trong Antigravity</a:t>
            </a:r>
            <a:endParaRPr lang="en-US" sz="1500" dirty="0"/>
          </a:p>
        </p:txBody>
      </p:sp>
      <p:sp>
        <p:nvSpPr>
          <p:cNvPr id="14" name="Text 12"/>
          <p:cNvSpPr/>
          <p:nvPr/>
        </p:nvSpPr>
        <p:spPr>
          <a:xfrm>
            <a:off x="6476838" y="5389959"/>
            <a:ext cx="5105272" cy="270470"/>
          </a:xfrm>
          <a:prstGeom prst="rect">
            <a:avLst/>
          </a:prstGeom>
          <a:noFill/>
          <a:ln/>
        </p:spPr>
        <p:txBody>
          <a:bodyPr wrap="none" lIns="0" tIns="0" rIns="0" bIns="0" rtlCol="0" anchor="t"/>
          <a:lstStyle/>
          <a:p>
            <a:pPr algn="l" indent="0" marL="0">
              <a:lnSpc>
                <a:spcPct val="118000"/>
              </a:lnSpc>
              <a:buNone/>
            </a:pPr>
            <a:r>
              <a:rPr lang="en-US" sz="1500" dirty="0">
                <a:solidFill>
                  <a:srgbClr val="2B2D31"/>
                </a:solidFill>
                <a:latin typeface="Noto Sans" pitchFamily="34" charset="0"/>
                <a:ea typeface="Noto Sans" pitchFamily="34" charset="-122"/>
                <a:cs typeface="Noto Sans" pitchFamily="34" charset="-120"/>
              </a:rPr>
              <a:t>Spec · diff · kiểm thử · duyệt</a:t>
            </a:r>
            <a:endParaRPr lang="en-US" sz="1500" dirty="0"/>
          </a:p>
        </p:txBody>
      </p:sp>
      <p:sp>
        <p:nvSpPr>
          <p:cNvPr id="15" name="Text 13"/>
          <p:cNvSpPr/>
          <p:nvPr/>
        </p:nvSpPr>
        <p:spPr>
          <a:xfrm>
            <a:off x="609585" y="606683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34363B"/>
                </a:solidFill>
                <a:latin typeface="M PLUS 1 Code Medium" pitchFamily="34" charset="0"/>
                <a:ea typeface="M PLUS 1 Code Medium" pitchFamily="34" charset="-122"/>
                <a:cs typeface="M PLUS 1 Code Medium" pitchFamily="34" charset="-120"/>
              </a:rPr>
              <a:t>HỎI ĐÁP · CHI PHÍ API THỰC TẾ · SETUP SKILLS · DEBUG</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4A4C51"/>
                </a:solidFill>
                <a:latin typeface="M PLUS 1 Code" pitchFamily="34" charset="0"/>
                <a:ea typeface="M PLUS 1 Code" pitchFamily="34" charset="-122"/>
                <a:cs typeface="M PLUS 1 Code" pitchFamily="34" charset="-120"/>
              </a:rPr>
              <a:t>16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2026-10-04T13:27:14Z</dcterms:created>
  <dcterms:modified xsi:type="dcterms:W3CDTF">2026-10-04T13:27:14Z</dcterms:modified>
</cp:coreProperties>
</file>