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embeddedFontLst>
    <p:embeddedFont>
      <p:font typeface="Lora"/>
      <p:regular r:id="rId201314"/>
    </p:embeddedFont>
    <p:embeddedFont>
      <p:font typeface="Lora SemiBold"/>
      <p:regular r:id="rId201315"/>
    </p:embeddedFont>
    <p:embeddedFont>
      <p:font typeface="Lora Bold"/>
      <p:regular r:id="rId201316"/>
    </p:embeddedFont>
    <p:embeddedFont>
      <p:font typeface="Playfair Display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câu hỏi: khi AI viết được code, ai chịu trách nhiệm để game thực sự chơi được? Bài nói dựa trên bản thảo của tác giả dự án. Các con số chưa được đối chiếu repository sẽ được đánh dấu; minh họa pixel art không phải ảnh chụp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bảng như dấu hiệu chuyển từ thử một gameplay loop sang nhiều hệ thống có tương tác. Không suy luận rằng 5.700 dòng tốt hơn 43 dòng. Trước buổi nói, kiểm lại cách đếm file, dòng logic, scene và danh sách skills trong repository; chốt revision dùng để đối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lựa chọn phù hợp dự án, không phải bảng xếp hạng engine. TSCN giúp agent đọc cấu trúc node và người review thay đổi; CLI hỗ trợ tự động hóa nhưng không bảo đảm mọi bài test chạy trong 0,5 giây. Các mức vài chục đô và khoảng 2.500 USD/demo Unreal trong bản thảo chưa đủ hóa đơn, cấu hình và nguồn so sánh nên không dùng làm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vai để tách việc hiểu vấn đề khỏi việc sửa. Spec cần có phạm vi, file được phép đổi và điều kiện nghiệm thu. Ví dụ trên là hợp đồng minh họa, không phải trích nguyên văn file dự án. Tên “GPT 5.6 Sol” xuất hiện trong bản thảo nhưng chưa được xác minh từ nguồn công khai đã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biểu tượng hotbar sai có thể là binding dữ liệu; click UI bắn tên lại là đường truyền input. Đừng cho agent sửa tất cả trong một lần vì nhìn thấy cùng một màn hình. Yêu cầu plan giải thích vì sao đổi từng file, diff dự kiến ra sao và cách tái hiện lỗi trước, sau sửa. Không hứa thời gian duyệt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Phase 2 như một kinh nghiệm của dự án, không quy kết mọi phiên dài đều thất bại. Phiên mới chỉ hữu ích khi có gói bàn giao đủ tốt. Có thể tách task kiểm hướng bắn, task collision của quái và task điều kiện spawn, rồi kiểm lại tích hợp. Không lặp khẳng định giảm 90% hallucination vì chưa có phép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trả lời câu hỏi định lượng: thời gian hồi chiêu, sát thương và HP có khớp spec không? Critic tìm rủi ro ở cấu trúc và thay đổi gây vỡ hành vi cũ. Hai nhánh có thể cùng bỏ sót một giả định sai. Người duyệt phải xem bằng chứng và chạy kịch bản thực tế; thất bại ở bất kỳ bước nào đều quay lại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giây là cửa sổ kiểm thử được kể trong bản thảo, không phải thời gian chạy mọi test. Scene riêng giúp tách một cơ chế khỏi thế giới game đầy nhiễu. Sau test logic, chụp kết quả thật từ engine để review hình ảnh. Nếu vision báo lỗi, kiểm lại bằng mắt và tái hiện; nếu vision không báo lỗi, cũng chưa thể kết luận UI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ba việc cần kiểm: độ đồng nhất pixel, biên của từng ô và điểm neo qua các frame. Một sprite nhìn tốt khi đứng riêng có thể hỏng khi cắt sheet hoặc phát animation. Ví dụ ở đây được tạo để giải thích khái niệm, không dùng để chứng minh chất lượng asset của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anchor giữ đặc điểm nhân vật trước khi yêu cầu nhiều pose. Pixel snapping không cứu được mọi frame, nên cần curation. Các kích thước và số frame trên là lựa chọn được kể trong bản thảo, không phải chuẩn bắt buộc. Onion skin giúp nhìn điểm neo qua nhiều frame; vẫn cần phát animation trong engine để kiểm tốc độ, va chạm và cảm giác chuyển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thảo gợi ý ưu tiên agent trong IDE, domain skills, script xử lý asset và theo dõi chi phí cache. Anthropic đã xác nhận Claude Opus 5.5 cùng khả năng coding và agentic work; thông tin đó không xác minh chi phí hoặc kết quả riêng của dự án. Khi đổi model, giữ spec và test ổn định để biết thay đổi có thực sự hữu ích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state machine đúng cú pháp chưa chắc cho combat dễ đọc. Một bảng sát thương khớp công thức chưa chắc tạo nhịp chơi tốt. Dùng AI để đề xuất và thử phương án, nhưng người làm game phải chọn tiêu chí, kiểm cảm giác và chịu trách nhiệm cắt scope. Không dùng cách nói “AI hoàn toàn bất lực”.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nhanh từng lỗi, rồi chuyển ngay sang điều kiện nghiệm thu. Collision cần phân biệt vùng nước và vật cản theo thiết kế. Đổi class phải cập nhật dữ liệu và hình hiển thị. Click inventory không được truyền thành lệnh bắn. Drop phải làm số lượng, slot và vật phẩm trong thế giới nhất quán. Những chuyện vui trở thành tài sản khi được giữ trong bộ regression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bắt đầu, chọn một loop đủ nhỏ để quan sát toàn bộ hành vi. Ví dụ minh họa: di chuyển, bắn và phản hồi trúng đòn trước khi mở rộng inventory hay boss. Viết điều kiện nghiệm thu sao cho người khác có thể chạy lại. Nếu playtest cho thấy loop chưa vui, quay lại scope và thiết kế chứ không chỉ yêu cầu AI thêm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kịch bản demo trong bản thảo, cần xác nhận tính năng hiện có trước khi trình bày. Chuẩn bị save state gần boss, trạng thái inventory để thử kéo thả và đổi class, cùng file plan đã chọn. Có bản quay dự phòng nếu build hoặc môi trường gặp lỗi. Khi trả lời chi phí, dùng hóa đơn và usage thực tế; nếu chưa có số liệu thì nói rõ chưa đối chiếu, không suy đoán.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ED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585" y="812800"/>
            <a:ext cx="6222844" cy="4293791"/>
          </a:xfrm>
          <a:prstGeom prst="rect">
            <a:avLst/>
          </a:prstGeom>
          <a:solidFill>
            <a:srgbClr val="E9DFC6"/>
          </a:solidFill>
          <a:ln/>
        </p:spPr>
      </p:sp>
      <p:sp>
        <p:nvSpPr>
          <p:cNvPr id="4" name="Text 1"/>
          <p:cNvSpPr/>
          <p:nvPr/>
        </p:nvSpPr>
        <p:spPr>
          <a:xfrm>
            <a:off x="1041374" y="1193800"/>
            <a:ext cx="5968851"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NHẬT KÝ PHÁT TRIỂN · DEVELOPER TALK</a:t>
            </a:r>
            <a:endParaRPr lang="en-US" sz="1100" dirty="0"/>
          </a:p>
        </p:txBody>
      </p:sp>
      <p:sp>
        <p:nvSpPr>
          <p:cNvPr id="5" name="Text 2"/>
          <p:cNvSpPr/>
          <p:nvPr/>
        </p:nvSpPr>
        <p:spPr>
          <a:xfrm>
            <a:off x="1041374" y="1479550"/>
            <a:ext cx="5359266" cy="1676400"/>
          </a:xfrm>
          <a:prstGeom prst="rect">
            <a:avLst/>
          </a:prstGeom>
          <a:noFill/>
          <a:ln/>
        </p:spPr>
        <p:txBody>
          <a:bodyPr wrap="square" lIns="0" tIns="0" rIns="0" bIns="0" rtlCol="0" anchor="t">
            <a:normAutofit/>
          </a:bodyPr>
          <a:lstStyle/>
          <a:p>
            <a:pPr algn="l" indent="0" marL="0">
              <a:lnSpc>
                <a:spcPct val="83000"/>
              </a:lnSpc>
              <a:buNone/>
            </a:pPr>
            <a:r>
              <a:rPr lang="en-US" sz="4400" b="1" dirty="0">
                <a:solidFill>
                  <a:srgbClr val="2D241E"/>
                </a:solidFill>
                <a:latin typeface="Playfair Display Bold" pitchFamily="34" charset="0"/>
                <a:ea typeface="Playfair Display Bold" pitchFamily="34" charset="-122"/>
                <a:cs typeface="Playfair Display Bold" pitchFamily="34" charset="-120"/>
              </a:rPr>
              <a:t>AI làm game này: Bài học từ một dự án thật</a:t>
            </a:r>
            <a:endParaRPr lang="en-US" sz="4400" dirty="0"/>
          </a:p>
        </p:txBody>
      </p:sp>
      <p:sp>
        <p:nvSpPr>
          <p:cNvPr id="6" name="Shape 3"/>
          <p:cNvSpPr/>
          <p:nvPr/>
        </p:nvSpPr>
        <p:spPr>
          <a:xfrm>
            <a:off x="1041374" y="3392488"/>
            <a:ext cx="669809" cy="31651"/>
          </a:xfrm>
          <a:prstGeom prst="roundRect">
            <a:avLst>
              <a:gd name="adj" fmla="val 49998"/>
            </a:avLst>
          </a:prstGeom>
          <a:solidFill>
            <a:srgbClr val="E5B842"/>
          </a:solidFill>
          <a:ln/>
        </p:spPr>
      </p:sp>
      <p:sp>
        <p:nvSpPr>
          <p:cNvPr id="7" name="Text 4"/>
          <p:cNvSpPr/>
          <p:nvPr/>
        </p:nvSpPr>
        <p:spPr>
          <a:xfrm>
            <a:off x="1041374" y="3658791"/>
            <a:ext cx="5359266" cy="685800"/>
          </a:xfrm>
          <a:prstGeom prst="rect">
            <a:avLst/>
          </a:prstGeom>
          <a:noFill/>
          <a:ln/>
        </p:spPr>
        <p:txBody>
          <a:bodyPr wrap="square" lIns="0" tIns="0" rIns="0" bIns="0" rtlCol="0" anchor="t">
            <a:normAutofit/>
          </a:bodyPr>
          <a:lstStyle/>
          <a:p>
            <a:pPr algn="l" indent="0" marL="0">
              <a:lnSpc>
                <a:spcPct val="125000"/>
              </a:lnSpc>
              <a:buNone/>
            </a:pPr>
            <a:r>
              <a:rPr lang="en-US" sz="1800" dirty="0">
                <a:solidFill>
                  <a:srgbClr val="2D241E"/>
                </a:solidFill>
                <a:latin typeface="Lora" pitchFamily="34" charset="0"/>
                <a:ea typeface="Lora" pitchFamily="34" charset="-122"/>
                <a:cs typeface="Lora" pitchFamily="34" charset="-120"/>
              </a:rPr>
              <a:t>Từ prototype, bug khó đỡ đến một workflow có kiểm chứng.</a:t>
            </a:r>
            <a:endParaRPr lang="en-US" sz="1800" dirty="0"/>
          </a:p>
        </p:txBody>
      </p:sp>
      <p:sp>
        <p:nvSpPr>
          <p:cNvPr id="8" name="Text 5"/>
          <p:cNvSpPr/>
          <p:nvPr/>
        </p:nvSpPr>
        <p:spPr>
          <a:xfrm>
            <a:off x="1041374" y="4516041"/>
            <a:ext cx="5968851" cy="209550"/>
          </a:xfrm>
          <a:prstGeom prst="rect">
            <a:avLst/>
          </a:prstGeom>
          <a:noFill/>
          <a:ln/>
        </p:spPr>
        <p:txBody>
          <a:bodyPr wrap="none" lIns="0" tIns="0" rIns="0" bIns="0" rtlCol="0" anchor="t"/>
          <a:lstStyle/>
          <a:p>
            <a:pPr algn="l" indent="0" marL="0">
              <a:lnSpc>
                <a:spcPct val="125000"/>
              </a:lnSpc>
              <a:buNone/>
            </a:pPr>
            <a:r>
              <a:rPr lang="en-US" sz="1100" dirty="0">
                <a:solidFill>
                  <a:srgbClr val="2D241E"/>
                </a:solidFill>
                <a:latin typeface="Lora" pitchFamily="34" charset="0"/>
                <a:ea typeface="Lora" pitchFamily="34" charset="-122"/>
                <a:cs typeface="Lora" pitchFamily="34" charset="-120"/>
              </a:rPr>
              <a:t>Minh họa khái niệm, không phải screenshot dự án.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PHẠM VI DỰ ÁN</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Từ prototype đến hệ thống game</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sp>
        <p:nvSpPr>
          <p:cNvPr id="5" name="Text 3"/>
          <p:cNvSpPr/>
          <p:nvPr/>
        </p:nvSpPr>
        <p:spPr>
          <a:xfrm>
            <a:off x="457189" y="2144216"/>
            <a:ext cx="11734506" cy="342900"/>
          </a:xfrm>
          <a:prstGeom prst="rect">
            <a:avLst/>
          </a:prstGeom>
          <a:noFill/>
          <a:ln/>
        </p:spPr>
        <p:txBody>
          <a:bodyPr wrap="none" lIns="0" tIns="0" rIns="0" bIns="0" rtlCol="0" anchor="t"/>
          <a:lstStyle/>
          <a:p>
            <a:pPr algn="l" indent="0" marL="0">
              <a:lnSpc>
                <a:spcPct val="125000"/>
              </a:lnSpc>
              <a:buNone/>
            </a:pPr>
            <a:r>
              <a:rPr lang="en-US" sz="1800" dirty="0">
                <a:solidFill>
                  <a:srgbClr val="2D241E"/>
                </a:solidFill>
                <a:latin typeface="Lora" pitchFamily="34" charset="0"/>
                <a:ea typeface="Lora" pitchFamily="34" charset="-122"/>
                <a:cs typeface="Lora" pitchFamily="34" charset="-120"/>
              </a:rPr>
              <a:t>Phạm vi tăng lên; nhu cầu kiểm soát thay đổi cũng tăng theo.</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189" y="2715716"/>
          <a:ext cx="11277318" cy="914400"/>
        </p:xfrm>
        <a:graphic>
          <a:graphicData uri="http://schemas.openxmlformats.org/drawingml/2006/table">
            <a:tbl>
              <a:tblPr/>
              <a:tblGrid>
                <a:gridCol w="4285349"/>
                <a:gridCol w="3044848"/>
                <a:gridCol w="3947121"/>
              </a:tblGrid>
              <a:tr h="647684">
                <a:tc>
                  <a:txBody>
                    <a:bodyPr/>
                    <a:lstStyle/>
                    <a:p>
                      <a:pPr algn="l" indent="0" marL="0">
                        <a:buNone/>
                      </a:pPr>
                      <a:r>
                        <a:rPr lang="en-US" sz="1500" dirty="0">
                          <a:solidFill>
                            <a:srgbClr val="1E5E52"/>
                          </a:solidFill>
                          <a:latin typeface="Lora" pitchFamily="34" charset="0"/>
                          <a:ea typeface="Lora" pitchFamily="34" charset="-122"/>
                          <a:cs typeface="Lora" pitchFamily="34" charset="-120"/>
                        </a:rPr>
                        <a:t>Thành phần</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1E5E52"/>
                          </a:solidFill>
                          <a:latin typeface="Lora" pitchFamily="34" charset="0"/>
                          <a:ea typeface="Lora" pitchFamily="34" charset="-122"/>
                          <a:cs typeface="Lora" pitchFamily="34" charset="-120"/>
                        </a:rPr>
                        <a:t>Phase 1</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Phase 4</a:t>
                      </a:r>
                      <a:endParaRPr lang="en-US" sz="1500" dirty="0">
                        <a:latin typeface="Lora" charset="0"/>
                        <a:ea typeface="Lora" charset="0"/>
                        <a:cs typeface="Lora" charset="0"/>
                      </a:endParaRPr>
                    </a:p>
                  </a:txBody>
                  <a:tcPr marL="142871" marR="142871" marT="177796" marB="1777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E9DFC6"/>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r>
              <a:tr h="647684">
                <a:tc>
                  <a:txBody>
                    <a:bodyPr/>
                    <a:lstStyle/>
                    <a:p>
                      <a:pPr algn="l" indent="0" marL="0">
                        <a:buNone/>
                      </a:pPr>
                      <a:r>
                        <a:rPr lang="en-US" sz="1500" dirty="0">
                          <a:solidFill>
                            <a:srgbClr val="2D241E"/>
                          </a:solidFill>
                          <a:latin typeface="Lora" pitchFamily="34" charset="0"/>
                          <a:ea typeface="Lora" pitchFamily="34" charset="-122"/>
                          <a:cs typeface="Lora" pitchFamily="34" charset="-120"/>
                        </a:rPr>
                        <a:t>GDScript</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1 file</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65 files</a:t>
                      </a:r>
                      <a:endParaRPr lang="en-US" sz="1500" dirty="0">
                        <a:latin typeface="Lora" charset="0"/>
                        <a:ea typeface="Lora" charset="0"/>
                        <a:cs typeface="Lora" charset="0"/>
                      </a:endParaRPr>
                    </a:p>
                  </a:txBody>
                  <a:tcPr marL="142871" marR="142871" marT="177796" marB="1777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r>
              <a:tr h="647684">
                <a:tc>
                  <a:txBody>
                    <a:bodyPr/>
                    <a:lstStyle/>
                    <a:p>
                      <a:pPr algn="l" indent="0" marL="0">
                        <a:buNone/>
                      </a:pPr>
                      <a:r>
                        <a:rPr lang="en-US" sz="1500" dirty="0">
                          <a:solidFill>
                            <a:srgbClr val="2D241E"/>
                          </a:solidFill>
                          <a:latin typeface="Lora" pitchFamily="34" charset="0"/>
                          <a:ea typeface="Lora" pitchFamily="34" charset="-122"/>
                          <a:cs typeface="Lora" pitchFamily="34" charset="-120"/>
                        </a:rPr>
                        <a:t>Dòng logic</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43 dòng</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Khoảng 5.700 dòng</a:t>
                      </a:r>
                      <a:endParaRPr lang="en-US" sz="1500" dirty="0">
                        <a:latin typeface="Lora" charset="0"/>
                        <a:ea typeface="Lora" charset="0"/>
                        <a:cs typeface="Lora" charset="0"/>
                      </a:endParaRPr>
                    </a:p>
                  </a:txBody>
                  <a:tcPr marL="142871" marR="142871" marT="177796" marB="1777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r>
              <a:tr h="647684">
                <a:tc>
                  <a:txBody>
                    <a:bodyPr/>
                    <a:lstStyle/>
                    <a:p>
                      <a:pPr algn="l" indent="0" marL="0">
                        <a:buNone/>
                      </a:pPr>
                      <a:r>
                        <a:rPr lang="en-US" sz="1500" dirty="0">
                          <a:solidFill>
                            <a:srgbClr val="2D241E"/>
                          </a:solidFill>
                          <a:latin typeface="Lora" pitchFamily="34" charset="0"/>
                          <a:ea typeface="Lora" pitchFamily="34" charset="-122"/>
                          <a:cs typeface="Lora" pitchFamily="34" charset="-120"/>
                        </a:rPr>
                        <a:t>Scenes</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2</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50</a:t>
                      </a:r>
                      <a:endParaRPr lang="en-US" sz="1500" dirty="0">
                        <a:latin typeface="Lora" charset="0"/>
                        <a:ea typeface="Lora" charset="0"/>
                        <a:cs typeface="Lora" charset="0"/>
                      </a:endParaRPr>
                    </a:p>
                  </a:txBody>
                  <a:tcPr marL="142871" marR="142871" marT="177796" marB="1777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r>
              <a:tr h="641334">
                <a:tc>
                  <a:txBody>
                    <a:bodyPr/>
                    <a:lstStyle/>
                    <a:p>
                      <a:pPr algn="l" indent="0" marL="0">
                        <a:buNone/>
                      </a:pPr>
                      <a:r>
                        <a:rPr lang="en-US" sz="1500" dirty="0">
                          <a:solidFill>
                            <a:srgbClr val="2D241E"/>
                          </a:solidFill>
                          <a:latin typeface="Lora" pitchFamily="34" charset="0"/>
                          <a:ea typeface="Lora" pitchFamily="34" charset="-122"/>
                          <a:cs typeface="Lora" pitchFamily="34" charset="-120"/>
                        </a:rPr>
                        <a:t>Godot Skills tích hợp</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Không nêu</a:t>
                      </a:r>
                      <a:endParaRPr lang="en-US" sz="1500" dirty="0">
                        <a:latin typeface="Lora" charset="0"/>
                        <a:ea typeface="Lora" charset="0"/>
                        <a:cs typeface="Lora" charset="0"/>
                      </a:endParaRPr>
                    </a:p>
                  </a:txBody>
                  <a:tcPr marL="142871" marR="142871" marT="177796" marB="1777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99</a:t>
                      </a:r>
                      <a:endParaRPr lang="en-US" sz="1500" dirty="0">
                        <a:latin typeface="Lora" charset="0"/>
                        <a:ea typeface="Lora" charset="0"/>
                        <a:cs typeface="Lora" charset="0"/>
                      </a:endParaRPr>
                    </a:p>
                  </a:txBody>
                  <a:tcPr marL="142871" marR="142871" marT="177796" marB="1777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E9DFC6"/>
                      </a:solidFill>
                      <a:prstDash val="solid"/>
                      <a:round/>
                      <a:headEnd type="none" w="med" len="med"/>
                      <a:tailEnd type="none" w="med" len="med"/>
                    </a:lnB>
                    <a:solidFill>
                      <a:srgbClr val="E9DFC6"/>
                    </a:solidFill>
                  </a:tcPr>
                </a:tc>
              </a:tr>
            </a:tbl>
          </a:graphicData>
        </a:graphic>
      </p:graphicFrame>
      <p:sp>
        <p:nvSpPr>
          <p:cNvPr id="7" name="Text 4"/>
          <p:cNvSpPr/>
          <p:nvPr/>
        </p:nvSpPr>
        <p:spPr>
          <a:xfrm>
            <a:off x="457189" y="6119316"/>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Theo bản thảo dự án; cần đối chiếu repo. Số dòng code cho thấy phạm vi, không đo chất lượng.</a:t>
            </a:r>
            <a:endParaRPr lang="en-US" sz="1500" dirty="0"/>
          </a:p>
        </p:txBody>
      </p:sp>
      <p:sp>
        <p:nvSpPr>
          <p:cNvPr id="8" name="Text 5"/>
          <p:cNvSpPr/>
          <p:nvPr/>
        </p:nvSpPr>
        <p:spPr>
          <a:xfrm>
            <a:off x="11662872" y="6529388"/>
            <a:ext cx="528823"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CHỌN ENGINE THEO WORKFLOW</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Godot phù hợp với vòng phản hồi của dự án</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sp>
        <p:nvSpPr>
          <p:cNvPr id="5" name="Text 3"/>
          <p:cNvSpPr/>
          <p:nvPr/>
        </p:nvSpPr>
        <p:spPr>
          <a:xfrm>
            <a:off x="457189" y="2144216"/>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TSCN là scene tree dạng văn bản. CLI giúp đưa việc chạy và kiểm tra vào workflow.</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189" y="2601416"/>
          <a:ext cx="11277318" cy="914400"/>
        </p:xfrm>
        <a:graphic>
          <a:graphicData uri="http://schemas.openxmlformats.org/drawingml/2006/table">
            <a:tbl>
              <a:tblPr/>
              <a:tblGrid>
                <a:gridCol w="2706521"/>
                <a:gridCol w="3383176"/>
                <a:gridCol w="2593712"/>
                <a:gridCol w="2593910"/>
              </a:tblGrid>
              <a:tr h="622284">
                <a:tc>
                  <a:txBody>
                    <a:bodyPr/>
                    <a:lstStyle/>
                    <a:p>
                      <a:pPr algn="l" indent="0" marL="0">
                        <a:buNone/>
                      </a:pPr>
                      <a:r>
                        <a:rPr lang="en-US" sz="1500" dirty="0">
                          <a:solidFill>
                            <a:srgbClr val="1E5E52"/>
                          </a:solidFill>
                          <a:latin typeface="Lora" pitchFamily="34" charset="0"/>
                          <a:ea typeface="Lora" pitchFamily="34" charset="-122"/>
                          <a:cs typeface="Lora" pitchFamily="34" charset="-120"/>
                        </a:rPr>
                        <a:t>Nhu cầu</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Godot</a:t>
                      </a:r>
                      <a:endParaRPr lang="en-US" sz="1500" dirty="0">
                        <a:latin typeface="Lora" charset="0"/>
                        <a:ea typeface="Lora" charset="0"/>
                        <a:cs typeface="Lora" charset="0"/>
                      </a:endParaRPr>
                    </a:p>
                  </a:txBody>
                  <a:tcPr marL="142871" marR="142871" marT="165096" marB="1650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E9DFC6"/>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c>
                  <a:txBody>
                    <a:bodyPr/>
                    <a:lstStyle/>
                    <a:p>
                      <a:pPr algn="l" indent="0" marL="0">
                        <a:buNone/>
                      </a:pPr>
                      <a:r>
                        <a:rPr lang="en-US" sz="1500" dirty="0">
                          <a:solidFill>
                            <a:srgbClr val="1E5E52"/>
                          </a:solidFill>
                          <a:latin typeface="Lora" pitchFamily="34" charset="0"/>
                          <a:ea typeface="Lora" pitchFamily="34" charset="-122"/>
                          <a:cs typeface="Lora" pitchFamily="34" charset="-120"/>
                        </a:rPr>
                        <a:t>Unity</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1E5E52"/>
                          </a:solidFill>
                          <a:latin typeface="Lora" pitchFamily="34" charset="0"/>
                          <a:ea typeface="Lora" pitchFamily="34" charset="-122"/>
                          <a:cs typeface="Lora" pitchFamily="34" charset="-120"/>
                        </a:rPr>
                        <a:t>Unreal</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r>
              <a:tr h="908027">
                <a:tc>
                  <a:txBody>
                    <a:bodyPr/>
                    <a:lstStyle/>
                    <a:p>
                      <a:pPr algn="l" indent="0" marL="0">
                        <a:buNone/>
                      </a:pPr>
                      <a:r>
                        <a:rPr lang="en-US" sz="1500" dirty="0">
                          <a:solidFill>
                            <a:srgbClr val="2D241E"/>
                          </a:solidFill>
                          <a:latin typeface="Lora" pitchFamily="34" charset="0"/>
                          <a:ea typeface="Lora" pitchFamily="34" charset="-122"/>
                          <a:cs typeface="Lora" pitchFamily="34" charset="-120"/>
                        </a:rPr>
                        <a:t>Đọc thay đổi scene</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TSCN thuận tiện cho đọc và version control</a:t>
                      </a:r>
                      <a:endParaRPr lang="en-US" sz="1500" dirty="0">
                        <a:latin typeface="Lora" charset="0"/>
                        <a:ea typeface="Lora" charset="0"/>
                        <a:cs typeface="Lora" charset="0"/>
                      </a:endParaRPr>
                    </a:p>
                  </a:txBody>
                  <a:tcPr marL="142871" marR="142871" marT="165096" marB="1650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Đánh giá diff asset trong repo thử</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Đánh giá diff asset trong repo thử</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r>
              <a:tr h="908027">
                <a:tc>
                  <a:txBody>
                    <a:bodyPr/>
                    <a:lstStyle/>
                    <a:p>
                      <a:pPr algn="l" indent="0" marL="0">
                        <a:buNone/>
                      </a:pPr>
                      <a:r>
                        <a:rPr lang="en-US" sz="1500" dirty="0">
                          <a:solidFill>
                            <a:srgbClr val="2D241E"/>
                          </a:solidFill>
                          <a:latin typeface="Lora" pitchFamily="34" charset="0"/>
                          <a:ea typeface="Lora" pitchFamily="34" charset="-122"/>
                          <a:cs typeface="Lora" pitchFamily="34" charset="-120"/>
                        </a:rPr>
                        <a:t>Thao tác editor</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Kiểm phần agent làm được và phần cần người</a:t>
                      </a:r>
                      <a:endParaRPr lang="en-US" sz="1500" dirty="0">
                        <a:latin typeface="Lora" charset="0"/>
                        <a:ea typeface="Lora" charset="0"/>
                        <a:cs typeface="Lora" charset="0"/>
                      </a:endParaRPr>
                    </a:p>
                  </a:txBody>
                  <a:tcPr marL="142871" marR="142871" marT="165096" marB="1650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Thử cùng task</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Thử cùng task</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r>
              <a:tr h="615935">
                <a:tc>
                  <a:txBody>
                    <a:bodyPr/>
                    <a:lstStyle/>
                    <a:p>
                      <a:pPr algn="l" indent="0" marL="0">
                        <a:buNone/>
                      </a:pPr>
                      <a:r>
                        <a:rPr lang="en-US" sz="1500" dirty="0">
                          <a:solidFill>
                            <a:srgbClr val="2D241E"/>
                          </a:solidFill>
                          <a:latin typeface="Lora" pitchFamily="34" charset="0"/>
                          <a:ea typeface="Lora" pitchFamily="34" charset="-122"/>
                          <a:cs typeface="Lora" pitchFamily="34" charset="-120"/>
                        </a:rPr>
                        <a:t>Thời gian kiểm thử</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Đo trên cấu hình thực tế</a:t>
                      </a:r>
                      <a:endParaRPr lang="en-US" sz="1500" dirty="0">
                        <a:latin typeface="Lora" charset="0"/>
                        <a:ea typeface="Lora" charset="0"/>
                        <a:cs typeface="Lora" charset="0"/>
                      </a:endParaRPr>
                    </a:p>
                  </a:txBody>
                  <a:tcPr marL="142871" marR="142871" marT="165096" marB="165096"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E9DFC6"/>
                      </a:solidFill>
                      <a:prstDash val="solid"/>
                      <a:round/>
                      <a:headEnd type="none" w="med" len="med"/>
                      <a:tailEnd type="none" w="med" len="med"/>
                    </a:lnB>
                    <a:solidFill>
                      <a:srgbClr val="E9DFC6"/>
                    </a:solidFill>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Đo cùng kịch bản</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Đo cùng kịch bản</a:t>
                      </a:r>
                      <a:endParaRPr lang="en-US" sz="1500" dirty="0">
                        <a:latin typeface="Lora" charset="0"/>
                        <a:ea typeface="Lora" charset="0"/>
                        <a:cs typeface="Lora" charset="0"/>
                      </a:endParaRPr>
                    </a:p>
                  </a:txBody>
                  <a:tcPr marL="142871" marR="142871" marT="165096" marB="165096"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r>
            </a:tbl>
          </a:graphicData>
        </a:graphic>
      </p:graphicFrame>
      <p:sp>
        <p:nvSpPr>
          <p:cNvPr id="7" name="Text 4"/>
          <p:cNvSpPr/>
          <p:nvPr/>
        </p:nvSpPr>
        <p:spPr>
          <a:xfrm>
            <a:off x="457189" y="6115050"/>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Tài liệu Godot xác nhận text scenes và CLI. Chưa có benchmark chung về tốc độ hoặc chi phí.</a:t>
            </a:r>
            <a:endParaRPr lang="en-US" sz="1500" dirty="0"/>
          </a:p>
        </p:txBody>
      </p:sp>
      <p:sp>
        <p:nvSpPr>
          <p:cNvPr id="8" name="Text 5"/>
          <p:cNvSpPr/>
          <p:nvPr/>
        </p:nvSpPr>
        <p:spPr>
          <a:xfrm>
            <a:off x="11660193" y="6529388"/>
            <a:ext cx="531502"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7670608"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PHÂN VAI AGENT</a:t>
            </a:r>
            <a:endParaRPr lang="en-US" sz="1100" dirty="0"/>
          </a:p>
        </p:txBody>
      </p:sp>
      <p:sp>
        <p:nvSpPr>
          <p:cNvPr id="3" name="Text 1"/>
          <p:cNvSpPr/>
          <p:nvPr/>
        </p:nvSpPr>
        <p:spPr>
          <a:xfrm>
            <a:off x="457189" y="742950"/>
            <a:ext cx="7213420"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Phân vai Architect và Builder</a:t>
            </a:r>
            <a:endParaRPr lang="en-US" sz="4000" dirty="0"/>
          </a:p>
        </p:txBody>
      </p:sp>
      <p:sp>
        <p:nvSpPr>
          <p:cNvPr id="4" name="Shape 2"/>
          <p:cNvSpPr/>
          <p:nvPr/>
        </p:nvSpPr>
        <p:spPr>
          <a:xfrm>
            <a:off x="457189" y="1706463"/>
            <a:ext cx="901677" cy="31651"/>
          </a:xfrm>
          <a:prstGeom prst="roundRect">
            <a:avLst>
              <a:gd name="adj" fmla="val 49998"/>
            </a:avLst>
          </a:prstGeom>
          <a:solidFill>
            <a:srgbClr val="E5B842"/>
          </a:solidFill>
          <a:ln/>
        </p:spPr>
      </p:sp>
      <p:sp>
        <p:nvSpPr>
          <p:cNvPr id="5" name="Text 3"/>
          <p:cNvSpPr/>
          <p:nvPr/>
        </p:nvSpPr>
        <p:spPr>
          <a:xfrm>
            <a:off x="457189" y="2144216"/>
            <a:ext cx="3378115"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Architect</a:t>
            </a:r>
            <a:endParaRPr lang="en-US" sz="2100" dirty="0"/>
          </a:p>
        </p:txBody>
      </p:sp>
      <p:sp>
        <p:nvSpPr>
          <p:cNvPr id="6" name="Text 4"/>
          <p:cNvSpPr/>
          <p:nvPr/>
        </p:nvSpPr>
        <p:spPr>
          <a:xfrm>
            <a:off x="457189" y="2563416"/>
            <a:ext cx="3378115"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Claude khảo sát kiến trúc, tìm lỗi logic và viết spec.</a:t>
            </a:r>
            <a:endParaRPr lang="en-US" sz="1500" dirty="0"/>
          </a:p>
        </p:txBody>
      </p:sp>
      <p:sp>
        <p:nvSpPr>
          <p:cNvPr id="7" name="Text 5"/>
          <p:cNvSpPr/>
          <p:nvPr/>
        </p:nvSpPr>
        <p:spPr>
          <a:xfrm>
            <a:off x="4292493" y="2144216"/>
            <a:ext cx="3378115"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Builder</a:t>
            </a:r>
            <a:endParaRPr lang="en-US" sz="2100" dirty="0"/>
          </a:p>
        </p:txBody>
      </p:sp>
      <p:sp>
        <p:nvSpPr>
          <p:cNvPr id="8" name="Text 6"/>
          <p:cNvSpPr/>
          <p:nvPr/>
        </p:nvSpPr>
        <p:spPr>
          <a:xfrm>
            <a:off x="4292493" y="2563416"/>
            <a:ext cx="3378115"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Thi công, viết công cụ và test trong Antigravity IDE với 99 Godot Skills.</a:t>
            </a:r>
            <a:endParaRPr lang="en-US" sz="1500" dirty="0"/>
          </a:p>
        </p:txBody>
      </p:sp>
      <p:sp>
        <p:nvSpPr>
          <p:cNvPr id="9" name="Shape 7"/>
          <p:cNvSpPr/>
          <p:nvPr/>
        </p:nvSpPr>
        <p:spPr>
          <a:xfrm>
            <a:off x="457189" y="4536083"/>
            <a:ext cx="7213420" cy="1407517"/>
          </a:xfrm>
          <a:prstGeom prst="rect">
            <a:avLst/>
          </a:prstGeom>
          <a:solidFill>
            <a:srgbClr val="E9DFC6"/>
          </a:solidFill>
          <a:ln/>
        </p:spPr>
      </p:sp>
      <p:sp>
        <p:nvSpPr>
          <p:cNvPr id="10" name="Text 8"/>
          <p:cNvSpPr/>
          <p:nvPr/>
        </p:nvSpPr>
        <p:spPr>
          <a:xfrm>
            <a:off x="685783" y="4764683"/>
            <a:ext cx="6756231" cy="242292"/>
          </a:xfrm>
          <a:prstGeom prst="rect">
            <a:avLst/>
          </a:prstGeom>
          <a:noFill/>
          <a:ln/>
        </p:spPr>
        <p:txBody>
          <a:bodyPr wrap="none" lIns="0" tIns="0" rIns="0" bIns="0" rtlCol="0" anchor="t"/>
          <a:lstStyle/>
          <a:p>
            <a:pPr algn="l" indent="0" marL="0">
              <a:lnSpc>
                <a:spcPct val="88000"/>
              </a:lnSpc>
              <a:buNone/>
            </a:pPr>
            <a:r>
              <a:rPr lang="en-US" sz="1800" dirty="0">
                <a:solidFill>
                  <a:srgbClr val="2D241E"/>
                </a:solidFill>
                <a:latin typeface="Lora SemiBold" pitchFamily="34" charset="0"/>
                <a:ea typeface="Lora SemiBold" pitchFamily="34" charset="-122"/>
                <a:cs typeface="Lora SemiBold" pitchFamily="34" charset="-120"/>
              </a:rPr>
              <a:t>Hợp đồng bàn giao mẫu</a:t>
            </a:r>
            <a:endParaRPr lang="en-US" sz="1800" dirty="0"/>
          </a:p>
        </p:txBody>
      </p:sp>
      <p:sp>
        <p:nvSpPr>
          <p:cNvPr id="11" name="Text 9"/>
          <p:cNvSpPr/>
          <p:nvPr/>
        </p:nvSpPr>
        <p:spPr>
          <a:xfrm>
            <a:off x="685783" y="5143500"/>
            <a:ext cx="6756231"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Sửa chặn input UI; chỉ đổi handler liên quan; click inventory không được bắn tên.</a:t>
            </a:r>
            <a:endParaRPr lang="en-US" sz="1500" dirty="0"/>
          </a:p>
        </p:txBody>
      </p:sp>
      <p:sp>
        <p:nvSpPr>
          <p:cNvPr id="12" name="Text 10"/>
          <p:cNvSpPr/>
          <p:nvPr/>
        </p:nvSpPr>
        <p:spPr>
          <a:xfrm>
            <a:off x="457189" y="6115050"/>
            <a:ext cx="7670608"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Theo bản thảo. “GPT 5.6 Sol” cần xác nhận model chính xác.</a:t>
            </a:r>
            <a:endParaRPr lang="en-US" sz="1500" dirty="0"/>
          </a:p>
        </p:txBody>
      </p:sp>
      <p:pic>
        <p:nvPicPr>
          <p:cNvPr id="13" name="Image 0" descr="preencoded.png">    </p:cNvPr>
          <p:cNvPicPr>
            <a:picLocks noChangeAspect="1"/>
          </p:cNvPicPr>
          <p:nvPr/>
        </p:nvPicPr>
        <p:blipFill>
          <a:blip r:embed="rId1"/>
          <a:stretch>
            <a:fillRect/>
          </a:stretch>
        </p:blipFill>
        <p:spPr>
          <a:xfrm>
            <a:off x="8127797" y="0"/>
            <a:ext cx="4063898" cy="6858000"/>
          </a:xfrm>
          <a:prstGeom prst="rect">
            <a:avLst/>
          </a:prstGeom>
        </p:spPr>
      </p:pic>
      <p:sp>
        <p:nvSpPr>
          <p:cNvPr id="14" name="Shape 11"/>
          <p:cNvSpPr/>
          <p:nvPr/>
        </p:nvSpPr>
        <p:spPr>
          <a:xfrm>
            <a:off x="4057548" y="2144216"/>
            <a:ext cx="12700" cy="990699"/>
          </a:xfrm>
          <a:prstGeom prst="rect">
            <a:avLst/>
          </a:prstGeom>
          <a:solidFill>
            <a:srgbClr val="C9B995"/>
          </a:solidFill>
          <a:ln/>
        </p:spPr>
      </p:sp>
      <p:sp>
        <p:nvSpPr>
          <p:cNvPr id="15" name="Text 12"/>
          <p:cNvSpPr/>
          <p:nvPr/>
        </p:nvSpPr>
        <p:spPr>
          <a:xfrm>
            <a:off x="457189" y="6529388"/>
            <a:ext cx="681913"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ED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57509" cy="6858000"/>
          </a:xfrm>
          <a:prstGeom prst="rect">
            <a:avLst/>
          </a:prstGeom>
        </p:spPr>
      </p:pic>
      <p:sp>
        <p:nvSpPr>
          <p:cNvPr id="3" name="Text 0"/>
          <p:cNvSpPr/>
          <p:nvPr/>
        </p:nvSpPr>
        <p:spPr>
          <a:xfrm>
            <a:off x="4114697" y="457200"/>
            <a:ext cx="8076998"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TRƯỚC KHI THI CÔNG</a:t>
            </a:r>
            <a:endParaRPr lang="en-US" sz="1100" dirty="0"/>
          </a:p>
        </p:txBody>
      </p:sp>
      <p:sp>
        <p:nvSpPr>
          <p:cNvPr id="4" name="Text 1"/>
          <p:cNvSpPr/>
          <p:nvPr/>
        </p:nvSpPr>
        <p:spPr>
          <a:xfrm>
            <a:off x="4114697" y="742950"/>
            <a:ext cx="7619809" cy="1076920"/>
          </a:xfrm>
          <a:prstGeom prst="rect">
            <a:avLst/>
          </a:prstGeom>
          <a:noFill/>
          <a:ln/>
        </p:spPr>
        <p:txBody>
          <a:bodyPr wrap="square" lIns="0" tIns="0" rIns="0" bIns="0" rtlCol="0" anchor="t">
            <a:normAutofit/>
          </a:bodyPr>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Duyệt kế hoạch trước khi sửa code</a:t>
            </a:r>
            <a:endParaRPr lang="en-US" sz="4000" dirty="0"/>
          </a:p>
        </p:txBody>
      </p:sp>
      <p:sp>
        <p:nvSpPr>
          <p:cNvPr id="5" name="Shape 2"/>
          <p:cNvSpPr/>
          <p:nvPr/>
        </p:nvSpPr>
        <p:spPr>
          <a:xfrm>
            <a:off x="4114697" y="2244923"/>
            <a:ext cx="952476" cy="31651"/>
          </a:xfrm>
          <a:prstGeom prst="roundRect">
            <a:avLst>
              <a:gd name="adj" fmla="val 49998"/>
            </a:avLst>
          </a:prstGeom>
          <a:solidFill>
            <a:srgbClr val="E5B842"/>
          </a:solidFill>
          <a:ln/>
        </p:spPr>
      </p:sp>
      <p:sp>
        <p:nvSpPr>
          <p:cNvPr id="6" name="Text 3"/>
          <p:cNvSpPr/>
          <p:nvPr/>
        </p:nvSpPr>
        <p:spPr>
          <a:xfrm>
            <a:off x="4114697" y="2682677"/>
            <a:ext cx="8076998"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Hotbar lỗi và click xuyên UI có thể thuộc những lớp nguyên nhân khác nhau.</a:t>
            </a:r>
            <a:endParaRPr lang="en-US" sz="1500" dirty="0"/>
          </a:p>
        </p:txBody>
      </p:sp>
      <p:sp>
        <p:nvSpPr>
          <p:cNvPr id="7" name="Text 4"/>
          <p:cNvSpPr/>
          <p:nvPr/>
        </p:nvSpPr>
        <p:spPr>
          <a:xfrm>
            <a:off x="4114697" y="3139877"/>
            <a:ext cx="80454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01</a:t>
            </a:r>
            <a:endParaRPr lang="en-US" sz="1500" dirty="0"/>
          </a:p>
        </p:txBody>
      </p:sp>
      <p:sp>
        <p:nvSpPr>
          <p:cNvPr id="8" name="Shape 5"/>
          <p:cNvSpPr/>
          <p:nvPr/>
        </p:nvSpPr>
        <p:spPr>
          <a:xfrm>
            <a:off x="4114697" y="3406577"/>
            <a:ext cx="2235144" cy="19050"/>
          </a:xfrm>
          <a:prstGeom prst="rect">
            <a:avLst/>
          </a:prstGeom>
          <a:solidFill>
            <a:srgbClr val="1E5E52"/>
          </a:solidFill>
          <a:ln/>
        </p:spPr>
      </p:sp>
      <p:sp>
        <p:nvSpPr>
          <p:cNvPr id="9" name="Text 6"/>
          <p:cNvSpPr/>
          <p:nvPr/>
        </p:nvSpPr>
        <p:spPr>
          <a:xfrm>
            <a:off x="4114697" y="3539927"/>
            <a:ext cx="2235144"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Khảo sát repo</a:t>
            </a:r>
            <a:endParaRPr lang="en-US" sz="1800" dirty="0"/>
          </a:p>
        </p:txBody>
      </p:sp>
      <p:sp>
        <p:nvSpPr>
          <p:cNvPr id="10" name="Text 7"/>
          <p:cNvSpPr/>
          <p:nvPr/>
        </p:nvSpPr>
        <p:spPr>
          <a:xfrm>
            <a:off x="4114697" y="3918744"/>
            <a:ext cx="2235144"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Tách hiển thị, input và data.</a:t>
            </a:r>
            <a:endParaRPr lang="en-US" sz="1500" dirty="0"/>
          </a:p>
        </p:txBody>
      </p:sp>
      <p:sp>
        <p:nvSpPr>
          <p:cNvPr id="11" name="Text 8"/>
          <p:cNvSpPr/>
          <p:nvPr/>
        </p:nvSpPr>
        <p:spPr>
          <a:xfrm>
            <a:off x="6807030" y="3139877"/>
            <a:ext cx="83113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02</a:t>
            </a:r>
            <a:endParaRPr lang="en-US" sz="1500" dirty="0"/>
          </a:p>
        </p:txBody>
      </p:sp>
      <p:sp>
        <p:nvSpPr>
          <p:cNvPr id="12" name="Shape 9"/>
          <p:cNvSpPr/>
          <p:nvPr/>
        </p:nvSpPr>
        <p:spPr>
          <a:xfrm>
            <a:off x="6807030" y="3406577"/>
            <a:ext cx="2235144" cy="19050"/>
          </a:xfrm>
          <a:prstGeom prst="rect">
            <a:avLst/>
          </a:prstGeom>
          <a:solidFill>
            <a:srgbClr val="1E5E52"/>
          </a:solidFill>
          <a:ln/>
        </p:spPr>
      </p:sp>
      <p:sp>
        <p:nvSpPr>
          <p:cNvPr id="13" name="Text 10"/>
          <p:cNvSpPr/>
          <p:nvPr/>
        </p:nvSpPr>
        <p:spPr>
          <a:xfrm>
            <a:off x="6807030" y="3539927"/>
            <a:ext cx="2235144"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Viết plan</a:t>
            </a:r>
            <a:endParaRPr lang="en-US" sz="1800" dirty="0"/>
          </a:p>
        </p:txBody>
      </p:sp>
      <p:sp>
        <p:nvSpPr>
          <p:cNvPr id="14" name="Text 11"/>
          <p:cNvSpPr/>
          <p:nvPr/>
        </p:nvSpPr>
        <p:spPr>
          <a:xfrm>
            <a:off x="6807030" y="3918744"/>
            <a:ext cx="2235144" cy="5778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highlight>
                  <a:srgbClr val="E9DFC6"/>
                </a:highlight>
                <a:latin typeface="Consolas" pitchFamily="34" charset="0"/>
                <a:ea typeface="Consolas" pitchFamily="34" charset="-122"/>
                <a:cs typeface="Consolas" pitchFamily="34" charset="-120"/>
              </a:rPr>
              <a:t>bugfix_plan.md</a:t>
            </a:r>
            <a:pPr algn="l" indent="0" marL="0">
              <a:lnSpc>
                <a:spcPct val="125000"/>
              </a:lnSpc>
              <a:buNone/>
            </a:pPr>
            <a:r>
              <a:rPr lang="en-US" sz="1500" dirty="0">
                <a:solidFill>
                  <a:srgbClr val="2D241E"/>
                </a:solidFill>
                <a:latin typeface="Lora" pitchFamily="34" charset="0"/>
                <a:ea typeface="Lora" pitchFamily="34" charset="-122"/>
                <a:cs typeface="Lora" pitchFamily="34" charset="-120"/>
              </a:rPr>
              <a:t> nêu thứ tự file và diff dự kiến.</a:t>
            </a:r>
            <a:endParaRPr lang="en-US" sz="1500" dirty="0"/>
          </a:p>
        </p:txBody>
      </p:sp>
      <p:sp>
        <p:nvSpPr>
          <p:cNvPr id="15" name="Text 12"/>
          <p:cNvSpPr/>
          <p:nvPr/>
        </p:nvSpPr>
        <p:spPr>
          <a:xfrm>
            <a:off x="9499362" y="3139877"/>
            <a:ext cx="836294"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03</a:t>
            </a:r>
            <a:endParaRPr lang="en-US" sz="1500" dirty="0"/>
          </a:p>
        </p:txBody>
      </p:sp>
      <p:sp>
        <p:nvSpPr>
          <p:cNvPr id="16" name="Shape 13"/>
          <p:cNvSpPr/>
          <p:nvPr/>
        </p:nvSpPr>
        <p:spPr>
          <a:xfrm>
            <a:off x="9499362" y="3406577"/>
            <a:ext cx="2235144" cy="19050"/>
          </a:xfrm>
          <a:prstGeom prst="rect">
            <a:avLst/>
          </a:prstGeom>
          <a:solidFill>
            <a:srgbClr val="1E5E52"/>
          </a:solidFill>
          <a:ln/>
        </p:spPr>
      </p:sp>
      <p:sp>
        <p:nvSpPr>
          <p:cNvPr id="17" name="Text 14"/>
          <p:cNvSpPr/>
          <p:nvPr/>
        </p:nvSpPr>
        <p:spPr>
          <a:xfrm>
            <a:off x="9499362" y="3539927"/>
            <a:ext cx="2235144"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Người duyệt</a:t>
            </a:r>
            <a:endParaRPr lang="en-US" sz="1800" dirty="0"/>
          </a:p>
        </p:txBody>
      </p:sp>
      <p:sp>
        <p:nvSpPr>
          <p:cNvPr id="18" name="Text 15"/>
          <p:cNvSpPr/>
          <p:nvPr/>
        </p:nvSpPr>
        <p:spPr>
          <a:xfrm>
            <a:off x="9499362" y="3918744"/>
            <a:ext cx="2235144"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Chốt phạm vi và test chống tái phát trước khi sửa.</a:t>
            </a:r>
            <a:endParaRPr lang="en-US" sz="1500" dirty="0"/>
          </a:p>
        </p:txBody>
      </p:sp>
      <p:sp>
        <p:nvSpPr>
          <p:cNvPr id="19" name="Text 16"/>
          <p:cNvSpPr/>
          <p:nvPr/>
        </p:nvSpPr>
        <p:spPr>
          <a:xfrm>
            <a:off x="4114697" y="6115050"/>
            <a:ext cx="8076998"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Plan giảm rủi ro; không bảo đảm sửa đúng ngay lần đầu.</a:t>
            </a:r>
            <a:endParaRPr lang="en-US" sz="1500" dirty="0"/>
          </a:p>
        </p:txBody>
      </p:sp>
      <p:sp>
        <p:nvSpPr>
          <p:cNvPr id="20" name="Text 17"/>
          <p:cNvSpPr/>
          <p:nvPr/>
        </p:nvSpPr>
        <p:spPr>
          <a:xfrm>
            <a:off x="11661781" y="6529388"/>
            <a:ext cx="529914"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6857828"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QUẢN LÝ NGỮ CẢNH</a:t>
            </a:r>
            <a:endParaRPr lang="en-US" sz="1100" dirty="0"/>
          </a:p>
        </p:txBody>
      </p:sp>
      <p:sp>
        <p:nvSpPr>
          <p:cNvPr id="3" name="Text 1"/>
          <p:cNvSpPr/>
          <p:nvPr/>
        </p:nvSpPr>
        <p:spPr>
          <a:xfrm>
            <a:off x="457189" y="742950"/>
            <a:ext cx="6400640" cy="1076920"/>
          </a:xfrm>
          <a:prstGeom prst="rect">
            <a:avLst/>
          </a:prstGeom>
          <a:noFill/>
          <a:ln/>
        </p:spPr>
        <p:txBody>
          <a:bodyPr wrap="square" lIns="0" tIns="0" rIns="0" bIns="0" rtlCol="0" anchor="t">
            <a:normAutofit/>
          </a:bodyPr>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Mỗi task bắt đầu bằng một phiên mới</a:t>
            </a:r>
            <a:endParaRPr lang="en-US" sz="4000" dirty="0"/>
          </a:p>
        </p:txBody>
      </p:sp>
      <p:sp>
        <p:nvSpPr>
          <p:cNvPr id="4" name="Shape 2"/>
          <p:cNvSpPr/>
          <p:nvPr/>
        </p:nvSpPr>
        <p:spPr>
          <a:xfrm>
            <a:off x="457189" y="2244923"/>
            <a:ext cx="800080" cy="31651"/>
          </a:xfrm>
          <a:prstGeom prst="roundRect">
            <a:avLst>
              <a:gd name="adj" fmla="val 49998"/>
            </a:avLst>
          </a:prstGeom>
          <a:solidFill>
            <a:srgbClr val="E5B842"/>
          </a:solidFill>
          <a:ln/>
        </p:spPr>
      </p:sp>
      <p:sp>
        <p:nvSpPr>
          <p:cNvPr id="5" name="Text 3"/>
          <p:cNvSpPr/>
          <p:nvPr/>
        </p:nvSpPr>
        <p:spPr>
          <a:xfrm>
            <a:off x="457189" y="2682677"/>
            <a:ext cx="6857828"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Nạp lại spec và kết quả cần thiết, không dựa vào trí nhớ hội thoại.</a:t>
            </a:r>
            <a:endParaRPr lang="en-US" sz="1500" dirty="0"/>
          </a:p>
        </p:txBody>
      </p:sp>
      <p:sp>
        <p:nvSpPr>
          <p:cNvPr id="6" name="Text 4"/>
          <p:cNvSpPr/>
          <p:nvPr/>
        </p:nvSpPr>
        <p:spPr>
          <a:xfrm>
            <a:off x="457189" y="3292277"/>
            <a:ext cx="6400640"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Mang vào phiên</a:t>
            </a:r>
            <a:endParaRPr lang="en-US" sz="1800" dirty="0"/>
          </a:p>
        </p:txBody>
      </p:sp>
      <p:sp>
        <p:nvSpPr>
          <p:cNvPr id="7" name="Text 5"/>
          <p:cNvSpPr/>
          <p:nvPr/>
        </p:nvSpPr>
        <p:spPr>
          <a:xfrm>
            <a:off x="457189" y="3671094"/>
            <a:ext cx="6400640"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Spec, file liên quan, kết quả test gần nhất và điều kiện nghiệm thu.</a:t>
            </a:r>
            <a:endParaRPr lang="en-US" sz="1500" dirty="0"/>
          </a:p>
        </p:txBody>
      </p:sp>
      <p:sp>
        <p:nvSpPr>
          <p:cNvPr id="8" name="Text 6"/>
          <p:cNvSpPr/>
          <p:nvPr/>
        </p:nvSpPr>
        <p:spPr>
          <a:xfrm>
            <a:off x="457189" y="4261644"/>
            <a:ext cx="6400640"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Giữ task nhỏ</a:t>
            </a:r>
            <a:endParaRPr lang="en-US" sz="1800" dirty="0"/>
          </a:p>
        </p:txBody>
      </p:sp>
      <p:sp>
        <p:nvSpPr>
          <p:cNvPr id="9" name="Text 7"/>
          <p:cNvSpPr/>
          <p:nvPr/>
        </p:nvSpPr>
        <p:spPr>
          <a:xfrm>
            <a:off x="457189" y="4640461"/>
            <a:ext cx="6400640"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Một thay đổi, review được và hoàn tác được.</a:t>
            </a:r>
            <a:endParaRPr lang="en-US" sz="1500" dirty="0"/>
          </a:p>
        </p:txBody>
      </p:sp>
      <p:sp>
        <p:nvSpPr>
          <p:cNvPr id="10" name="Text 8"/>
          <p:cNvSpPr/>
          <p:nvPr/>
        </p:nvSpPr>
        <p:spPr>
          <a:xfrm>
            <a:off x="457189" y="5231011"/>
            <a:ext cx="6400640"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Bài học Phase 2</a:t>
            </a:r>
            <a:endParaRPr lang="en-US" sz="1800" dirty="0"/>
          </a:p>
        </p:txBody>
      </p:sp>
      <p:sp>
        <p:nvSpPr>
          <p:cNvPr id="11" name="Text 9"/>
          <p:cNvSpPr/>
          <p:nvPr/>
        </p:nvSpPr>
        <p:spPr>
          <a:xfrm>
            <a:off x="457189" y="5609828"/>
            <a:ext cx="6400640"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Làm Cung, Quái và Spawner cùng lúc: slime xuyên núi, cung bắn ngược.</a:t>
            </a:r>
            <a:endParaRPr lang="en-US" sz="1500" dirty="0"/>
          </a:p>
        </p:txBody>
      </p:sp>
      <p:sp>
        <p:nvSpPr>
          <p:cNvPr id="12" name="Text 10"/>
          <p:cNvSpPr/>
          <p:nvPr/>
        </p:nvSpPr>
        <p:spPr>
          <a:xfrm>
            <a:off x="457189" y="6219428"/>
            <a:ext cx="6857828" cy="209550"/>
          </a:xfrm>
          <a:prstGeom prst="rect">
            <a:avLst/>
          </a:prstGeom>
          <a:noFill/>
          <a:ln/>
        </p:spPr>
        <p:txBody>
          <a:bodyPr wrap="none" lIns="0" tIns="0" rIns="0" bIns="0" rtlCol="0" anchor="t"/>
          <a:lstStyle/>
          <a:p>
            <a:pPr algn="l" indent="0" marL="0">
              <a:lnSpc>
                <a:spcPct val="125000"/>
              </a:lnSpc>
              <a:buNone/>
            </a:pPr>
            <a:r>
              <a:rPr lang="en-US" sz="1100" dirty="0">
                <a:solidFill>
                  <a:srgbClr val="2D241E"/>
                </a:solidFill>
                <a:latin typeface="Lora" pitchFamily="34" charset="0"/>
                <a:ea typeface="Lora" pitchFamily="34" charset="-122"/>
                <a:cs typeface="Lora" pitchFamily="34" charset="-120"/>
              </a:rPr>
              <a:t>Kinh nghiệm quản lý ngữ cảnh; chưa đo mức giảm hallucination.</a:t>
            </a:r>
            <a:endParaRPr lang="en-US" sz="1100" dirty="0"/>
          </a:p>
        </p:txBody>
      </p:sp>
      <p:pic>
        <p:nvPicPr>
          <p:cNvPr id="13" name="Image 0" descr="preencoded.png">    </p:cNvPr>
          <p:cNvPicPr>
            <a:picLocks noChangeAspect="1"/>
          </p:cNvPicPr>
          <p:nvPr/>
        </p:nvPicPr>
        <p:blipFill>
          <a:blip r:embed="rId1"/>
          <a:stretch>
            <a:fillRect/>
          </a:stretch>
        </p:blipFill>
        <p:spPr>
          <a:xfrm>
            <a:off x="7315017" y="0"/>
            <a:ext cx="4876678" cy="6886178"/>
          </a:xfrm>
          <a:prstGeom prst="rect">
            <a:avLst/>
          </a:prstGeom>
        </p:spPr>
      </p:pic>
      <p:sp>
        <p:nvSpPr>
          <p:cNvPr id="14" name="Shape 11"/>
          <p:cNvSpPr/>
          <p:nvPr/>
        </p:nvSpPr>
        <p:spPr>
          <a:xfrm>
            <a:off x="457189" y="4102894"/>
            <a:ext cx="6400640" cy="12700"/>
          </a:xfrm>
          <a:prstGeom prst="rect">
            <a:avLst/>
          </a:prstGeom>
          <a:solidFill>
            <a:srgbClr val="C9B995"/>
          </a:solidFill>
          <a:ln/>
        </p:spPr>
      </p:sp>
      <p:sp>
        <p:nvSpPr>
          <p:cNvPr id="15" name="Shape 12"/>
          <p:cNvSpPr/>
          <p:nvPr/>
        </p:nvSpPr>
        <p:spPr>
          <a:xfrm>
            <a:off x="457189" y="5072261"/>
            <a:ext cx="6400640" cy="12700"/>
          </a:xfrm>
          <a:prstGeom prst="rect">
            <a:avLst/>
          </a:prstGeom>
          <a:solidFill>
            <a:srgbClr val="C9B995"/>
          </a:solidFill>
          <a:ln/>
        </p:spPr>
      </p:sp>
      <p:sp>
        <p:nvSpPr>
          <p:cNvPr id="16" name="Text 13"/>
          <p:cNvSpPr/>
          <p:nvPr/>
        </p:nvSpPr>
        <p:spPr>
          <a:xfrm>
            <a:off x="457189" y="6529388"/>
            <a:ext cx="686676"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CỔNG KIỂM CHỨNG</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The Gauntlet: Chỉ merge khi vượt qua kiểm tra</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sp>
        <p:nvSpPr>
          <p:cNvPr id="5" name="Shape 3"/>
          <p:cNvSpPr/>
          <p:nvPr/>
        </p:nvSpPr>
        <p:spPr>
          <a:xfrm>
            <a:off x="457189" y="2144216"/>
            <a:ext cx="2255384" cy="2529284"/>
          </a:xfrm>
          <a:prstGeom prst="rect">
            <a:avLst/>
          </a:prstGeom>
          <a:solidFill>
            <a:srgbClr val="E9DFC6"/>
          </a:solidFill>
          <a:ln/>
        </p:spPr>
      </p:sp>
      <p:sp>
        <p:nvSpPr>
          <p:cNvPr id="6" name="Text 4"/>
          <p:cNvSpPr/>
          <p:nvPr/>
        </p:nvSpPr>
        <p:spPr>
          <a:xfrm>
            <a:off x="685783" y="2933700"/>
            <a:ext cx="1798196" cy="242292"/>
          </a:xfrm>
          <a:prstGeom prst="rect">
            <a:avLst/>
          </a:prstGeom>
          <a:noFill/>
          <a:ln/>
        </p:spPr>
        <p:txBody>
          <a:bodyPr wrap="none" lIns="0" tIns="0" rIns="0" bIns="0" rtlCol="0" anchor="t"/>
          <a:lstStyle/>
          <a:p>
            <a:pPr algn="l" indent="0" marL="0">
              <a:lnSpc>
                <a:spcPct val="88000"/>
              </a:lnSpc>
              <a:buNone/>
            </a:pPr>
            <a:r>
              <a:rPr lang="en-US" sz="1800" dirty="0">
                <a:solidFill>
                  <a:srgbClr val="2D241E"/>
                </a:solidFill>
                <a:latin typeface="Lora SemiBold" pitchFamily="34" charset="0"/>
                <a:ea typeface="Lora SemiBold" pitchFamily="34" charset="-122"/>
                <a:cs typeface="Lora SemiBold" pitchFamily="34" charset="-120"/>
              </a:rPr>
              <a:t>Worker</a:t>
            </a:r>
            <a:endParaRPr lang="en-US" sz="1800" dirty="0"/>
          </a:p>
        </p:txBody>
      </p:sp>
      <p:sp>
        <p:nvSpPr>
          <p:cNvPr id="7" name="Text 5"/>
          <p:cNvSpPr/>
          <p:nvPr/>
        </p:nvSpPr>
        <p:spPr>
          <a:xfrm>
            <a:off x="685783" y="3312517"/>
            <a:ext cx="1798196"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Thi công theo spec</a:t>
            </a:r>
            <a:endParaRPr lang="en-US" sz="1500" dirty="0"/>
          </a:p>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Gửi diff và test</a:t>
            </a:r>
            <a:endParaRPr lang="en-US" sz="1500" dirty="0"/>
          </a:p>
        </p:txBody>
      </p:sp>
      <p:sp>
        <p:nvSpPr>
          <p:cNvPr id="8" name="Text 6"/>
          <p:cNvSpPr/>
          <p:nvPr/>
        </p:nvSpPr>
        <p:spPr>
          <a:xfrm>
            <a:off x="2712573" y="3265984"/>
            <a:ext cx="563945" cy="285750"/>
          </a:xfrm>
          <a:prstGeom prst="rect">
            <a:avLst/>
          </a:prstGeom>
          <a:noFill/>
          <a:ln/>
        </p:spPr>
        <p:txBody>
          <a:bodyPr wrap="none" lIns="0" tIns="0" rIns="0" bIns="0" rtlCol="0" anchor="t"/>
          <a:lstStyle/>
          <a:p>
            <a:pPr algn="l" indent="0" marL="0">
              <a:lnSpc>
                <a:spcPct val="125000"/>
              </a:lnSpc>
              <a:buNone/>
            </a:pPr>
            <a:r>
              <a:rPr lang="en-US" sz="1500" dirty="0">
                <a:solidFill>
                  <a:srgbClr val="1E5E52"/>
                </a:solidFill>
                <a:latin typeface="Lora" pitchFamily="34" charset="0"/>
                <a:ea typeface="Lora" pitchFamily="34" charset="-122"/>
                <a:cs typeface="Lora" pitchFamily="34" charset="-120"/>
              </a:rPr>
              <a:t>→</a:t>
            </a:r>
            <a:endParaRPr lang="en-US" sz="1500" dirty="0"/>
          </a:p>
        </p:txBody>
      </p:sp>
      <p:sp>
        <p:nvSpPr>
          <p:cNvPr id="9" name="Shape 7"/>
          <p:cNvSpPr/>
          <p:nvPr/>
        </p:nvSpPr>
        <p:spPr>
          <a:xfrm>
            <a:off x="3276518" y="2144216"/>
            <a:ext cx="2819329" cy="1121767"/>
          </a:xfrm>
          <a:prstGeom prst="rect">
            <a:avLst/>
          </a:prstGeom>
          <a:solidFill>
            <a:srgbClr val="E9DFC6"/>
          </a:solidFill>
          <a:ln/>
        </p:spPr>
      </p:sp>
      <p:sp>
        <p:nvSpPr>
          <p:cNvPr id="10" name="Text 8"/>
          <p:cNvSpPr/>
          <p:nvPr/>
        </p:nvSpPr>
        <p:spPr>
          <a:xfrm>
            <a:off x="3505112" y="2372816"/>
            <a:ext cx="2362141" cy="242292"/>
          </a:xfrm>
          <a:prstGeom prst="rect">
            <a:avLst/>
          </a:prstGeom>
          <a:noFill/>
          <a:ln/>
        </p:spPr>
        <p:txBody>
          <a:bodyPr wrap="none" lIns="0" tIns="0" rIns="0" bIns="0" rtlCol="0" anchor="t"/>
          <a:lstStyle/>
          <a:p>
            <a:pPr algn="l" indent="0" marL="0">
              <a:lnSpc>
                <a:spcPct val="88000"/>
              </a:lnSpc>
              <a:buNone/>
            </a:pPr>
            <a:r>
              <a:rPr lang="en-US" sz="1800" dirty="0">
                <a:solidFill>
                  <a:srgbClr val="2D241E"/>
                </a:solidFill>
                <a:latin typeface="Lora SemiBold" pitchFamily="34" charset="0"/>
                <a:ea typeface="Lora SemiBold" pitchFamily="34" charset="-122"/>
                <a:cs typeface="Lora SemiBold" pitchFamily="34" charset="-120"/>
              </a:rPr>
              <a:t>Measure</a:t>
            </a:r>
            <a:endParaRPr lang="en-US" sz="1800" dirty="0"/>
          </a:p>
        </p:txBody>
      </p:sp>
      <p:sp>
        <p:nvSpPr>
          <p:cNvPr id="11" name="Text 9"/>
          <p:cNvSpPr/>
          <p:nvPr/>
        </p:nvSpPr>
        <p:spPr>
          <a:xfrm>
            <a:off x="3505112" y="2751634"/>
            <a:ext cx="2590735"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Cooldown · DPS · HP</a:t>
            </a:r>
            <a:endParaRPr lang="en-US" sz="1500" dirty="0"/>
          </a:p>
        </p:txBody>
      </p:sp>
      <p:sp>
        <p:nvSpPr>
          <p:cNvPr id="12" name="Shape 10"/>
          <p:cNvSpPr/>
          <p:nvPr/>
        </p:nvSpPr>
        <p:spPr>
          <a:xfrm>
            <a:off x="3276518" y="3265984"/>
            <a:ext cx="2819329" cy="1407517"/>
          </a:xfrm>
          <a:prstGeom prst="rect">
            <a:avLst/>
          </a:prstGeom>
          <a:solidFill>
            <a:srgbClr val="E9DFC6"/>
          </a:solidFill>
          <a:ln/>
        </p:spPr>
      </p:sp>
      <p:sp>
        <p:nvSpPr>
          <p:cNvPr id="13" name="Text 11"/>
          <p:cNvSpPr/>
          <p:nvPr/>
        </p:nvSpPr>
        <p:spPr>
          <a:xfrm>
            <a:off x="3505112" y="3494584"/>
            <a:ext cx="2362141" cy="242292"/>
          </a:xfrm>
          <a:prstGeom prst="rect">
            <a:avLst/>
          </a:prstGeom>
          <a:noFill/>
          <a:ln/>
        </p:spPr>
        <p:txBody>
          <a:bodyPr wrap="none" lIns="0" tIns="0" rIns="0" bIns="0" rtlCol="0" anchor="t"/>
          <a:lstStyle/>
          <a:p>
            <a:pPr algn="l" indent="0" marL="0">
              <a:lnSpc>
                <a:spcPct val="88000"/>
              </a:lnSpc>
              <a:buNone/>
            </a:pPr>
            <a:r>
              <a:rPr lang="en-US" sz="1800" dirty="0">
                <a:solidFill>
                  <a:srgbClr val="2D241E"/>
                </a:solidFill>
                <a:latin typeface="Lora SemiBold" pitchFamily="34" charset="0"/>
                <a:ea typeface="Lora SemiBold" pitchFamily="34" charset="-122"/>
                <a:cs typeface="Lora SemiBold" pitchFamily="34" charset="-120"/>
              </a:rPr>
              <a:t>Critic</a:t>
            </a:r>
            <a:endParaRPr lang="en-US" sz="1800" dirty="0"/>
          </a:p>
        </p:txBody>
      </p:sp>
      <p:sp>
        <p:nvSpPr>
          <p:cNvPr id="14" name="Text 12"/>
          <p:cNvSpPr/>
          <p:nvPr/>
        </p:nvSpPr>
        <p:spPr>
          <a:xfrm>
            <a:off x="3505112" y="3873401"/>
            <a:ext cx="2362141"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Convention</a:t>
            </a:r>
            <a:endParaRPr lang="en-US" sz="1500" dirty="0"/>
          </a:p>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Breaking changes</a:t>
            </a:r>
            <a:endParaRPr lang="en-US" sz="1500" dirty="0"/>
          </a:p>
        </p:txBody>
      </p:sp>
      <p:sp>
        <p:nvSpPr>
          <p:cNvPr id="15" name="Text 13"/>
          <p:cNvSpPr/>
          <p:nvPr/>
        </p:nvSpPr>
        <p:spPr>
          <a:xfrm>
            <a:off x="6095848" y="3265984"/>
            <a:ext cx="563846" cy="285750"/>
          </a:xfrm>
          <a:prstGeom prst="rect">
            <a:avLst/>
          </a:prstGeom>
          <a:noFill/>
          <a:ln/>
        </p:spPr>
        <p:txBody>
          <a:bodyPr wrap="none" lIns="0" tIns="0" rIns="0" bIns="0" rtlCol="0" anchor="t"/>
          <a:lstStyle/>
          <a:p>
            <a:pPr algn="l" indent="0" marL="0">
              <a:lnSpc>
                <a:spcPct val="125000"/>
              </a:lnSpc>
              <a:buNone/>
            </a:pPr>
            <a:r>
              <a:rPr lang="en-US" sz="1500" dirty="0">
                <a:solidFill>
                  <a:srgbClr val="1E5E52"/>
                </a:solidFill>
                <a:latin typeface="Lora" pitchFamily="34" charset="0"/>
                <a:ea typeface="Lora" pitchFamily="34" charset="-122"/>
                <a:cs typeface="Lora" pitchFamily="34" charset="-120"/>
              </a:rPr>
              <a:t>→</a:t>
            </a:r>
            <a:endParaRPr lang="en-US" sz="1500" dirty="0"/>
          </a:p>
        </p:txBody>
      </p:sp>
      <p:sp>
        <p:nvSpPr>
          <p:cNvPr id="16" name="Shape 14"/>
          <p:cNvSpPr/>
          <p:nvPr/>
        </p:nvSpPr>
        <p:spPr>
          <a:xfrm>
            <a:off x="6659694" y="2144216"/>
            <a:ext cx="2819329" cy="2529284"/>
          </a:xfrm>
          <a:prstGeom prst="roundRect">
            <a:avLst>
              <a:gd name="adj" fmla="val 452"/>
            </a:avLst>
          </a:prstGeom>
          <a:noFill/>
          <a:ln w="25399">
            <a:solidFill>
              <a:srgbClr val="D2C7AD"/>
            </a:solidFill>
            <a:prstDash val="solid"/>
          </a:ln>
        </p:spPr>
      </p:sp>
      <p:sp>
        <p:nvSpPr>
          <p:cNvPr id="17" name="Text 15"/>
          <p:cNvSpPr/>
          <p:nvPr/>
        </p:nvSpPr>
        <p:spPr>
          <a:xfrm>
            <a:off x="6913687" y="2933700"/>
            <a:ext cx="2311342"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Cổng nghiệm thu</a:t>
            </a:r>
            <a:endParaRPr lang="en-US" sz="1800" dirty="0"/>
          </a:p>
        </p:txBody>
      </p:sp>
      <p:sp>
        <p:nvSpPr>
          <p:cNvPr id="18" name="Text 16"/>
          <p:cNvSpPr/>
          <p:nvPr/>
        </p:nvSpPr>
        <p:spPr>
          <a:xfrm>
            <a:off x="6913687" y="3312517"/>
            <a:ext cx="2311342"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Kiểm thử thực tế</a:t>
            </a:r>
            <a:endParaRPr lang="en-US" sz="1500" dirty="0"/>
          </a:p>
          <a:p>
            <a:pPr algn="l" indent="0" marL="0">
              <a:lnSpc>
                <a:spcPct val="125000"/>
              </a:lnSpc>
              <a:buNone/>
            </a:pPr>
            <a:r>
              <a:rPr lang="en-US" sz="1500" b="1" dirty="0">
                <a:solidFill>
                  <a:srgbClr val="2D241E"/>
                </a:solidFill>
                <a:latin typeface="Lora Bold" pitchFamily="34" charset="0"/>
                <a:ea typeface="Lora Bold" pitchFamily="34" charset="-122"/>
                <a:cs typeface="Lora Bold" pitchFamily="34" charset="-120"/>
              </a:rPr>
              <a:t>Con người duyệt cuối</a:t>
            </a:r>
            <a:endParaRPr lang="en-US" sz="1500" dirty="0"/>
          </a:p>
        </p:txBody>
      </p:sp>
      <p:sp>
        <p:nvSpPr>
          <p:cNvPr id="19" name="Text 17"/>
          <p:cNvSpPr/>
          <p:nvPr/>
        </p:nvSpPr>
        <p:spPr>
          <a:xfrm>
            <a:off x="9479023" y="3265984"/>
            <a:ext cx="563846" cy="285750"/>
          </a:xfrm>
          <a:prstGeom prst="rect">
            <a:avLst/>
          </a:prstGeom>
          <a:noFill/>
          <a:ln/>
        </p:spPr>
        <p:txBody>
          <a:bodyPr wrap="none" lIns="0" tIns="0" rIns="0" bIns="0" rtlCol="0" anchor="t"/>
          <a:lstStyle/>
          <a:p>
            <a:pPr algn="l" indent="0" marL="0">
              <a:lnSpc>
                <a:spcPct val="125000"/>
              </a:lnSpc>
              <a:buNone/>
            </a:pPr>
            <a:r>
              <a:rPr lang="en-US" sz="1500" dirty="0">
                <a:solidFill>
                  <a:srgbClr val="1E5E52"/>
                </a:solidFill>
                <a:latin typeface="Lora" pitchFamily="34" charset="0"/>
                <a:ea typeface="Lora" pitchFamily="34" charset="-122"/>
                <a:cs typeface="Lora" pitchFamily="34" charset="-120"/>
              </a:rPr>
              <a:t>→</a:t>
            </a:r>
            <a:endParaRPr lang="en-US" sz="1500" dirty="0"/>
          </a:p>
        </p:txBody>
      </p:sp>
      <p:sp>
        <p:nvSpPr>
          <p:cNvPr id="20" name="Shape 18"/>
          <p:cNvSpPr/>
          <p:nvPr/>
        </p:nvSpPr>
        <p:spPr>
          <a:xfrm>
            <a:off x="10042869" y="2144216"/>
            <a:ext cx="1691637" cy="2529284"/>
          </a:xfrm>
          <a:prstGeom prst="rect">
            <a:avLst/>
          </a:prstGeom>
          <a:solidFill>
            <a:srgbClr val="E9DFC6"/>
          </a:solidFill>
          <a:ln/>
        </p:spPr>
      </p:sp>
      <p:sp>
        <p:nvSpPr>
          <p:cNvPr id="21" name="Text 19"/>
          <p:cNvSpPr/>
          <p:nvPr/>
        </p:nvSpPr>
        <p:spPr>
          <a:xfrm>
            <a:off x="10271463" y="2933700"/>
            <a:ext cx="1234449" cy="242292"/>
          </a:xfrm>
          <a:prstGeom prst="rect">
            <a:avLst/>
          </a:prstGeom>
          <a:noFill/>
          <a:ln/>
        </p:spPr>
        <p:txBody>
          <a:bodyPr wrap="none" lIns="0" tIns="0" rIns="0" bIns="0" rtlCol="0" anchor="t"/>
          <a:lstStyle/>
          <a:p>
            <a:pPr algn="l" indent="0" marL="0">
              <a:lnSpc>
                <a:spcPct val="88000"/>
              </a:lnSpc>
              <a:buNone/>
            </a:pPr>
            <a:r>
              <a:rPr lang="en-US" sz="1800" dirty="0">
                <a:solidFill>
                  <a:srgbClr val="2D241E"/>
                </a:solidFill>
                <a:latin typeface="Lora SemiBold" pitchFamily="34" charset="0"/>
                <a:ea typeface="Lora SemiBold" pitchFamily="34" charset="-122"/>
                <a:cs typeface="Lora SemiBold" pitchFamily="34" charset="-120"/>
              </a:rPr>
              <a:t>Merge</a:t>
            </a:r>
            <a:endParaRPr lang="en-US" sz="1800" dirty="0"/>
          </a:p>
        </p:txBody>
      </p:sp>
      <p:sp>
        <p:nvSpPr>
          <p:cNvPr id="22" name="Text 20"/>
          <p:cNvSpPr/>
          <p:nvPr/>
        </p:nvSpPr>
        <p:spPr>
          <a:xfrm>
            <a:off x="10271463" y="3312517"/>
            <a:ext cx="1234449"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Khi đạt điều kiện</a:t>
            </a:r>
            <a:endParaRPr lang="en-US" sz="1500" dirty="0"/>
          </a:p>
        </p:txBody>
      </p:sp>
      <p:sp>
        <p:nvSpPr>
          <p:cNvPr id="23" name="Text 21"/>
          <p:cNvSpPr/>
          <p:nvPr/>
        </p:nvSpPr>
        <p:spPr>
          <a:xfrm>
            <a:off x="457189" y="4844951"/>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Không đạt ở nhánh kiểm tra hoặc cổng nghiệm thu → quay lại Worker sửa, rồi chạy lại.</a:t>
            </a:r>
            <a:endParaRPr lang="en-US" sz="1500" dirty="0"/>
          </a:p>
        </p:txBody>
      </p:sp>
      <p:sp>
        <p:nvSpPr>
          <p:cNvPr id="24" name="Text 22"/>
          <p:cNvSpPr/>
          <p:nvPr/>
        </p:nvSpPr>
        <p:spPr>
          <a:xfrm>
            <a:off x="457189" y="5695851"/>
            <a:ext cx="11277318"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Hai agent đồng ý vẫn chưa đủ để game được nghiệm thu.</a:t>
            </a:r>
            <a:endParaRPr lang="en-US" sz="2100" dirty="0"/>
          </a:p>
        </p:txBody>
      </p:sp>
      <p:sp>
        <p:nvSpPr>
          <p:cNvPr id="25" name="Text 23"/>
          <p:cNvSpPr/>
          <p:nvPr/>
        </p:nvSpPr>
        <p:spPr>
          <a:xfrm>
            <a:off x="457189" y="6115050"/>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Theo bản thảo dự án; giữ playtest và quyết định merge ở con người.</a:t>
            </a:r>
            <a:endParaRPr lang="en-US" sz="1500" dirty="0"/>
          </a:p>
        </p:txBody>
      </p:sp>
      <p:sp>
        <p:nvSpPr>
          <p:cNvPr id="26" name="Text 24"/>
          <p:cNvSpPr/>
          <p:nvPr/>
        </p:nvSpPr>
        <p:spPr>
          <a:xfrm>
            <a:off x="11672992" y="6529388"/>
            <a:ext cx="518703"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ED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678" cy="6858000"/>
          </a:xfrm>
          <a:prstGeom prst="rect">
            <a:avLst/>
          </a:prstGeom>
        </p:spPr>
      </p:pic>
      <p:sp>
        <p:nvSpPr>
          <p:cNvPr id="3" name="Text 0"/>
          <p:cNvSpPr/>
          <p:nvPr/>
        </p:nvSpPr>
        <p:spPr>
          <a:xfrm>
            <a:off x="5333867" y="457200"/>
            <a:ext cx="6857828"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TEST CÔ LẬP</a:t>
            </a:r>
            <a:endParaRPr lang="en-US" sz="1100" dirty="0"/>
          </a:p>
        </p:txBody>
      </p:sp>
      <p:sp>
        <p:nvSpPr>
          <p:cNvPr id="4" name="Text 1"/>
          <p:cNvSpPr/>
          <p:nvPr/>
        </p:nvSpPr>
        <p:spPr>
          <a:xfrm>
            <a:off x="5333867" y="742950"/>
            <a:ext cx="6400640" cy="1076920"/>
          </a:xfrm>
          <a:prstGeom prst="rect">
            <a:avLst/>
          </a:prstGeom>
          <a:noFill/>
          <a:ln/>
        </p:spPr>
        <p:txBody>
          <a:bodyPr wrap="square" lIns="0" tIns="0" rIns="0" bIns="0" rtlCol="0" anchor="t">
            <a:normAutofit/>
          </a:bodyPr>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Đo thông số và nhìn kết quả trong scene riêng</a:t>
            </a:r>
            <a:endParaRPr lang="en-US" sz="4000" dirty="0"/>
          </a:p>
        </p:txBody>
      </p:sp>
      <p:sp>
        <p:nvSpPr>
          <p:cNvPr id="5" name="Shape 2"/>
          <p:cNvSpPr/>
          <p:nvPr/>
        </p:nvSpPr>
        <p:spPr>
          <a:xfrm>
            <a:off x="5333867" y="2244923"/>
            <a:ext cx="800080" cy="31651"/>
          </a:xfrm>
          <a:prstGeom prst="roundRect">
            <a:avLst>
              <a:gd name="adj" fmla="val 49998"/>
            </a:avLst>
          </a:prstGeom>
          <a:solidFill>
            <a:srgbClr val="E5B842"/>
          </a:solidFill>
          <a:ln/>
        </p:spPr>
      </p:sp>
      <p:sp>
        <p:nvSpPr>
          <p:cNvPr id="6" name="Text 3"/>
          <p:cNvSpPr/>
          <p:nvPr/>
        </p:nvSpPr>
        <p:spPr>
          <a:xfrm>
            <a:off x="5333867" y="2682677"/>
            <a:ext cx="6400640" cy="5778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highlight>
                  <a:srgbClr val="E9DFC6"/>
                </a:highlight>
                <a:latin typeface="Consolas" pitchFamily="34" charset="0"/>
                <a:ea typeface="Consolas" pitchFamily="34" charset="-122"/>
                <a:cs typeface="Consolas" pitchFamily="34" charset="-120"/>
              </a:rPr>
              <a:t>test_exec_damage.tscn</a:t>
            </a:r>
            <a:pPr algn="l" indent="0" marL="0">
              <a:lnSpc>
                <a:spcPct val="125000"/>
              </a:lnSpc>
              <a:buNone/>
            </a:pPr>
            <a:r>
              <a:rPr lang="en-US" sz="1500" dirty="0">
                <a:solidFill>
                  <a:srgbClr val="2D241E"/>
                </a:solidFill>
                <a:latin typeface="Lora" pitchFamily="34" charset="0"/>
                <a:ea typeface="Lora" pitchFamily="34" charset="-122"/>
                <a:cs typeface="Lora" pitchFamily="34" charset="-120"/>
              </a:rPr>
              <a:t> dùng dummy và cửa sổ ba giây để kiểm sát thương Boss Executioner.</a:t>
            </a:r>
            <a:endParaRPr lang="en-US" sz="1500" dirty="0"/>
          </a:p>
        </p:txBody>
      </p:sp>
      <p:sp>
        <p:nvSpPr>
          <p:cNvPr id="7" name="Text 4"/>
          <p:cNvSpPr/>
          <p:nvPr/>
        </p:nvSpPr>
        <p:spPr>
          <a:xfrm>
            <a:off x="5333867" y="3431977"/>
            <a:ext cx="2971626"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Test logic</a:t>
            </a:r>
            <a:endParaRPr lang="en-US" sz="2100" dirty="0"/>
          </a:p>
        </p:txBody>
      </p:sp>
      <p:sp>
        <p:nvSpPr>
          <p:cNvPr id="8" name="Text 5"/>
          <p:cNvSpPr/>
          <p:nvPr/>
        </p:nvSpPr>
        <p:spPr>
          <a:xfrm>
            <a:off x="5333867" y="3851176"/>
            <a:ext cx="2971626"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Đo sát thương, cooldown và HP theo điều kiện đã chốt.</a:t>
            </a:r>
            <a:endParaRPr lang="en-US" sz="1500" dirty="0"/>
          </a:p>
        </p:txBody>
      </p:sp>
      <p:sp>
        <p:nvSpPr>
          <p:cNvPr id="9" name="Text 6"/>
          <p:cNvSpPr/>
          <p:nvPr/>
        </p:nvSpPr>
        <p:spPr>
          <a:xfrm>
            <a:off x="8762682" y="3431977"/>
            <a:ext cx="2971726"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Screenshot</a:t>
            </a:r>
            <a:endParaRPr lang="en-US" sz="2100" dirty="0"/>
          </a:p>
        </p:txBody>
      </p:sp>
      <p:sp>
        <p:nvSpPr>
          <p:cNvPr id="10" name="Text 7"/>
          <p:cNvSpPr/>
          <p:nvPr/>
        </p:nvSpPr>
        <p:spPr>
          <a:xfrm>
            <a:off x="8762682" y="3851176"/>
            <a:ext cx="2971726"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Soi icon méo và text bị thanh máu che.</a:t>
            </a:r>
            <a:endParaRPr lang="en-US" sz="1500" dirty="0"/>
          </a:p>
        </p:txBody>
      </p:sp>
      <p:sp>
        <p:nvSpPr>
          <p:cNvPr id="11" name="Text 8"/>
          <p:cNvSpPr/>
          <p:nvPr/>
        </p:nvSpPr>
        <p:spPr>
          <a:xfrm>
            <a:off x="5333867" y="5981700"/>
            <a:ext cx="6400640" cy="419100"/>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D241E"/>
                </a:solidFill>
                <a:latin typeface="Lora" pitchFamily="34" charset="0"/>
                <a:ea typeface="Lora" pitchFamily="34" charset="-122"/>
                <a:cs typeface="Lora" pitchFamily="34" charset="-120"/>
              </a:rPr>
              <a:t>Theo bản thảo. Vision gợi ý chỗ cần kiểm tra, không phải bằng chứng tuyệt đối. Hình bên là minh họa.</a:t>
            </a:r>
            <a:endParaRPr lang="en-US" sz="1100" dirty="0"/>
          </a:p>
        </p:txBody>
      </p:sp>
      <p:sp>
        <p:nvSpPr>
          <p:cNvPr id="12" name="Shape 9"/>
          <p:cNvSpPr/>
          <p:nvPr/>
        </p:nvSpPr>
        <p:spPr>
          <a:xfrm>
            <a:off x="8527737" y="3431977"/>
            <a:ext cx="12700" cy="2378273"/>
          </a:xfrm>
          <a:prstGeom prst="rect">
            <a:avLst/>
          </a:prstGeom>
          <a:solidFill>
            <a:srgbClr val="C9B995"/>
          </a:solidFill>
          <a:ln/>
        </p:spPr>
      </p:sp>
      <p:sp>
        <p:nvSpPr>
          <p:cNvPr id="13" name="Text 10"/>
          <p:cNvSpPr/>
          <p:nvPr/>
        </p:nvSpPr>
        <p:spPr>
          <a:xfrm>
            <a:off x="11659499" y="6529388"/>
            <a:ext cx="532196"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ASSET CÓ THỂ ĐẸP NHƯNG CHƯA DÙNG ĐƯỢC</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Ba lỗi khiến pixel art chưa thể vào game</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pic>
        <p:nvPicPr>
          <p:cNvPr id="5" name="Image 0" descr="preencoded.png">    </p:cNvPr>
          <p:cNvPicPr>
            <a:picLocks noChangeAspect="1"/>
          </p:cNvPicPr>
          <p:nvPr/>
        </p:nvPicPr>
        <p:blipFill>
          <a:blip r:embed="rId1"/>
          <a:stretch>
            <a:fillRect/>
          </a:stretch>
        </p:blipFill>
        <p:spPr>
          <a:xfrm>
            <a:off x="457189" y="2144216"/>
            <a:ext cx="3530512" cy="1985863"/>
          </a:xfrm>
          <a:prstGeom prst="rect">
            <a:avLst/>
          </a:prstGeom>
        </p:spPr>
      </p:pic>
      <p:sp>
        <p:nvSpPr>
          <p:cNvPr id="6" name="Text 3"/>
          <p:cNvSpPr/>
          <p:nvPr/>
        </p:nvSpPr>
        <p:spPr>
          <a:xfrm>
            <a:off x="457189" y="4301530"/>
            <a:ext cx="3530512"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Mixels</a:t>
            </a:r>
            <a:endParaRPr lang="en-US" sz="2100" dirty="0"/>
          </a:p>
        </p:txBody>
      </p:sp>
      <p:sp>
        <p:nvSpPr>
          <p:cNvPr id="7" name="Text 4"/>
          <p:cNvSpPr/>
          <p:nvPr/>
        </p:nvSpPr>
        <p:spPr>
          <a:xfrm>
            <a:off x="457189" y="4720729"/>
            <a:ext cx="3530512"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Pixel không đồng nhất hoặc viền mờ. Hình mất nhịp pixel chung.</a:t>
            </a:r>
            <a:endParaRPr lang="en-US" sz="1500" dirty="0"/>
          </a:p>
        </p:txBody>
      </p:sp>
      <p:pic>
        <p:nvPicPr>
          <p:cNvPr id="8" name="Image 1" descr="preencoded.png">    </p:cNvPr>
          <p:cNvPicPr>
            <a:picLocks noChangeAspect="1"/>
          </p:cNvPicPr>
          <p:nvPr/>
        </p:nvPicPr>
        <p:blipFill>
          <a:blip r:embed="rId2"/>
          <a:stretch>
            <a:fillRect/>
          </a:stretch>
        </p:blipFill>
        <p:spPr>
          <a:xfrm>
            <a:off x="4444889" y="2144216"/>
            <a:ext cx="3301917" cy="1857276"/>
          </a:xfrm>
          <a:prstGeom prst="rect">
            <a:avLst/>
          </a:prstGeom>
        </p:spPr>
      </p:pic>
      <p:sp>
        <p:nvSpPr>
          <p:cNvPr id="9" name="Text 5"/>
          <p:cNvSpPr/>
          <p:nvPr/>
        </p:nvSpPr>
        <p:spPr>
          <a:xfrm>
            <a:off x="4444889" y="4172942"/>
            <a:ext cx="3301917"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Frame bleeding</a:t>
            </a:r>
            <a:endParaRPr lang="en-US" sz="2100" dirty="0"/>
          </a:p>
        </p:txBody>
      </p:sp>
      <p:sp>
        <p:nvSpPr>
          <p:cNvPr id="10" name="Text 6"/>
          <p:cNvSpPr/>
          <p:nvPr/>
        </p:nvSpPr>
        <p:spPr>
          <a:xfrm>
            <a:off x="4444889" y="4592141"/>
            <a:ext cx="3301917"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Hình tràn qua ô; frame kế bên nhận nhầm một phần sprite.</a:t>
            </a:r>
            <a:endParaRPr lang="en-US" sz="1500" dirty="0"/>
          </a:p>
        </p:txBody>
      </p:sp>
      <p:pic>
        <p:nvPicPr>
          <p:cNvPr id="11" name="Image 2" descr="preencoded.png">    </p:cNvPr>
          <p:cNvPicPr>
            <a:picLocks noChangeAspect="1"/>
          </p:cNvPicPr>
          <p:nvPr/>
        </p:nvPicPr>
        <p:blipFill>
          <a:blip r:embed="rId3"/>
          <a:stretch>
            <a:fillRect/>
          </a:stretch>
        </p:blipFill>
        <p:spPr>
          <a:xfrm>
            <a:off x="8203995" y="2144216"/>
            <a:ext cx="3530512" cy="1985863"/>
          </a:xfrm>
          <a:prstGeom prst="rect">
            <a:avLst/>
          </a:prstGeom>
        </p:spPr>
      </p:pic>
      <p:sp>
        <p:nvSpPr>
          <p:cNvPr id="12" name="Text 7"/>
          <p:cNvSpPr/>
          <p:nvPr/>
        </p:nvSpPr>
        <p:spPr>
          <a:xfrm>
            <a:off x="8203995" y="4301530"/>
            <a:ext cx="3530512"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Frame drift</a:t>
            </a:r>
            <a:endParaRPr lang="en-US" sz="2100" dirty="0"/>
          </a:p>
        </p:txBody>
      </p:sp>
      <p:sp>
        <p:nvSpPr>
          <p:cNvPr id="13" name="Text 8"/>
          <p:cNvSpPr/>
          <p:nvPr/>
        </p:nvSpPr>
        <p:spPr>
          <a:xfrm>
            <a:off x="8203995" y="4720729"/>
            <a:ext cx="3530512"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Trọng tâm và chân lệch giữa các frame; animation trông như trượt.</a:t>
            </a:r>
            <a:endParaRPr lang="en-US" sz="1500" dirty="0"/>
          </a:p>
        </p:txBody>
      </p:sp>
      <p:sp>
        <p:nvSpPr>
          <p:cNvPr id="14" name="Text 9"/>
          <p:cNvSpPr/>
          <p:nvPr/>
        </p:nvSpPr>
        <p:spPr>
          <a:xfrm>
            <a:off x="457189" y="6115050"/>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Ví dụ khái niệm, cố ý minh họa lỗi; không phải asset hoặc screenshot từ dự án.</a:t>
            </a:r>
            <a:endParaRPr lang="en-US" sz="1500" dirty="0"/>
          </a:p>
        </p:txBody>
      </p:sp>
      <p:sp>
        <p:nvSpPr>
          <p:cNvPr id="15" name="Shape 10"/>
          <p:cNvSpPr/>
          <p:nvPr/>
        </p:nvSpPr>
        <p:spPr>
          <a:xfrm>
            <a:off x="4209945" y="2144216"/>
            <a:ext cx="12700" cy="3799384"/>
          </a:xfrm>
          <a:prstGeom prst="rect">
            <a:avLst/>
          </a:prstGeom>
          <a:solidFill>
            <a:srgbClr val="C9B995"/>
          </a:solidFill>
          <a:ln/>
        </p:spPr>
      </p:sp>
      <p:sp>
        <p:nvSpPr>
          <p:cNvPr id="16" name="Shape 11"/>
          <p:cNvSpPr/>
          <p:nvPr/>
        </p:nvSpPr>
        <p:spPr>
          <a:xfrm>
            <a:off x="7969051" y="2144216"/>
            <a:ext cx="12700" cy="3799384"/>
          </a:xfrm>
          <a:prstGeom prst="rect">
            <a:avLst/>
          </a:prstGeom>
          <a:solidFill>
            <a:srgbClr val="C9B995"/>
          </a:solidFill>
          <a:ln/>
        </p:spPr>
      </p:sp>
      <p:sp>
        <p:nvSpPr>
          <p:cNvPr id="17" name="Text 12"/>
          <p:cNvSpPr/>
          <p:nvPr/>
        </p:nvSpPr>
        <p:spPr>
          <a:xfrm>
            <a:off x="11657415" y="6529388"/>
            <a:ext cx="534280"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PIPELINE ASSET</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Năm bước đưa AI art thành asset dùng được</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sp>
        <p:nvSpPr>
          <p:cNvPr id="5" name="Text 3"/>
          <p:cNvSpPr/>
          <p:nvPr/>
        </p:nvSpPr>
        <p:spPr>
          <a:xfrm>
            <a:off x="457189" y="2144216"/>
            <a:ext cx="80454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01</a:t>
            </a:r>
            <a:endParaRPr lang="en-US" sz="1500" dirty="0"/>
          </a:p>
        </p:txBody>
      </p:sp>
      <p:sp>
        <p:nvSpPr>
          <p:cNvPr id="6" name="Shape 4"/>
          <p:cNvSpPr/>
          <p:nvPr/>
        </p:nvSpPr>
        <p:spPr>
          <a:xfrm>
            <a:off x="457189" y="2410916"/>
            <a:ext cx="1889673" cy="19050"/>
          </a:xfrm>
          <a:prstGeom prst="rect">
            <a:avLst/>
          </a:prstGeom>
          <a:solidFill>
            <a:srgbClr val="1E5E52"/>
          </a:solidFill>
          <a:ln/>
        </p:spPr>
      </p:sp>
      <p:sp>
        <p:nvSpPr>
          <p:cNvPr id="7" name="Text 5"/>
          <p:cNvSpPr/>
          <p:nvPr/>
        </p:nvSpPr>
        <p:spPr>
          <a:xfrm>
            <a:off x="457189" y="2544266"/>
            <a:ext cx="1889673"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Identity anchor</a:t>
            </a:r>
            <a:endParaRPr lang="en-US" sz="1800" dirty="0"/>
          </a:p>
        </p:txBody>
      </p:sp>
      <p:sp>
        <p:nvSpPr>
          <p:cNvPr id="8" name="Text 6"/>
          <p:cNvSpPr/>
          <p:nvPr/>
        </p:nvSpPr>
        <p:spPr>
          <a:xfrm>
            <a:off x="457189" y="2923084"/>
            <a:ext cx="1889673"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Giữ nhận diện và lưới tham chiếu.</a:t>
            </a:r>
            <a:endParaRPr lang="en-US" sz="1500" dirty="0"/>
          </a:p>
        </p:txBody>
      </p:sp>
      <p:sp>
        <p:nvSpPr>
          <p:cNvPr id="9" name="Text 7"/>
          <p:cNvSpPr/>
          <p:nvPr/>
        </p:nvSpPr>
        <p:spPr>
          <a:xfrm>
            <a:off x="457189" y="3605709"/>
            <a:ext cx="1889673" cy="419100"/>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D241E"/>
                </a:solidFill>
                <a:latin typeface="Lora" pitchFamily="34" charset="0"/>
                <a:ea typeface="Lora" pitchFamily="34" charset="-122"/>
                <a:cs typeface="Lora" pitchFamily="34" charset="-120"/>
              </a:rPr>
              <a:t>1024 × 1024</a:t>
            </a:r>
            <a:endParaRPr lang="en-US" sz="1100" dirty="0"/>
          </a:p>
          <a:p>
            <a:pPr algn="l" indent="0" marL="0">
              <a:lnSpc>
                <a:spcPct val="125000"/>
              </a:lnSpc>
              <a:buNone/>
            </a:pPr>
            <a:r>
              <a:rPr lang="en-US" sz="1100" dirty="0">
                <a:solidFill>
                  <a:srgbClr val="2D241E"/>
                </a:solidFill>
                <a:latin typeface="Lora" pitchFamily="34" charset="0"/>
                <a:ea typeface="Lora" pitchFamily="34" charset="-122"/>
                <a:cs typeface="Lora" pitchFamily="34" charset="-120"/>
              </a:rPr>
              <a:t>Chroma xanh</a:t>
            </a:r>
            <a:endParaRPr lang="en-US" sz="1100" dirty="0"/>
          </a:p>
        </p:txBody>
      </p:sp>
      <p:sp>
        <p:nvSpPr>
          <p:cNvPr id="10" name="Text 8"/>
          <p:cNvSpPr/>
          <p:nvPr/>
        </p:nvSpPr>
        <p:spPr>
          <a:xfrm>
            <a:off x="2803951" y="2144216"/>
            <a:ext cx="83113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02</a:t>
            </a:r>
            <a:endParaRPr lang="en-US" sz="1500" dirty="0"/>
          </a:p>
        </p:txBody>
      </p:sp>
      <p:sp>
        <p:nvSpPr>
          <p:cNvPr id="11" name="Shape 9"/>
          <p:cNvSpPr/>
          <p:nvPr/>
        </p:nvSpPr>
        <p:spPr>
          <a:xfrm>
            <a:off x="2803951" y="2410916"/>
            <a:ext cx="1889871" cy="19050"/>
          </a:xfrm>
          <a:prstGeom prst="rect">
            <a:avLst/>
          </a:prstGeom>
          <a:solidFill>
            <a:srgbClr val="1E5E52"/>
          </a:solidFill>
          <a:ln/>
        </p:spPr>
      </p:sp>
      <p:sp>
        <p:nvSpPr>
          <p:cNvPr id="12" name="Text 10"/>
          <p:cNvSpPr/>
          <p:nvPr/>
        </p:nvSpPr>
        <p:spPr>
          <a:xfrm>
            <a:off x="2803951" y="2544266"/>
            <a:ext cx="1889871"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Pixel snapping</a:t>
            </a:r>
            <a:endParaRPr lang="en-US" sz="1800" dirty="0"/>
          </a:p>
        </p:txBody>
      </p:sp>
      <p:sp>
        <p:nvSpPr>
          <p:cNvPr id="13" name="Text 11"/>
          <p:cNvSpPr/>
          <p:nvPr/>
        </p:nvSpPr>
        <p:spPr>
          <a:xfrm>
            <a:off x="2803951" y="2923084"/>
            <a:ext cx="1889871"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Palette hữu hạn, viền sắc và nearest-neighbor.</a:t>
            </a:r>
            <a:endParaRPr lang="en-US" sz="1500" dirty="0"/>
          </a:p>
        </p:txBody>
      </p:sp>
      <p:sp>
        <p:nvSpPr>
          <p:cNvPr id="14" name="Text 12"/>
          <p:cNvSpPr/>
          <p:nvPr/>
        </p:nvSpPr>
        <p:spPr>
          <a:xfrm>
            <a:off x="5150912" y="2144216"/>
            <a:ext cx="836294"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03</a:t>
            </a:r>
            <a:endParaRPr lang="en-US" sz="1500" dirty="0"/>
          </a:p>
        </p:txBody>
      </p:sp>
      <p:sp>
        <p:nvSpPr>
          <p:cNvPr id="15" name="Shape 13"/>
          <p:cNvSpPr/>
          <p:nvPr/>
        </p:nvSpPr>
        <p:spPr>
          <a:xfrm>
            <a:off x="5150912" y="2410916"/>
            <a:ext cx="1889673" cy="19050"/>
          </a:xfrm>
          <a:prstGeom prst="rect">
            <a:avLst/>
          </a:prstGeom>
          <a:solidFill>
            <a:srgbClr val="1E5E52"/>
          </a:solidFill>
          <a:ln/>
        </p:spPr>
      </p:sp>
      <p:sp>
        <p:nvSpPr>
          <p:cNvPr id="16" name="Text 14"/>
          <p:cNvSpPr/>
          <p:nvPr/>
        </p:nvSpPr>
        <p:spPr>
          <a:xfrm>
            <a:off x="5150912" y="2544266"/>
            <a:ext cx="1889772"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Pose board</a:t>
            </a:r>
            <a:endParaRPr lang="en-US" sz="1800" dirty="0"/>
          </a:p>
        </p:txBody>
      </p:sp>
      <p:sp>
        <p:nvSpPr>
          <p:cNvPr id="17" name="Text 15"/>
          <p:cNvSpPr/>
          <p:nvPr/>
        </p:nvSpPr>
        <p:spPr>
          <a:xfrm>
            <a:off x="5150912" y="2923084"/>
            <a:ext cx="1889772" cy="11430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Canvas 4:3.</a:t>
            </a:r>
            <a:endParaRPr lang="en-US" sz="1500" dirty="0"/>
          </a:p>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Attack 8 frames.</a:t>
            </a:r>
            <a:endParaRPr lang="en-US" sz="1500" dirty="0"/>
          </a:p>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Hurt 6.</a:t>
            </a:r>
            <a:endParaRPr lang="en-US" sz="1500" dirty="0"/>
          </a:p>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Death 10.</a:t>
            </a:r>
            <a:endParaRPr lang="en-US" sz="1500" dirty="0"/>
          </a:p>
        </p:txBody>
      </p:sp>
      <p:sp>
        <p:nvSpPr>
          <p:cNvPr id="18" name="Text 16"/>
          <p:cNvSpPr/>
          <p:nvPr/>
        </p:nvSpPr>
        <p:spPr>
          <a:xfrm>
            <a:off x="7497773" y="2144216"/>
            <a:ext cx="83361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04</a:t>
            </a:r>
            <a:endParaRPr lang="en-US" sz="1500" dirty="0"/>
          </a:p>
        </p:txBody>
      </p:sp>
      <p:sp>
        <p:nvSpPr>
          <p:cNvPr id="19" name="Shape 17"/>
          <p:cNvSpPr/>
          <p:nvPr/>
        </p:nvSpPr>
        <p:spPr>
          <a:xfrm>
            <a:off x="7497773" y="2410916"/>
            <a:ext cx="1889871" cy="19050"/>
          </a:xfrm>
          <a:prstGeom prst="rect">
            <a:avLst/>
          </a:prstGeom>
          <a:solidFill>
            <a:srgbClr val="1E5E52"/>
          </a:solidFill>
          <a:ln/>
        </p:spPr>
      </p:sp>
      <p:sp>
        <p:nvSpPr>
          <p:cNvPr id="20" name="Text 18"/>
          <p:cNvSpPr/>
          <p:nvPr/>
        </p:nvSpPr>
        <p:spPr>
          <a:xfrm>
            <a:off x="7497773" y="2544266"/>
            <a:ext cx="1889871" cy="484584"/>
          </a:xfrm>
          <a:prstGeom prst="rect">
            <a:avLst/>
          </a:prstGeom>
          <a:noFill/>
          <a:ln/>
        </p:spPr>
        <p:txBody>
          <a:bodyPr wrap="square" lIns="0" tIns="0" rIns="0" bIns="0" rtlCol="0" anchor="t">
            <a:normAutofit/>
          </a:bodyPr>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Recovery &amp; curation</a:t>
            </a:r>
            <a:endParaRPr lang="en-US" sz="1800" dirty="0"/>
          </a:p>
        </p:txBody>
      </p:sp>
      <p:sp>
        <p:nvSpPr>
          <p:cNvPr id="21" name="Text 19"/>
          <p:cNvSpPr/>
          <p:nvPr/>
        </p:nvSpPr>
        <p:spPr>
          <a:xfrm>
            <a:off x="7497773" y="3165376"/>
            <a:ext cx="1889871"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Tách nền, kiểm bounding box, loại frame lỗi.</a:t>
            </a:r>
            <a:endParaRPr lang="en-US" sz="1500" dirty="0"/>
          </a:p>
        </p:txBody>
      </p:sp>
      <p:sp>
        <p:nvSpPr>
          <p:cNvPr id="22" name="Text 20"/>
          <p:cNvSpPr/>
          <p:nvPr/>
        </p:nvSpPr>
        <p:spPr>
          <a:xfrm>
            <a:off x="9844734" y="2144216"/>
            <a:ext cx="833119"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05</a:t>
            </a:r>
            <a:endParaRPr lang="en-US" sz="1500" dirty="0"/>
          </a:p>
        </p:txBody>
      </p:sp>
      <p:sp>
        <p:nvSpPr>
          <p:cNvPr id="23" name="Shape 21"/>
          <p:cNvSpPr/>
          <p:nvPr/>
        </p:nvSpPr>
        <p:spPr>
          <a:xfrm>
            <a:off x="9844734" y="2410916"/>
            <a:ext cx="1889673" cy="19050"/>
          </a:xfrm>
          <a:prstGeom prst="rect">
            <a:avLst/>
          </a:prstGeom>
          <a:solidFill>
            <a:srgbClr val="1E5E52"/>
          </a:solidFill>
          <a:ln/>
        </p:spPr>
      </p:sp>
      <p:sp>
        <p:nvSpPr>
          <p:cNvPr id="24" name="Text 22"/>
          <p:cNvSpPr/>
          <p:nvPr/>
        </p:nvSpPr>
        <p:spPr>
          <a:xfrm>
            <a:off x="9844734" y="2544266"/>
            <a:ext cx="1889772" cy="484584"/>
          </a:xfrm>
          <a:prstGeom prst="rect">
            <a:avLst/>
          </a:prstGeom>
          <a:noFill/>
          <a:ln/>
        </p:spPr>
        <p:txBody>
          <a:bodyPr wrap="square" lIns="0" tIns="0" rIns="0" bIns="0" rtlCol="0" anchor="t">
            <a:normAutofit/>
          </a:bodyPr>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Anchoring &amp; onion skin</a:t>
            </a:r>
            <a:endParaRPr lang="en-US" sz="1800" dirty="0"/>
          </a:p>
        </p:txBody>
      </p:sp>
      <p:sp>
        <p:nvSpPr>
          <p:cNvPr id="25" name="Text 23"/>
          <p:cNvSpPr/>
          <p:nvPr/>
        </p:nvSpPr>
        <p:spPr>
          <a:xfrm>
            <a:off x="9844734" y="3165376"/>
            <a:ext cx="1889772"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Căn điểm tiếp đất; kiểm animation trong engine.</a:t>
            </a:r>
            <a:endParaRPr lang="en-US" sz="1500" dirty="0"/>
          </a:p>
        </p:txBody>
      </p:sp>
      <p:sp>
        <p:nvSpPr>
          <p:cNvPr id="26" name="Text 24"/>
          <p:cNvSpPr/>
          <p:nvPr/>
        </p:nvSpPr>
        <p:spPr>
          <a:xfrm>
            <a:off x="457189" y="5772051"/>
            <a:ext cx="11277318"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Asset chỉ hoàn tất sau khi chạy trong game.</a:t>
            </a:r>
            <a:endParaRPr lang="en-US" sz="2100" dirty="0"/>
          </a:p>
        </p:txBody>
      </p:sp>
      <p:sp>
        <p:nvSpPr>
          <p:cNvPr id="27" name="Text 25"/>
          <p:cNvSpPr/>
          <p:nvPr/>
        </p:nvSpPr>
        <p:spPr>
          <a:xfrm>
            <a:off x="457189" y="6191250"/>
            <a:ext cx="11734506" cy="209550"/>
          </a:xfrm>
          <a:prstGeom prst="rect">
            <a:avLst/>
          </a:prstGeom>
          <a:noFill/>
          <a:ln/>
        </p:spPr>
        <p:txBody>
          <a:bodyPr wrap="none" lIns="0" tIns="0" rIns="0" bIns="0" rtlCol="0" anchor="t"/>
          <a:lstStyle/>
          <a:p>
            <a:pPr algn="l" indent="0" marL="0">
              <a:lnSpc>
                <a:spcPct val="125000"/>
              </a:lnSpc>
              <a:buNone/>
            </a:pPr>
            <a:r>
              <a:rPr lang="en-US" sz="1100" dirty="0">
                <a:solidFill>
                  <a:srgbClr val="2D241E"/>
                </a:solidFill>
                <a:latin typeface="Lora" pitchFamily="34" charset="0"/>
                <a:ea typeface="Lora" pitchFamily="34" charset="-122"/>
                <a:cs typeface="Lora" pitchFamily="34" charset="-120"/>
              </a:rPr>
              <a:t>Thông số theo bản thảo. “GPT Image 2.0” cần xác nhận tên sản phẩm; không bảo đảm bám đất 100%.</a:t>
            </a:r>
            <a:endParaRPr lang="en-US" sz="1100" dirty="0"/>
          </a:p>
        </p:txBody>
      </p:sp>
      <p:sp>
        <p:nvSpPr>
          <p:cNvPr id="28" name="Text 26"/>
          <p:cNvSpPr/>
          <p:nvPr/>
        </p:nvSpPr>
        <p:spPr>
          <a:xfrm>
            <a:off x="11603144" y="6529388"/>
            <a:ext cx="588551"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ED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5E52"/>
          </a:solidFill>
          <a:ln/>
        </p:spPr>
      </p:sp>
      <p:sp>
        <p:nvSpPr>
          <p:cNvPr id="3" name="Text 1"/>
          <p:cNvSpPr/>
          <p:nvPr/>
        </p:nvSpPr>
        <p:spPr>
          <a:xfrm>
            <a:off x="711182" y="609600"/>
            <a:ext cx="11378915"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FFFFFF"/>
                </a:solidFill>
                <a:latin typeface="Lora" pitchFamily="34" charset="0"/>
                <a:ea typeface="Lora" pitchFamily="34" charset="-122"/>
                <a:cs typeface="Lora" pitchFamily="34" charset="-120"/>
              </a:rPr>
              <a:t>— BÀI HỌC VỀ STACK</a:t>
            </a:r>
            <a:endParaRPr lang="en-US" sz="1100" dirty="0"/>
          </a:p>
        </p:txBody>
      </p:sp>
      <p:sp>
        <p:nvSpPr>
          <p:cNvPr id="4" name="Text 2"/>
          <p:cNvSpPr/>
          <p:nvPr/>
        </p:nvSpPr>
        <p:spPr>
          <a:xfrm>
            <a:off x="711182" y="1505049"/>
            <a:ext cx="10769331" cy="1076920"/>
          </a:xfrm>
          <a:prstGeom prst="rect">
            <a:avLst/>
          </a:prstGeom>
          <a:noFill/>
          <a:ln/>
        </p:spPr>
        <p:txBody>
          <a:bodyPr wrap="square" lIns="0" tIns="0" rIns="0" bIns="0" rtlCol="0" anchor="t">
            <a:normAutofit/>
          </a:bodyPr>
          <a:lstStyle/>
          <a:p>
            <a:pPr algn="l" indent="0" marL="0">
              <a:lnSpc>
                <a:spcPct val="88000"/>
              </a:lnSpc>
              <a:buNone/>
            </a:pPr>
            <a:r>
              <a:rPr lang="en-US" sz="4000" b="1" dirty="0">
                <a:solidFill>
                  <a:srgbClr val="FFFFFF"/>
                </a:solidFill>
                <a:latin typeface="Playfair Display Bold" pitchFamily="34" charset="0"/>
                <a:ea typeface="Playfair Display Bold" pitchFamily="34" charset="-122"/>
                <a:cs typeface="Playfair Display Bold" pitchFamily="34" charset="-120"/>
              </a:rPr>
              <a:t>Tooling và kiểm chứng quan trọng hơn tên model</a:t>
            </a:r>
            <a:endParaRPr lang="en-US" sz="4000" dirty="0"/>
          </a:p>
        </p:txBody>
      </p:sp>
      <p:sp>
        <p:nvSpPr>
          <p:cNvPr id="5" name="Shape 3"/>
          <p:cNvSpPr/>
          <p:nvPr/>
        </p:nvSpPr>
        <p:spPr>
          <a:xfrm>
            <a:off x="711182" y="3007023"/>
            <a:ext cx="1346067" cy="31651"/>
          </a:xfrm>
          <a:prstGeom prst="roundRect">
            <a:avLst>
              <a:gd name="adj" fmla="val 49998"/>
            </a:avLst>
          </a:prstGeom>
          <a:solidFill>
            <a:srgbClr val="E5B842"/>
          </a:solidFill>
          <a:ln/>
        </p:spPr>
      </p:sp>
      <p:sp>
        <p:nvSpPr>
          <p:cNvPr id="6" name="Text 4"/>
          <p:cNvSpPr/>
          <p:nvPr/>
        </p:nvSpPr>
        <p:spPr>
          <a:xfrm>
            <a:off x="711182" y="3600351"/>
            <a:ext cx="10769331" cy="1219200"/>
          </a:xfrm>
          <a:prstGeom prst="rect">
            <a:avLst/>
          </a:prstGeom>
          <a:noFill/>
          <a:ln/>
        </p:spPr>
        <p:txBody>
          <a:bodyPr wrap="square" lIns="0" tIns="0" rIns="0" bIns="0" rtlCol="0" anchor="t">
            <a:normAutofit/>
          </a:bodyPr>
          <a:lstStyle/>
          <a:p>
            <a:pPr algn="l" indent="0" marL="0">
              <a:lnSpc>
                <a:spcPct val="83000"/>
              </a:lnSpc>
              <a:buNone/>
            </a:pPr>
            <a:r>
              <a:rPr lang="en-US" sz="4800" b="1" dirty="0">
                <a:solidFill>
                  <a:srgbClr val="FFFFFF"/>
                </a:solidFill>
                <a:latin typeface="Playfair Display Bold" pitchFamily="34" charset="0"/>
                <a:ea typeface="Playfair Display Bold" pitchFamily="34" charset="-122"/>
                <a:cs typeface="Playfair Display Bold" pitchFamily="34" charset="-120"/>
              </a:rPr>
              <a:t>IDE · Skills · Scripts</a:t>
            </a:r>
            <a:endParaRPr lang="en-US" sz="4800" dirty="0"/>
          </a:p>
          <a:p>
            <a:pPr algn="l" indent="0" marL="0">
              <a:lnSpc>
                <a:spcPct val="83000"/>
              </a:lnSpc>
              <a:buNone/>
            </a:pPr>
            <a:r>
              <a:rPr lang="en-US" sz="4800" b="1" dirty="0">
                <a:solidFill>
                  <a:srgbClr val="FFFFFF"/>
                </a:solidFill>
                <a:latin typeface="Playfair Display Bold" pitchFamily="34" charset="0"/>
                <a:ea typeface="Playfair Display Bold" pitchFamily="34" charset="-122"/>
                <a:cs typeface="Playfair Display Bold" pitchFamily="34" charset="-120"/>
              </a:rPr>
              <a:t>Test · Chi phí cache</a:t>
            </a:r>
            <a:endParaRPr lang="en-US" sz="4800" dirty="0"/>
          </a:p>
        </p:txBody>
      </p:sp>
      <p:sp>
        <p:nvSpPr>
          <p:cNvPr id="7" name="Text 5"/>
          <p:cNvSpPr/>
          <p:nvPr/>
        </p:nvSpPr>
        <p:spPr>
          <a:xfrm>
            <a:off x="711182" y="5010051"/>
            <a:ext cx="11378915" cy="342900"/>
          </a:xfrm>
          <a:prstGeom prst="rect">
            <a:avLst/>
          </a:prstGeom>
          <a:noFill/>
          <a:ln/>
        </p:spPr>
        <p:txBody>
          <a:bodyPr wrap="none" lIns="0" tIns="0" rIns="0" bIns="0" rtlCol="0" anchor="t"/>
          <a:lstStyle/>
          <a:p>
            <a:pPr algn="l" indent="0" marL="0">
              <a:lnSpc>
                <a:spcPct val="125000"/>
              </a:lnSpc>
              <a:buNone/>
            </a:pPr>
            <a:r>
              <a:rPr lang="en-US" sz="1800" dirty="0">
                <a:solidFill>
                  <a:srgbClr val="FFFFFF"/>
                </a:solidFill>
                <a:latin typeface="Lora" pitchFamily="34" charset="0"/>
                <a:ea typeface="Lora" pitchFamily="34" charset="-122"/>
                <a:cs typeface="Lora" pitchFamily="34" charset="-120"/>
              </a:rPr>
              <a:t>Chọn stack giúp bạn giao việc, thấy diff và kiểm lại kết quả.</a:t>
            </a:r>
            <a:endParaRPr lang="en-US" sz="1800" dirty="0"/>
          </a:p>
        </p:txBody>
      </p:sp>
      <p:sp>
        <p:nvSpPr>
          <p:cNvPr id="8" name="Text 6"/>
          <p:cNvSpPr/>
          <p:nvPr/>
        </p:nvSpPr>
        <p:spPr>
          <a:xfrm>
            <a:off x="711182" y="6038850"/>
            <a:ext cx="11378915" cy="209550"/>
          </a:xfrm>
          <a:prstGeom prst="rect">
            <a:avLst/>
          </a:prstGeom>
          <a:noFill/>
          <a:ln/>
        </p:spPr>
        <p:txBody>
          <a:bodyPr wrap="none" lIns="0" tIns="0" rIns="0" bIns="0" rtlCol="0" anchor="t"/>
          <a:lstStyle/>
          <a:p>
            <a:pPr algn="l" indent="0" marL="0">
              <a:lnSpc>
                <a:spcPct val="125000"/>
              </a:lnSpc>
              <a:buNone/>
            </a:pPr>
            <a:r>
              <a:rPr lang="en-US" sz="1100" dirty="0">
                <a:solidFill>
                  <a:srgbClr val="FFFFFF"/>
                </a:solidFill>
                <a:latin typeface="Lora" pitchFamily="34" charset="0"/>
                <a:ea typeface="Lora" pitchFamily="34" charset="-122"/>
                <a:cs typeface="Lora" pitchFamily="34" charset="-120"/>
              </a:rPr>
              <a:t>Hướng làm việc đáng thử từ dự án, không phải bảng xếp hạng toàn ngành.</a:t>
            </a:r>
            <a:endParaRPr lang="en-US" sz="1100" dirty="0"/>
          </a:p>
        </p:txBody>
      </p:sp>
      <p:sp>
        <p:nvSpPr>
          <p:cNvPr id="9" name="Text 7"/>
          <p:cNvSpPr/>
          <p:nvPr/>
        </p:nvSpPr>
        <p:spPr>
          <a:xfrm>
            <a:off x="11637374" y="6529388"/>
            <a:ext cx="554321"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TRÁCH NHIỆM NGHIỆM THU</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Giao việc rõ ràng, giữ nghiệm thu cho con người</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189" y="2144216"/>
          <a:ext cx="11277318" cy="914400"/>
        </p:xfrm>
        <a:graphic>
          <a:graphicData uri="http://schemas.openxmlformats.org/drawingml/2006/table">
            <a:tbl>
              <a:tblPr/>
              <a:tblGrid>
                <a:gridCol w="2706521"/>
                <a:gridCol w="4059831"/>
                <a:gridCol w="4510967"/>
              </a:tblGrid>
              <a:tr h="673083">
                <a:tc>
                  <a:txBody>
                    <a:bodyPr/>
                    <a:lstStyle/>
                    <a:p>
                      <a:pPr algn="l" indent="0" marL="0">
                        <a:buNone/>
                      </a:pPr>
                      <a:r>
                        <a:rPr lang="en-US" sz="1500" dirty="0">
                          <a:solidFill>
                            <a:srgbClr val="1E5E52"/>
                          </a:solidFill>
                          <a:latin typeface="Lora" pitchFamily="34" charset="0"/>
                          <a:ea typeface="Lora" pitchFamily="34" charset="-122"/>
                          <a:cs typeface="Lora" pitchFamily="34" charset="-120"/>
                        </a:rPr>
                        <a:t>Cách giao việc</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1E5E52"/>
                          </a:solidFill>
                          <a:latin typeface="Lora" pitchFamily="34" charset="0"/>
                          <a:ea typeface="Lora" pitchFamily="34" charset="-122"/>
                          <a:cs typeface="Lora" pitchFamily="34" charset="-120"/>
                        </a:rPr>
                        <a:t>Hạng mục</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1E5E52"/>
                          </a:solidFill>
                          <a:latin typeface="Lora" pitchFamily="34" charset="0"/>
                          <a:ea typeface="Lora" pitchFamily="34" charset="-122"/>
                          <a:cs typeface="Lora" pitchFamily="34" charset="-120"/>
                        </a:rPr>
                        <a:t>Trách nhiệm của người</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F5EEDC"/>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r>
              <a:tr h="673083">
                <a:tc>
                  <a:txBody>
                    <a:bodyPr/>
                    <a:lstStyle/>
                    <a:p>
                      <a:pPr algn="l" indent="0" marL="0">
                        <a:buNone/>
                      </a:pPr>
                      <a:r>
                        <a:rPr lang="en-US" sz="1500" dirty="0">
                          <a:solidFill>
                            <a:srgbClr val="2D241E"/>
                          </a:solidFill>
                          <a:latin typeface="Lora" pitchFamily="34" charset="0"/>
                          <a:ea typeface="Lora" pitchFamily="34" charset="-122"/>
                          <a:cs typeface="Lora" pitchFamily="34" charset="-120"/>
                        </a:rPr>
                        <a:t>AI có thể dẫn</a:t>
                      </a:r>
                      <a:endParaRPr lang="en-US" sz="1500" dirty="0">
                        <a:latin typeface="Lora" charset="0"/>
                        <a:ea typeface="Lora" charset="0"/>
                        <a:cs typeface="Lora" charset="0"/>
                      </a:endParaRPr>
                    </a:p>
                  </a:txBody>
                  <a:tcPr marL="142871" marR="142871" marT="190495" marB="190495"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Refactor, state machine, bảng toán</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Chốt spec; review diff và kết quả test</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r>
              <a:tr h="673083">
                <a:tc>
                  <a:txBody>
                    <a:bodyPr/>
                    <a:lstStyle/>
                    <a:p>
                      <a:pPr algn="l" indent="0" marL="0">
                        <a:buNone/>
                      </a:pPr>
                      <a:r>
                        <a:rPr lang="en-US" sz="1500" dirty="0">
                          <a:solidFill>
                            <a:srgbClr val="2D241E"/>
                          </a:solidFill>
                          <a:latin typeface="Lora" pitchFamily="34" charset="0"/>
                          <a:ea typeface="Lora" pitchFamily="34" charset="-122"/>
                          <a:cs typeface="Lora" pitchFamily="34" charset="-120"/>
                        </a:rPr>
                        <a:t>AI cần kèm</a:t>
                      </a:r>
                      <a:endParaRPr lang="en-US" sz="1500" dirty="0">
                        <a:latin typeface="Lora" charset="0"/>
                        <a:ea typeface="Lora" charset="0"/>
                        <a:cs typeface="Lora" charset="0"/>
                      </a:endParaRPr>
                    </a:p>
                  </a:txBody>
                  <a:tcPr marL="142871" marR="142871" marT="190495" marB="190495"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solidFill>
                      <a:srgbClr val="E9DFC6"/>
                    </a:solidFill>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Scene, animation, UI</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Kiểm trong engine; soi bố cục và hành vi</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D2C7AD"/>
                      </a:solidFill>
                      <a:prstDash val="solid"/>
                      <a:round/>
                      <a:headEnd type="none" w="med" len="med"/>
                      <a:tailEnd type="none" w="med" len="med"/>
                    </a:lnB>
                  </a:tcPr>
                </a:tc>
              </a:tr>
              <a:tr h="666733">
                <a:tc>
                  <a:txBody>
                    <a:bodyPr/>
                    <a:lstStyle/>
                    <a:p>
                      <a:pPr algn="l" indent="0" marL="0">
                        <a:buNone/>
                      </a:pPr>
                      <a:r>
                        <a:rPr lang="en-US" sz="1500" dirty="0">
                          <a:solidFill>
                            <a:srgbClr val="2D241E"/>
                          </a:solidFill>
                          <a:latin typeface="Lora" pitchFamily="34" charset="0"/>
                          <a:ea typeface="Lora" pitchFamily="34" charset="-122"/>
                          <a:cs typeface="Lora" pitchFamily="34" charset="-120"/>
                        </a:rPr>
                        <a:t>Người quyết định</a:t>
                      </a:r>
                      <a:endParaRPr lang="en-US" sz="1500" dirty="0">
                        <a:latin typeface="Lora" charset="0"/>
                        <a:ea typeface="Lora" charset="0"/>
                        <a:cs typeface="Lora" charset="0"/>
                      </a:endParaRPr>
                    </a:p>
                  </a:txBody>
                  <a:tcPr marL="142871" marR="142871" marT="190495" marB="190495" anchor="ctr">
                    <a:lnL w="12700" cap="flat" cmpd="sng" algn="ctr">
                      <a:solidFill>
                        <a:srgbClr val="E9DFC6"/>
                      </a:solidFill>
                      <a:prstDash val="solid"/>
                      <a:round/>
                      <a:headEnd type="none" w="med" len="med"/>
                      <a:tailEnd type="none" w="med" len="med"/>
                    </a:lnL>
                    <a:lnR w="12700" cap="flat" cmpd="sng" algn="ctr">
                      <a:solidFill>
                        <a:srgbClr val="E9DFC6"/>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E9DFC6"/>
                      </a:solidFill>
                      <a:prstDash val="solid"/>
                      <a:round/>
                      <a:headEnd type="none" w="med" len="med"/>
                      <a:tailEnd type="none" w="med" len="med"/>
                    </a:lnB>
                    <a:solidFill>
                      <a:srgbClr val="E9DFC6"/>
                    </a:solidFill>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Game feel, balance, cắt scope</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c>
                  <a:txBody>
                    <a:bodyPr/>
                    <a:lstStyle/>
                    <a:p>
                      <a:pPr algn="l" indent="0" marL="0">
                        <a:buNone/>
                      </a:pPr>
                      <a:r>
                        <a:rPr lang="en-US" sz="1500" dirty="0">
                          <a:solidFill>
                            <a:srgbClr val="2D241E"/>
                          </a:solidFill>
                          <a:latin typeface="Lora" pitchFamily="34" charset="0"/>
                          <a:ea typeface="Lora" pitchFamily="34" charset="-122"/>
                          <a:cs typeface="Lora" pitchFamily="34" charset="-120"/>
                        </a:rPr>
                        <a:t>Playtest; chọn điều đáng giữ và đáng bỏ</a:t>
                      </a:r>
                      <a:endParaRPr lang="en-US" sz="1500" dirty="0">
                        <a:latin typeface="Lora" charset="0"/>
                        <a:ea typeface="Lora" charset="0"/>
                        <a:cs typeface="Lora" charset="0"/>
                      </a:endParaRPr>
                    </a:p>
                  </a:txBody>
                  <a:tcPr marL="142871" marR="142871" marT="190495" marB="190495" anchor="ctr">
                    <a:lnL w="12700" cap="flat" cmpd="sng" algn="ctr">
                      <a:solidFill>
                        <a:srgbClr val="F5EEDC"/>
                      </a:solidFill>
                      <a:prstDash val="solid"/>
                      <a:round/>
                      <a:headEnd type="none" w="med" len="med"/>
                      <a:tailEnd type="none" w="med" len="med"/>
                    </a:lnL>
                    <a:lnR w="12700" cap="flat" cmpd="sng" algn="ctr">
                      <a:solidFill>
                        <a:srgbClr val="F5EEDC"/>
                      </a:solidFill>
                      <a:prstDash val="solid"/>
                      <a:round/>
                      <a:headEnd type="none" w="med" len="med"/>
                      <a:tailEnd type="none" w="med" len="med"/>
                    </a:lnR>
                    <a:lnT w="12700" cap="flat" cmpd="sng" algn="ctr">
                      <a:solidFill>
                        <a:srgbClr val="D2C7AD"/>
                      </a:solidFill>
                      <a:prstDash val="solid"/>
                      <a:round/>
                      <a:headEnd type="none" w="med" len="med"/>
                      <a:tailEnd type="none" w="med" len="med"/>
                    </a:lnT>
                    <a:lnB w="12700" cap="flat" cmpd="sng" algn="ctr">
                      <a:solidFill>
                        <a:srgbClr val="F5EEDC"/>
                      </a:solidFill>
                      <a:prstDash val="solid"/>
                      <a:round/>
                      <a:headEnd type="none" w="med" len="med"/>
                      <a:tailEnd type="none" w="med" len="med"/>
                    </a:lnB>
                  </a:tcPr>
                </a:tc>
              </a:tr>
            </a:tbl>
          </a:graphicData>
        </a:graphic>
      </p:graphicFrame>
      <p:sp>
        <p:nvSpPr>
          <p:cNvPr id="6" name="Text 3"/>
          <p:cNvSpPr/>
          <p:nvPr/>
        </p:nvSpPr>
        <p:spPr>
          <a:xfrm>
            <a:off x="457189" y="5695851"/>
            <a:ext cx="11277318" cy="282674"/>
          </a:xfrm>
          <a:prstGeom prst="rect">
            <a:avLst/>
          </a:prstGeom>
          <a:noFill/>
          <a:ln/>
        </p:spPr>
        <p:txBody>
          <a:bodyPr wrap="none" lIns="0" tIns="0" rIns="0" bIns="0" rtlCol="0" anchor="t"/>
          <a:lstStyle/>
          <a:p>
            <a:pPr algn="l" indent="0" marL="0">
              <a:lnSpc>
                <a:spcPct val="88000"/>
              </a:lnSpc>
              <a:buNone/>
            </a:pPr>
            <a:r>
              <a:rPr lang="en-US" sz="2100" dirty="0">
                <a:solidFill>
                  <a:srgbClr val="1E5E52"/>
                </a:solidFill>
                <a:latin typeface="Lora SemiBold" pitchFamily="34" charset="0"/>
                <a:ea typeface="Lora SemiBold" pitchFamily="34" charset="-122"/>
                <a:cs typeface="Lora SemiBold" pitchFamily="34" charset="-120"/>
              </a:rPr>
              <a:t>Đây là phân công trách nhiệm, không phải giới hạn tuyệt đối của AI.</a:t>
            </a:r>
            <a:endParaRPr lang="en-US" sz="2100" dirty="0"/>
          </a:p>
        </p:txBody>
      </p:sp>
      <p:sp>
        <p:nvSpPr>
          <p:cNvPr id="7" name="Text 4"/>
          <p:cNvSpPr/>
          <p:nvPr/>
        </p:nvSpPr>
        <p:spPr>
          <a:xfrm>
            <a:off x="457189" y="6115050"/>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Ma trận kinh nghiệm dự án. Game feel và balance cần phán đoán cùng playtest của con người.</a:t>
            </a:r>
            <a:endParaRPr lang="en-US" sz="1500" dirty="0"/>
          </a:p>
        </p:txBody>
      </p:sp>
      <p:sp>
        <p:nvSpPr>
          <p:cNvPr id="8" name="Text 5"/>
          <p:cNvSpPr/>
          <p:nvPr/>
        </p:nvSpPr>
        <p:spPr>
          <a:xfrm>
            <a:off x="11614356" y="6529388"/>
            <a:ext cx="577339"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BUG THÀNH REGRESSION TEST</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Bốn lỗi hài hước, bốn bài test cần có</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pic>
        <p:nvPicPr>
          <p:cNvPr id="5" name="Image 0" descr="preencoded.png">    </p:cNvPr>
          <p:cNvPicPr>
            <a:picLocks noChangeAspect="1"/>
          </p:cNvPicPr>
          <p:nvPr/>
        </p:nvPicPr>
        <p:blipFill>
          <a:blip r:embed="rId1"/>
          <a:stretch>
            <a:fillRect/>
          </a:stretch>
        </p:blipFill>
        <p:spPr>
          <a:xfrm>
            <a:off x="457189" y="2144216"/>
            <a:ext cx="2590735" cy="1457325"/>
          </a:xfrm>
          <a:prstGeom prst="rect">
            <a:avLst/>
          </a:prstGeom>
        </p:spPr>
      </p:pic>
      <p:sp>
        <p:nvSpPr>
          <p:cNvPr id="6" name="Text 3"/>
          <p:cNvSpPr/>
          <p:nvPr/>
        </p:nvSpPr>
        <p:spPr>
          <a:xfrm>
            <a:off x="457189" y="3779341"/>
            <a:ext cx="2590735"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WaterBlock hủy tên</a:t>
            </a:r>
            <a:endParaRPr lang="en-US" sz="1800" dirty="0"/>
          </a:p>
        </p:txBody>
      </p:sp>
      <p:sp>
        <p:nvSpPr>
          <p:cNvPr id="7" name="Text 4"/>
          <p:cNvSpPr/>
          <p:nvPr/>
        </p:nvSpPr>
        <p:spPr>
          <a:xfrm>
            <a:off x="457189" y="4158159"/>
            <a:ext cx="2590735"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Test collision mask qua vùng nước và vật cản.</a:t>
            </a:r>
            <a:endParaRPr lang="en-US" sz="1500" dirty="0"/>
          </a:p>
        </p:txBody>
      </p:sp>
      <p:pic>
        <p:nvPicPr>
          <p:cNvPr id="8" name="Image 1" descr="preencoded.png">    </p:cNvPr>
          <p:cNvPicPr>
            <a:picLocks noChangeAspect="1"/>
          </p:cNvPicPr>
          <p:nvPr/>
        </p:nvPicPr>
        <p:blipFill>
          <a:blip r:embed="rId2"/>
          <a:stretch>
            <a:fillRect/>
          </a:stretch>
        </p:blipFill>
        <p:spPr>
          <a:xfrm>
            <a:off x="3505112" y="2144216"/>
            <a:ext cx="2362141" cy="1328738"/>
          </a:xfrm>
          <a:prstGeom prst="rect">
            <a:avLst/>
          </a:prstGeom>
        </p:spPr>
      </p:pic>
      <p:sp>
        <p:nvSpPr>
          <p:cNvPr id="9" name="Text 5"/>
          <p:cNvSpPr/>
          <p:nvPr/>
        </p:nvSpPr>
        <p:spPr>
          <a:xfrm>
            <a:off x="3505112" y="3650754"/>
            <a:ext cx="2362141" cy="484584"/>
          </a:xfrm>
          <a:prstGeom prst="rect">
            <a:avLst/>
          </a:prstGeom>
          <a:noFill/>
          <a:ln/>
        </p:spPr>
        <p:txBody>
          <a:bodyPr wrap="square" lIns="0" tIns="0" rIns="0" bIns="0" rtlCol="0" anchor="t">
            <a:normAutofit/>
          </a:bodyPr>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Cung thủ mặc đồ chiến binh</a:t>
            </a:r>
            <a:endParaRPr lang="en-US" sz="1800" dirty="0"/>
          </a:p>
        </p:txBody>
      </p:sp>
      <p:sp>
        <p:nvSpPr>
          <p:cNvPr id="10" name="Text 6"/>
          <p:cNvSpPr/>
          <p:nvPr/>
        </p:nvSpPr>
        <p:spPr>
          <a:xfrm>
            <a:off x="3505112" y="4271863"/>
            <a:ext cx="2362141"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Test dữ liệu trang bị sau khi đổi class.</a:t>
            </a:r>
            <a:endParaRPr lang="en-US" sz="1500" dirty="0"/>
          </a:p>
        </p:txBody>
      </p:sp>
      <p:pic>
        <p:nvPicPr>
          <p:cNvPr id="11" name="Image 2" descr="preencoded.png">    </p:cNvPr>
          <p:cNvPicPr>
            <a:picLocks noChangeAspect="1"/>
          </p:cNvPicPr>
          <p:nvPr/>
        </p:nvPicPr>
        <p:blipFill>
          <a:blip r:embed="rId3"/>
          <a:stretch>
            <a:fillRect/>
          </a:stretch>
        </p:blipFill>
        <p:spPr>
          <a:xfrm>
            <a:off x="6324442" y="2144216"/>
            <a:ext cx="2362141" cy="1328738"/>
          </a:xfrm>
          <a:prstGeom prst="rect">
            <a:avLst/>
          </a:prstGeom>
        </p:spPr>
      </p:pic>
      <p:sp>
        <p:nvSpPr>
          <p:cNvPr id="12" name="Text 7"/>
          <p:cNvSpPr/>
          <p:nvPr/>
        </p:nvSpPr>
        <p:spPr>
          <a:xfrm>
            <a:off x="6324442" y="3650754"/>
            <a:ext cx="2362141" cy="484584"/>
          </a:xfrm>
          <a:prstGeom prst="rect">
            <a:avLst/>
          </a:prstGeom>
          <a:noFill/>
          <a:ln/>
        </p:spPr>
        <p:txBody>
          <a:bodyPr wrap="square" lIns="0" tIns="0" rIns="0" bIns="0" rtlCol="0" anchor="t">
            <a:normAutofit/>
          </a:bodyPr>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Click inventory bắn tên</a:t>
            </a:r>
            <a:endParaRPr lang="en-US" sz="1800" dirty="0"/>
          </a:p>
        </p:txBody>
      </p:sp>
      <p:sp>
        <p:nvSpPr>
          <p:cNvPr id="13" name="Text 8"/>
          <p:cNvSpPr/>
          <p:nvPr/>
        </p:nvSpPr>
        <p:spPr>
          <a:xfrm>
            <a:off x="6324442" y="4271863"/>
            <a:ext cx="2362141"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Test chặn input UI trước hành động gameplay.</a:t>
            </a:r>
            <a:endParaRPr lang="en-US" sz="1500" dirty="0"/>
          </a:p>
        </p:txBody>
      </p:sp>
      <p:pic>
        <p:nvPicPr>
          <p:cNvPr id="14" name="Image 3" descr="preencoded.png">    </p:cNvPr>
          <p:cNvPicPr>
            <a:picLocks noChangeAspect="1"/>
          </p:cNvPicPr>
          <p:nvPr/>
        </p:nvPicPr>
        <p:blipFill>
          <a:blip r:embed="rId4"/>
          <a:stretch>
            <a:fillRect/>
          </a:stretch>
        </p:blipFill>
        <p:spPr>
          <a:xfrm>
            <a:off x="9143771" y="2144216"/>
            <a:ext cx="2590735" cy="1457325"/>
          </a:xfrm>
          <a:prstGeom prst="rect">
            <a:avLst/>
          </a:prstGeom>
        </p:spPr>
      </p:pic>
      <p:sp>
        <p:nvSpPr>
          <p:cNvPr id="15" name="Text 9"/>
          <p:cNvSpPr/>
          <p:nvPr/>
        </p:nvSpPr>
        <p:spPr>
          <a:xfrm>
            <a:off x="9143771" y="3779341"/>
            <a:ext cx="2590735"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Drop tạo slot ma</a:t>
            </a:r>
            <a:endParaRPr lang="en-US" sz="1800" dirty="0"/>
          </a:p>
        </p:txBody>
      </p:sp>
      <p:sp>
        <p:nvSpPr>
          <p:cNvPr id="16" name="Text 10"/>
          <p:cNvSpPr/>
          <p:nvPr/>
        </p:nvSpPr>
        <p:spPr>
          <a:xfrm>
            <a:off x="9143771" y="4158159"/>
            <a:ext cx="2590735"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Test đồng bộ số lượng, slot và vật phẩm rơi.</a:t>
            </a:r>
            <a:endParaRPr lang="en-US" sz="1500" dirty="0"/>
          </a:p>
        </p:txBody>
      </p:sp>
      <p:sp>
        <p:nvSpPr>
          <p:cNvPr id="17" name="Text 11"/>
          <p:cNvSpPr/>
          <p:nvPr/>
        </p:nvSpPr>
        <p:spPr>
          <a:xfrm>
            <a:off x="457189" y="6115050"/>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Chuyện theo bản thảo; bài test là đề xuất. Các hình là minh họa khái niệm.</a:t>
            </a:r>
            <a:endParaRPr lang="en-US" sz="1500" dirty="0"/>
          </a:p>
        </p:txBody>
      </p:sp>
      <p:sp>
        <p:nvSpPr>
          <p:cNvPr id="18" name="Shape 12"/>
          <p:cNvSpPr/>
          <p:nvPr/>
        </p:nvSpPr>
        <p:spPr>
          <a:xfrm>
            <a:off x="3270168" y="2144216"/>
            <a:ext cx="12700" cy="3799384"/>
          </a:xfrm>
          <a:prstGeom prst="rect">
            <a:avLst/>
          </a:prstGeom>
          <a:solidFill>
            <a:srgbClr val="C9B995"/>
          </a:solidFill>
          <a:ln/>
        </p:spPr>
      </p:sp>
      <p:sp>
        <p:nvSpPr>
          <p:cNvPr id="19" name="Shape 13"/>
          <p:cNvSpPr/>
          <p:nvPr/>
        </p:nvSpPr>
        <p:spPr>
          <a:xfrm>
            <a:off x="6089498" y="2144216"/>
            <a:ext cx="12700" cy="3799384"/>
          </a:xfrm>
          <a:prstGeom prst="rect">
            <a:avLst/>
          </a:prstGeom>
          <a:solidFill>
            <a:srgbClr val="C9B995"/>
          </a:solidFill>
          <a:ln/>
        </p:spPr>
      </p:sp>
      <p:sp>
        <p:nvSpPr>
          <p:cNvPr id="20" name="Shape 14"/>
          <p:cNvSpPr/>
          <p:nvPr/>
        </p:nvSpPr>
        <p:spPr>
          <a:xfrm>
            <a:off x="8908827" y="2144216"/>
            <a:ext cx="12700" cy="3799384"/>
          </a:xfrm>
          <a:prstGeom prst="rect">
            <a:avLst/>
          </a:prstGeom>
          <a:solidFill>
            <a:srgbClr val="C9B995"/>
          </a:solidFill>
          <a:ln/>
        </p:spPr>
      </p:sp>
      <p:sp>
        <p:nvSpPr>
          <p:cNvPr id="21" name="Text 15"/>
          <p:cNvSpPr/>
          <p:nvPr/>
        </p:nvSpPr>
        <p:spPr>
          <a:xfrm>
            <a:off x="11611677" y="6529388"/>
            <a:ext cx="580018"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EDC"/>
        </a:solidFill>
      </p:bgPr>
    </p:bg>
    <p:spTree>
      <p:nvGrpSpPr>
        <p:cNvPr id="1" name=""/>
        <p:cNvGrpSpPr/>
        <p:nvPr/>
      </p:nvGrpSpPr>
      <p:grpSpPr>
        <a:xfrm>
          <a:off x="0" y="0"/>
          <a:ext cx="0" cy="0"/>
          <a:chOff x="0" y="0"/>
          <a:chExt cx="0" cy="0"/>
        </a:xfrm>
      </p:grpSpPr>
      <p:sp>
        <p:nvSpPr>
          <p:cNvPr id="2" name="Text 0"/>
          <p:cNvSpPr/>
          <p:nvPr/>
        </p:nvSpPr>
        <p:spPr>
          <a:xfrm>
            <a:off x="457189" y="457200"/>
            <a:ext cx="11734506"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CHECKLIST KHỞI ĐỘNG</a:t>
            </a:r>
            <a:endParaRPr lang="en-US" sz="1100" dirty="0"/>
          </a:p>
        </p:txBody>
      </p:sp>
      <p:sp>
        <p:nvSpPr>
          <p:cNvPr id="3" name="Text 1"/>
          <p:cNvSpPr/>
          <p:nvPr/>
        </p:nvSpPr>
        <p:spPr>
          <a:xfrm>
            <a:off x="457189" y="742950"/>
            <a:ext cx="11277318"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Sáu bước để bắt đầu ngày mai</a:t>
            </a:r>
            <a:endParaRPr lang="en-US" sz="4000" dirty="0"/>
          </a:p>
        </p:txBody>
      </p:sp>
      <p:sp>
        <p:nvSpPr>
          <p:cNvPr id="4" name="Shape 2"/>
          <p:cNvSpPr/>
          <p:nvPr/>
        </p:nvSpPr>
        <p:spPr>
          <a:xfrm>
            <a:off x="457189" y="1706463"/>
            <a:ext cx="1409665" cy="31651"/>
          </a:xfrm>
          <a:prstGeom prst="roundRect">
            <a:avLst>
              <a:gd name="adj" fmla="val 49998"/>
            </a:avLst>
          </a:prstGeom>
          <a:solidFill>
            <a:srgbClr val="E5B842"/>
          </a:solidFill>
          <a:ln/>
        </p:spPr>
      </p:sp>
      <p:sp>
        <p:nvSpPr>
          <p:cNvPr id="5" name="Text 3"/>
          <p:cNvSpPr/>
          <p:nvPr/>
        </p:nvSpPr>
        <p:spPr>
          <a:xfrm>
            <a:off x="457189" y="2144216"/>
            <a:ext cx="80454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01</a:t>
            </a:r>
            <a:endParaRPr lang="en-US" sz="1500" dirty="0"/>
          </a:p>
        </p:txBody>
      </p:sp>
      <p:sp>
        <p:nvSpPr>
          <p:cNvPr id="6" name="Shape 4"/>
          <p:cNvSpPr/>
          <p:nvPr/>
        </p:nvSpPr>
        <p:spPr>
          <a:xfrm>
            <a:off x="457189" y="2410916"/>
            <a:ext cx="3530512" cy="19050"/>
          </a:xfrm>
          <a:prstGeom prst="rect">
            <a:avLst/>
          </a:prstGeom>
          <a:solidFill>
            <a:srgbClr val="1E5E52"/>
          </a:solidFill>
          <a:ln/>
        </p:spPr>
      </p:sp>
      <p:sp>
        <p:nvSpPr>
          <p:cNvPr id="7" name="Text 5"/>
          <p:cNvSpPr/>
          <p:nvPr/>
        </p:nvSpPr>
        <p:spPr>
          <a:xfrm>
            <a:off x="457189" y="2544266"/>
            <a:ext cx="3530512"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Chọn loop nhỏ</a:t>
            </a:r>
            <a:endParaRPr lang="en-US" sz="1800" dirty="0"/>
          </a:p>
        </p:txBody>
      </p:sp>
      <p:sp>
        <p:nvSpPr>
          <p:cNvPr id="8" name="Text 6"/>
          <p:cNvSpPr/>
          <p:nvPr/>
        </p:nvSpPr>
        <p:spPr>
          <a:xfrm>
            <a:off x="457189" y="2923084"/>
            <a:ext cx="3530512"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Chốt gameplay loop và tham chiếu hình ảnh.</a:t>
            </a:r>
            <a:endParaRPr lang="en-US" sz="1500" dirty="0"/>
          </a:p>
        </p:txBody>
      </p:sp>
      <p:sp>
        <p:nvSpPr>
          <p:cNvPr id="9" name="Text 7"/>
          <p:cNvSpPr/>
          <p:nvPr/>
        </p:nvSpPr>
        <p:spPr>
          <a:xfrm>
            <a:off x="4444889" y="2144216"/>
            <a:ext cx="83113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02</a:t>
            </a:r>
            <a:endParaRPr lang="en-US" sz="1500" dirty="0"/>
          </a:p>
        </p:txBody>
      </p:sp>
      <p:sp>
        <p:nvSpPr>
          <p:cNvPr id="10" name="Shape 8"/>
          <p:cNvSpPr/>
          <p:nvPr/>
        </p:nvSpPr>
        <p:spPr>
          <a:xfrm>
            <a:off x="4444889" y="2410916"/>
            <a:ext cx="3301917" cy="19050"/>
          </a:xfrm>
          <a:prstGeom prst="rect">
            <a:avLst/>
          </a:prstGeom>
          <a:solidFill>
            <a:srgbClr val="1E5E52"/>
          </a:solidFill>
          <a:ln/>
        </p:spPr>
      </p:sp>
      <p:sp>
        <p:nvSpPr>
          <p:cNvPr id="11" name="Text 9"/>
          <p:cNvSpPr/>
          <p:nvPr/>
        </p:nvSpPr>
        <p:spPr>
          <a:xfrm>
            <a:off x="4444889" y="2544266"/>
            <a:ext cx="3301917"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Nạp hợp đồng</a:t>
            </a:r>
            <a:endParaRPr lang="en-US" sz="1800" dirty="0"/>
          </a:p>
        </p:txBody>
      </p:sp>
      <p:sp>
        <p:nvSpPr>
          <p:cNvPr id="12" name="Text 10"/>
          <p:cNvSpPr/>
          <p:nvPr/>
        </p:nvSpPr>
        <p:spPr>
          <a:xfrm>
            <a:off x="4444889" y="2923084"/>
            <a:ext cx="3301917"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Skills, rules và điều kiện nghiệm thu.</a:t>
            </a:r>
            <a:endParaRPr lang="en-US" sz="1500" dirty="0"/>
          </a:p>
        </p:txBody>
      </p:sp>
      <p:sp>
        <p:nvSpPr>
          <p:cNvPr id="13" name="Text 11"/>
          <p:cNvSpPr/>
          <p:nvPr/>
        </p:nvSpPr>
        <p:spPr>
          <a:xfrm>
            <a:off x="8203995" y="2144216"/>
            <a:ext cx="836294"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03</a:t>
            </a:r>
            <a:endParaRPr lang="en-US" sz="1500" dirty="0"/>
          </a:p>
        </p:txBody>
      </p:sp>
      <p:sp>
        <p:nvSpPr>
          <p:cNvPr id="14" name="Shape 12"/>
          <p:cNvSpPr/>
          <p:nvPr/>
        </p:nvSpPr>
        <p:spPr>
          <a:xfrm>
            <a:off x="8203995" y="2410916"/>
            <a:ext cx="3530512" cy="19050"/>
          </a:xfrm>
          <a:prstGeom prst="rect">
            <a:avLst/>
          </a:prstGeom>
          <a:solidFill>
            <a:srgbClr val="1E5E52"/>
          </a:solidFill>
          <a:ln/>
        </p:spPr>
      </p:sp>
      <p:sp>
        <p:nvSpPr>
          <p:cNvPr id="15" name="Text 13"/>
          <p:cNvSpPr/>
          <p:nvPr/>
        </p:nvSpPr>
        <p:spPr>
          <a:xfrm>
            <a:off x="8203995" y="2544266"/>
            <a:ext cx="3530512"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Duyệt plan</a:t>
            </a:r>
            <a:endParaRPr lang="en-US" sz="1800" dirty="0"/>
          </a:p>
        </p:txBody>
      </p:sp>
      <p:sp>
        <p:nvSpPr>
          <p:cNvPr id="16" name="Text 14"/>
          <p:cNvSpPr/>
          <p:nvPr/>
        </p:nvSpPr>
        <p:spPr>
          <a:xfrm>
            <a:off x="8203995" y="2923084"/>
            <a:ext cx="3530512"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Chốt phạm vi trước khi code.</a:t>
            </a:r>
            <a:endParaRPr lang="en-US" sz="1500" dirty="0"/>
          </a:p>
        </p:txBody>
      </p:sp>
      <p:sp>
        <p:nvSpPr>
          <p:cNvPr id="17" name="Text 15"/>
          <p:cNvSpPr/>
          <p:nvPr/>
        </p:nvSpPr>
        <p:spPr>
          <a:xfrm>
            <a:off x="457189" y="4272459"/>
            <a:ext cx="833615"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04</a:t>
            </a:r>
            <a:endParaRPr lang="en-US" sz="1500" dirty="0"/>
          </a:p>
        </p:txBody>
      </p:sp>
      <p:sp>
        <p:nvSpPr>
          <p:cNvPr id="18" name="Shape 16"/>
          <p:cNvSpPr/>
          <p:nvPr/>
        </p:nvSpPr>
        <p:spPr>
          <a:xfrm>
            <a:off x="457189" y="4539159"/>
            <a:ext cx="3530512" cy="19050"/>
          </a:xfrm>
          <a:prstGeom prst="rect">
            <a:avLst/>
          </a:prstGeom>
          <a:solidFill>
            <a:srgbClr val="1E5E52"/>
          </a:solidFill>
          <a:ln/>
        </p:spPr>
      </p:sp>
      <p:sp>
        <p:nvSpPr>
          <p:cNvPr id="19" name="Text 17"/>
          <p:cNvSpPr/>
          <p:nvPr/>
        </p:nvSpPr>
        <p:spPr>
          <a:xfrm>
            <a:off x="457189" y="4672509"/>
            <a:ext cx="3530512"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Chuẩn hóa asset</a:t>
            </a:r>
            <a:endParaRPr lang="en-US" sz="1800" dirty="0"/>
          </a:p>
        </p:txBody>
      </p:sp>
      <p:sp>
        <p:nvSpPr>
          <p:cNvPr id="20" name="Text 18"/>
          <p:cNvSpPr/>
          <p:nvPr/>
        </p:nvSpPr>
        <p:spPr>
          <a:xfrm>
            <a:off x="457189" y="5051326"/>
            <a:ext cx="3530512"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Tạo hình; kiểm palette và anchor.</a:t>
            </a:r>
            <a:endParaRPr lang="en-US" sz="1500" dirty="0"/>
          </a:p>
        </p:txBody>
      </p:sp>
      <p:sp>
        <p:nvSpPr>
          <p:cNvPr id="21" name="Text 19"/>
          <p:cNvSpPr/>
          <p:nvPr/>
        </p:nvSpPr>
        <p:spPr>
          <a:xfrm>
            <a:off x="4444889" y="4272459"/>
            <a:ext cx="833119"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05</a:t>
            </a:r>
            <a:endParaRPr lang="en-US" sz="1500" dirty="0"/>
          </a:p>
        </p:txBody>
      </p:sp>
      <p:sp>
        <p:nvSpPr>
          <p:cNvPr id="22" name="Shape 20"/>
          <p:cNvSpPr/>
          <p:nvPr/>
        </p:nvSpPr>
        <p:spPr>
          <a:xfrm>
            <a:off x="4444889" y="4539159"/>
            <a:ext cx="3301917" cy="19050"/>
          </a:xfrm>
          <a:prstGeom prst="rect">
            <a:avLst/>
          </a:prstGeom>
          <a:solidFill>
            <a:srgbClr val="1E5E52"/>
          </a:solidFill>
          <a:ln/>
        </p:spPr>
      </p:sp>
      <p:sp>
        <p:nvSpPr>
          <p:cNvPr id="23" name="Text 21"/>
          <p:cNvSpPr/>
          <p:nvPr/>
        </p:nvSpPr>
        <p:spPr>
          <a:xfrm>
            <a:off x="4444889" y="4672509"/>
            <a:ext cx="3301917"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Thi công từng task</a:t>
            </a:r>
            <a:endParaRPr lang="en-US" sz="1800" dirty="0"/>
          </a:p>
        </p:txBody>
      </p:sp>
      <p:sp>
        <p:nvSpPr>
          <p:cNvPr id="24" name="Text 22"/>
          <p:cNvSpPr/>
          <p:nvPr/>
        </p:nvSpPr>
        <p:spPr>
          <a:xfrm>
            <a:off x="4444889" y="5051326"/>
            <a:ext cx="3301917"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Kiểm qua Measure và Critic.</a:t>
            </a:r>
            <a:endParaRPr lang="en-US" sz="1500" dirty="0"/>
          </a:p>
        </p:txBody>
      </p:sp>
      <p:sp>
        <p:nvSpPr>
          <p:cNvPr id="25" name="Text 23"/>
          <p:cNvSpPr/>
          <p:nvPr/>
        </p:nvSpPr>
        <p:spPr>
          <a:xfrm>
            <a:off x="8203995" y="4272459"/>
            <a:ext cx="839568" cy="190500"/>
          </a:xfrm>
          <a:prstGeom prst="rect">
            <a:avLst/>
          </a:prstGeom>
          <a:noFill/>
          <a:ln/>
        </p:spPr>
        <p:txBody>
          <a:bodyPr wrap="none" lIns="0" tIns="0" rIns="0" bIns="0" rtlCol="0" anchor="t"/>
          <a:lstStyle/>
          <a:p>
            <a:pPr algn="l" indent="0" marL="0">
              <a:lnSpc>
                <a:spcPct val="83000"/>
              </a:lnSpc>
              <a:buNone/>
            </a:pPr>
            <a:r>
              <a:rPr lang="en-US" sz="1500" dirty="0">
                <a:solidFill>
                  <a:srgbClr val="1E5E52"/>
                </a:solidFill>
                <a:latin typeface="Lora SemiBold" pitchFamily="34" charset="0"/>
                <a:ea typeface="Lora SemiBold" pitchFamily="34" charset="-122"/>
                <a:cs typeface="Lora SemiBold" pitchFamily="34" charset="-120"/>
              </a:rPr>
              <a:t>06</a:t>
            </a:r>
            <a:endParaRPr lang="en-US" sz="1500" dirty="0"/>
          </a:p>
        </p:txBody>
      </p:sp>
      <p:sp>
        <p:nvSpPr>
          <p:cNvPr id="26" name="Shape 24"/>
          <p:cNvSpPr/>
          <p:nvPr/>
        </p:nvSpPr>
        <p:spPr>
          <a:xfrm>
            <a:off x="8203995" y="4539159"/>
            <a:ext cx="3530512" cy="19050"/>
          </a:xfrm>
          <a:prstGeom prst="rect">
            <a:avLst/>
          </a:prstGeom>
          <a:solidFill>
            <a:srgbClr val="1E5E52"/>
          </a:solidFill>
          <a:ln/>
        </p:spPr>
      </p:sp>
      <p:sp>
        <p:nvSpPr>
          <p:cNvPr id="27" name="Text 25"/>
          <p:cNvSpPr/>
          <p:nvPr/>
        </p:nvSpPr>
        <p:spPr>
          <a:xfrm>
            <a:off x="8203995" y="4672509"/>
            <a:ext cx="3530512"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Playtest bằng tay</a:t>
            </a:r>
            <a:endParaRPr lang="en-US" sz="1800" dirty="0"/>
          </a:p>
        </p:txBody>
      </p:sp>
      <p:sp>
        <p:nvSpPr>
          <p:cNvPr id="28" name="Text 26"/>
          <p:cNvSpPr/>
          <p:nvPr/>
        </p:nvSpPr>
        <p:spPr>
          <a:xfrm>
            <a:off x="8203995" y="5051326"/>
            <a:ext cx="3530512"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Ghi lỗi, sửa rồi lặp lại.</a:t>
            </a:r>
            <a:endParaRPr lang="en-US" sz="1500" dirty="0"/>
          </a:p>
        </p:txBody>
      </p:sp>
      <p:sp>
        <p:nvSpPr>
          <p:cNvPr id="29" name="Text 27"/>
          <p:cNvSpPr/>
          <p:nvPr/>
        </p:nvSpPr>
        <p:spPr>
          <a:xfrm>
            <a:off x="457189" y="6115050"/>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Phát triển từ sáu bước trong bản thảo. Sau playtest, quay lại task hoặc giả định cần sửa.</a:t>
            </a:r>
            <a:endParaRPr lang="en-US" sz="1500" dirty="0"/>
          </a:p>
        </p:txBody>
      </p:sp>
      <p:sp>
        <p:nvSpPr>
          <p:cNvPr id="30" name="Text 28"/>
          <p:cNvSpPr/>
          <p:nvPr/>
        </p:nvSpPr>
        <p:spPr>
          <a:xfrm>
            <a:off x="11613661" y="6529388"/>
            <a:ext cx="578034" cy="200025"/>
          </a:xfrm>
          <a:prstGeom prst="rect">
            <a:avLst/>
          </a:prstGeom>
          <a:noFill/>
          <a:ln/>
        </p:spPr>
        <p:txBody>
          <a:bodyPr wrap="none" lIns="0" tIns="0" rIns="0" bIns="0" rtlCol="0" anchor="ctr"/>
          <a:lstStyle/>
          <a:p>
            <a:pPr algn="l" indent="0" marL="0">
              <a:lnSpc>
                <a:spcPct val="125000"/>
              </a:lnSpc>
              <a:buNone/>
            </a:pPr>
            <a:r>
              <a:rPr lang="en-US" sz="1050" dirty="0">
                <a:solidFill>
                  <a:srgbClr val="2D241E"/>
                </a:solidFill>
                <a:latin typeface="Lora" pitchFamily="34" charset="0"/>
                <a:ea typeface="Lora" pitchFamily="34" charset="-122"/>
                <a:cs typeface="Lora"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ED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678" cy="6858000"/>
          </a:xfrm>
          <a:prstGeom prst="rect">
            <a:avLst/>
          </a:prstGeom>
        </p:spPr>
      </p:pic>
      <p:sp>
        <p:nvSpPr>
          <p:cNvPr id="3" name="Text 0"/>
          <p:cNvSpPr/>
          <p:nvPr/>
        </p:nvSpPr>
        <p:spPr>
          <a:xfrm>
            <a:off x="5333867" y="457200"/>
            <a:ext cx="6857828" cy="209550"/>
          </a:xfrm>
          <a:prstGeom prst="rect">
            <a:avLst/>
          </a:prstGeom>
          <a:noFill/>
          <a:ln/>
        </p:spPr>
        <p:txBody>
          <a:bodyPr wrap="none" lIns="0" tIns="0" rIns="0" bIns="0" rtlCol="0" anchor="t"/>
          <a:lstStyle/>
          <a:p>
            <a:pPr algn="l" indent="0" marL="0">
              <a:lnSpc>
                <a:spcPct val="125000"/>
              </a:lnSpc>
              <a:buNone/>
            </a:pPr>
            <a:r>
              <a:rPr lang="en-US" sz="1100" spc="66" kern="100" dirty="0">
                <a:solidFill>
                  <a:srgbClr val="1E5E52"/>
                </a:solidFill>
                <a:latin typeface="Lora" pitchFamily="34" charset="0"/>
                <a:ea typeface="Lora" pitchFamily="34" charset="-122"/>
                <a:cs typeface="Lora" pitchFamily="34" charset="-120"/>
              </a:rPr>
              <a:t>— KIỂM TRONG GAME, HỎI VỀ WORKFLOW</a:t>
            </a:r>
            <a:endParaRPr lang="en-US" sz="1100" dirty="0"/>
          </a:p>
        </p:txBody>
      </p:sp>
      <p:sp>
        <p:nvSpPr>
          <p:cNvPr id="4" name="Text 1"/>
          <p:cNvSpPr/>
          <p:nvPr/>
        </p:nvSpPr>
        <p:spPr>
          <a:xfrm>
            <a:off x="5333867" y="742950"/>
            <a:ext cx="6400640" cy="538460"/>
          </a:xfrm>
          <a:prstGeom prst="rect">
            <a:avLst/>
          </a:prstGeom>
          <a:noFill/>
          <a:ln/>
        </p:spPr>
        <p:txBody>
          <a:bodyPr wrap="none" lIns="0" tIns="0" rIns="0" bIns="0" rtlCol="0" anchor="t"/>
          <a:lstStyle/>
          <a:p>
            <a:pPr algn="l" indent="0" marL="0">
              <a:lnSpc>
                <a:spcPct val="88000"/>
              </a:lnSpc>
              <a:buNone/>
            </a:pPr>
            <a:r>
              <a:rPr lang="en-US" sz="4000" b="1" dirty="0">
                <a:solidFill>
                  <a:srgbClr val="1E5E52"/>
                </a:solidFill>
                <a:latin typeface="Playfair Display Bold" pitchFamily="34" charset="0"/>
                <a:ea typeface="Playfair Display Bold" pitchFamily="34" charset="-122"/>
                <a:cs typeface="Playfair Display Bold" pitchFamily="34" charset="-120"/>
              </a:rPr>
              <a:t>Live demo và Q&amp;A</a:t>
            </a:r>
            <a:endParaRPr lang="en-US" sz="4000" dirty="0"/>
          </a:p>
        </p:txBody>
      </p:sp>
      <p:sp>
        <p:nvSpPr>
          <p:cNvPr id="5" name="Shape 2"/>
          <p:cNvSpPr/>
          <p:nvPr/>
        </p:nvSpPr>
        <p:spPr>
          <a:xfrm>
            <a:off x="5333867" y="1706463"/>
            <a:ext cx="800080" cy="31651"/>
          </a:xfrm>
          <a:prstGeom prst="roundRect">
            <a:avLst>
              <a:gd name="adj" fmla="val 49998"/>
            </a:avLst>
          </a:prstGeom>
          <a:solidFill>
            <a:srgbClr val="E5B842"/>
          </a:solidFill>
          <a:ln/>
        </p:spPr>
      </p:sp>
      <p:sp>
        <p:nvSpPr>
          <p:cNvPr id="6" name="Text 3"/>
          <p:cNvSpPr/>
          <p:nvPr/>
        </p:nvSpPr>
        <p:spPr>
          <a:xfrm>
            <a:off x="5333867" y="2144216"/>
            <a:ext cx="6400640"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Combat</a:t>
            </a:r>
            <a:endParaRPr lang="en-US" sz="1800" dirty="0"/>
          </a:p>
        </p:txBody>
      </p:sp>
      <p:sp>
        <p:nvSpPr>
          <p:cNvPr id="7" name="Text 4"/>
          <p:cNvSpPr/>
          <p:nvPr/>
        </p:nvSpPr>
        <p:spPr>
          <a:xfrm>
            <a:off x="5333867" y="2523034"/>
            <a:ext cx="6400640"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Undead Executioner ba phase và minion summon.</a:t>
            </a:r>
            <a:endParaRPr lang="en-US" sz="1500" dirty="0"/>
          </a:p>
        </p:txBody>
      </p:sp>
      <p:sp>
        <p:nvSpPr>
          <p:cNvPr id="8" name="Text 5"/>
          <p:cNvSpPr/>
          <p:nvPr/>
        </p:nvSpPr>
        <p:spPr>
          <a:xfrm>
            <a:off x="5333867" y="3465711"/>
            <a:ext cx="6400640"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UI và dữ liệu</a:t>
            </a:r>
            <a:endParaRPr lang="en-US" sz="1800" dirty="0"/>
          </a:p>
        </p:txBody>
      </p:sp>
      <p:sp>
        <p:nvSpPr>
          <p:cNvPr id="9" name="Text 6"/>
          <p:cNvSpPr/>
          <p:nvPr/>
        </p:nvSpPr>
        <p:spPr>
          <a:xfrm>
            <a:off x="5333867" y="3844528"/>
            <a:ext cx="6400640" cy="29210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Hotbar kéo thả, đổi class; mở </a:t>
            </a:r>
            <a:pPr algn="l" indent="0" marL="0">
              <a:lnSpc>
                <a:spcPct val="125000"/>
              </a:lnSpc>
              <a:buNone/>
            </a:pPr>
            <a:r>
              <a:rPr lang="en-US" sz="1500" dirty="0">
                <a:solidFill>
                  <a:srgbClr val="2D241E"/>
                </a:solidFill>
                <a:highlight>
                  <a:srgbClr val="E9DFC6"/>
                </a:highlight>
                <a:latin typeface="Consolas" pitchFamily="34" charset="0"/>
                <a:ea typeface="Consolas" pitchFamily="34" charset="-122"/>
                <a:cs typeface="Consolas" pitchFamily="34" charset="-120"/>
              </a:rPr>
              <a:t>bugfix_plan.md</a:t>
            </a:r>
            <a:pPr algn="l" indent="0" marL="0">
              <a:lnSpc>
                <a:spcPct val="125000"/>
              </a:lnSpc>
              <a:buNone/>
            </a:pPr>
            <a:r>
              <a:rPr lang="en-US" sz="1500" dirty="0">
                <a:solidFill>
                  <a:srgbClr val="2D241E"/>
                </a:solidFill>
                <a:latin typeface="Lora" pitchFamily="34" charset="0"/>
                <a:ea typeface="Lora" pitchFamily="34" charset="-122"/>
                <a:cs typeface="Lora" pitchFamily="34" charset="-120"/>
              </a:rPr>
              <a:t> trong IDE.</a:t>
            </a:r>
            <a:endParaRPr lang="en-US" sz="1500" dirty="0"/>
          </a:p>
        </p:txBody>
      </p:sp>
      <p:sp>
        <p:nvSpPr>
          <p:cNvPr id="10" name="Text 7"/>
          <p:cNvSpPr/>
          <p:nvPr/>
        </p:nvSpPr>
        <p:spPr>
          <a:xfrm>
            <a:off x="5333867" y="4793555"/>
            <a:ext cx="6400640" cy="242292"/>
          </a:xfrm>
          <a:prstGeom prst="rect">
            <a:avLst/>
          </a:prstGeom>
          <a:noFill/>
          <a:ln/>
        </p:spPr>
        <p:txBody>
          <a:bodyPr wrap="none" lIns="0" tIns="0" rIns="0" bIns="0" rtlCol="0" anchor="t"/>
          <a:lstStyle/>
          <a:p>
            <a:pPr algn="l" indent="0" marL="0">
              <a:lnSpc>
                <a:spcPct val="88000"/>
              </a:lnSpc>
              <a:buNone/>
            </a:pPr>
            <a:r>
              <a:rPr lang="en-US" sz="1800" dirty="0">
                <a:solidFill>
                  <a:srgbClr val="1E5E52"/>
                </a:solidFill>
                <a:latin typeface="Lora SemiBold" pitchFamily="34" charset="0"/>
                <a:ea typeface="Lora SemiBold" pitchFamily="34" charset="-122"/>
                <a:cs typeface="Lora SemiBold" pitchFamily="34" charset="-120"/>
              </a:rPr>
              <a:t>Q&amp;A</a:t>
            </a:r>
            <a:endParaRPr lang="en-US" sz="1800" dirty="0"/>
          </a:p>
        </p:txBody>
      </p:sp>
      <p:sp>
        <p:nvSpPr>
          <p:cNvPr id="11" name="Text 8"/>
          <p:cNvSpPr/>
          <p:nvPr/>
        </p:nvSpPr>
        <p:spPr>
          <a:xfrm>
            <a:off x="5333867" y="5172373"/>
            <a:ext cx="6400640" cy="285750"/>
          </a:xfrm>
          <a:prstGeom prst="rect">
            <a:avLst/>
          </a:prstGeom>
          <a:noFill/>
          <a:ln/>
        </p:spPr>
        <p:txBody>
          <a:bodyPr wrap="none" lIns="0" tIns="0" rIns="0" bIns="0" rtlCol="0" anchor="t"/>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Chi phí thực tế, token và thiết lập workflow.</a:t>
            </a:r>
            <a:endParaRPr lang="en-US" sz="1500" dirty="0"/>
          </a:p>
        </p:txBody>
      </p:sp>
      <p:sp>
        <p:nvSpPr>
          <p:cNvPr id="12" name="Text 9"/>
          <p:cNvSpPr/>
          <p:nvPr/>
        </p:nvSpPr>
        <p:spPr>
          <a:xfrm>
            <a:off x="5333867" y="5829300"/>
            <a:ext cx="6400640" cy="57150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2D241E"/>
                </a:solidFill>
                <a:latin typeface="Lora" pitchFamily="34" charset="0"/>
                <a:ea typeface="Lora" pitchFamily="34" charset="-122"/>
                <a:cs typeface="Lora" pitchFamily="34" charset="-120"/>
              </a:rPr>
              <a:t>Xác nhận chức năng trước buổi nói. Chuẩn bị save state và bản quay dự phòng. Hình là minh họa.</a:t>
            </a:r>
            <a:endParaRPr lang="en-US" sz="1500" dirty="0"/>
          </a:p>
        </p:txBody>
      </p:sp>
      <p:sp>
        <p:nvSpPr>
          <p:cNvPr id="13" name="Shape 10"/>
          <p:cNvSpPr/>
          <p:nvPr/>
        </p:nvSpPr>
        <p:spPr>
          <a:xfrm>
            <a:off x="5333867" y="3230761"/>
            <a:ext cx="6400640" cy="12700"/>
          </a:xfrm>
          <a:prstGeom prst="rect">
            <a:avLst/>
          </a:prstGeom>
          <a:solidFill>
            <a:srgbClr val="C9B995"/>
          </a:solidFill>
          <a:ln/>
        </p:spPr>
      </p:sp>
      <p:sp>
        <p:nvSpPr>
          <p:cNvPr id="14" name="Shape 11"/>
          <p:cNvSpPr/>
          <p:nvPr/>
        </p:nvSpPr>
        <p:spPr>
          <a:xfrm>
            <a:off x="5333867" y="4558605"/>
            <a:ext cx="6400640" cy="12700"/>
          </a:xfrm>
          <a:prstGeom prst="rect">
            <a:avLst/>
          </a:prstGeom>
          <a:solidFill>
            <a:srgbClr val="C9B99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2026-10-04T12:29:52Z</dcterms:created>
  <dcterms:modified xsi:type="dcterms:W3CDTF">2026-10-04T12:29:52Z</dcterms:modified>
</cp:coreProperties>
</file>