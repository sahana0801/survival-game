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embeddedFontLst>
    <p:embeddedFont>
      <p:font typeface="M PLUS 1 Code" panose="020B0600070205080204" charset="-128"/>
      <p:regular r:id="rId16"/>
    </p:embeddedFont>
    <p:embeddedFont>
      <p:font typeface="M PLUS 1 Code Bold" panose="020B0600070205080204" charset="-128"/>
      <p:regular r:id="rId17"/>
    </p:embeddedFont>
    <p:embeddedFont>
      <p:font typeface="M PLUS 1 Code Medium" panose="020B0600070205080204" charset="-128"/>
      <p:regular r:id="rId18"/>
    </p:embeddedFont>
    <p:embeddedFont>
      <p:font typeface="Calibri" panose="020F0502020204030204" pitchFamily="34" charset="0"/>
      <p:regular r:id="rId19"/>
      <p:bold r:id="rId20"/>
      <p:italic r:id="rId21"/>
      <p:boldItalic r:id="rId22"/>
    </p:embeddedFont>
    <p:embeddedFont>
      <p:font typeface="Carlito Bold" panose="020B0600070205080204" charset="0"/>
      <p:regular r:id="rId23"/>
    </p:embeddedFont>
    <p:embeddedFont>
      <p:font typeface="Consolas" panose="020B0609020204030204" pitchFamily="49" charset="0"/>
      <p:regular r:id="rId24"/>
      <p:bold r:id="rId25"/>
      <p:italic r:id="rId26"/>
      <p:boldItalic r:id="rId27"/>
    </p:embeddedFont>
    <p:embeddedFont>
      <p:font typeface="Inconsolata" pitchFamily="1" charset="0"/>
      <p:regular r:id="rId28"/>
    </p:embeddedFont>
    <p:embeddedFont>
      <p:font typeface="Noto Sans" panose="020B0502040504020204" pitchFamily="34" charset="0"/>
      <p:regular r:id="rId29"/>
    </p:embeddedFont>
    <p:embeddedFont>
      <p:font typeface="Noto Sans Black" panose="020B0600070205080204" charset="0"/>
      <p:regular r:id="rId30"/>
    </p:embeddedFont>
    <p:embeddedFont>
      <p:font typeface="Noto Sans Bold" panose="020B0600070205080204" charset="0"/>
      <p:regular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8" d="100"/>
          <a:sy n="128" d="100"/>
        </p:scale>
        <p:origin x="22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8168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các anh/chị và các bạn đồng nghiệp. Hôm nay em xin phép chia sẻ lại một số bài học thực chiến đúc rút từ quá trình ứng dụng AI vào phát triển một dự án game 2D Survival hoàn chỉnh trên Godot 4.7.Mục tiêu của buổi chia sẻ này không phải để thần thánh hóa AI hay nói về lý thuyết viển vông, mà là cùng nhìn vào thực tế: AI làm được những gì, AI hoàn toàn bất lực ở đâu, và làm thế nào để chúng ta kiểm soát được rủi ro khi quy mô code tăng từ vài chục dòng lên hàng ngàn dòng.Rất mong nhận được những góp ý và thảo luận từ các anh/chị sau bài trình bày ạ.</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ghi nhận hiện tại: 65 file GDScript, khoảng 5.700 dòng, 50 scene và 99 Godot Domain Skills.Số dòng không đo chất lượng. Điều quan trọng là số quan hệ cần kiểm soát: input có thể tác động lên UI, scene phụ thuộc tài nguyên khác và một bugfix có thể làm hỏng hành vi đang chạy tốt.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nói về làm game bằng AI, nhiều anh/chị chắc chắn đã thấy các demo rất ấn tượng trên mạng: dùng Claude Opus 5.5 kết hợp MCP điều khiển Unreal 5. AI bây giờ thực sự rất mạnh và hoàn toàn can thiệp được vào Unreal hay Unity.Nhưng lý do em chọn Godot cho dự án này là bài toán Hiệu quả và Tốc độ phản hồi (Feedback Loop):1. Unreal 5 giống như xe tăng: cực kỳ uy lực nhưng ngốn tài nguyên, ngốn hàng tỷ token (vài ngàn USD) và setup MCP phức tạp.2. Unity rất quen thuộc với C#, nhưng vẫn vướng "The Editor Gap" vì phải dùng chuột thao tác Inspector và Domain Reload làm gián đoạn nhịp chạy của Agent.3. Godot giống như xe đạp điện mini: 100MB, file scene dạng text thuần giúp AI đọc diff cực sạch, test ngầm trong nửa giây, và chi phí API chỉ bằng một bữa ăn. Với game 2D/2.5D, Godot cho tốc độ lặp (iteration) nhanh nhất.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tách hai vai trò. Claude làm Architect: phân tích repo, nhận diện rủi ro và viết spec. GPT-5.6 Sol / Antigravity Agent làm Builder với 99 Domain Skills: thi công, viết test và báo cáo diff. Đây là cấu hình của workflow dự án, không phải khẳng định chỉ các model này mới làm được những vai trò ấy.Ví dụ hợp đồng sửa lỗi phải đủ cụ thể: can thiệp input handler trong inventory_ui.gd để click Hotbar không bắn tên; không sửa script player. Ràng buộc này khiến Builder không tự mở rộng bugfix sang hệ thống chiến đấu. Tôi duyệt phạm vi trước khi cho thi công.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Collision Layer xác định nhóm mà đối tượng thuộc về. Mask xác định các nhóm mà đối tượng cần xét tương tác. Hai câu hỏi này khác nhau, nên cần ghi rõ trong spec thay vì chỉ nói “sửa collision”.Solid body dùng để cản chuyển động; area trigger dùng để nhận sự kiện khi đối tượng đi vào hoặc đi ra, không tự trở thành bức tường. Trong dự án, bug WaterBlock nuốt mũi tên đến từ việc gán vũng nước thành Solid Collider. Khi debug, kiểm tra nhóm, mask và loại node trước khi sửa logic.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sửa, Architect khảo sát repo để biết UI, data và input đang nằm ở đâu. bugfix_plan.md cần nêu nguyên nhân giả định, file sẽ can thiệp, diff dự kiến và kịch bản test. Tôi xem lại trước khi Builder bắt đầu.Với lỗi click Hotbar bắn tên, kế hoạch mẫu tập trung vào đường xử lý input của inventory_ui.gd, xác định click UI phải được xử lý đúng, và thử lại cả thao tác Hotbar lẫn bắn tên ngoài UI. Nếu khảo sát cho thấy cần sửa ngoài phạm vi, phải cập nhật kế hoạch và xin duyệt lại. Đây là mẫu cách viết kế hoạch, không phải diff đã được cung cấp trong bài.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phiên dài ôm nhiều tính năng làm context phình to và AI dễ nhầm. Mỗi task một phiên mới chỉ nạp Spec và file liên quan, commit từng phần. Số liệu là dữ liệu dự án do người dùng cung cấp.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Gauntlet Loop bắt đầu khi Worker nộp diff. Measure chạy kiểm thử và Critic rà soát độc lập, hai nhánh chạy song song. Bất kỳ nhánh nào thất bại đều đưa task về Worker. Sau khi các nhánh đạt yêu cầu, con người vẫn playtest và duyệt cuối trước merge. Hai agent đồng thuận không đồng nghĩa với game có cảm giác đúng hoặc UI dùng được.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asset của tôi gặp ba loại lỗi. Mixels là các khối pixel không đồng đều về kích thước, làm hình thiếu nhất quán khi đưa vào game. Frame bleeding là nội dung tràn qua ranh giới ô trên sprite sheet. Frame drift là tâm hoặc bàn chân dịch chuyển ngoài ý muốn giữa các frame.Hình ở đây là lưới kỹ thuật tôi vẽ để giải thích, không phải ảnh lỗi hay nhân vật lấy từ dự án. Một ảnh đơn có thể nhìn đẹp nhưng khi cắt sheet và chạy animation mới lộ vấn đề. Vì vậy tôi kiểm tra kích thước pixel, ranh giới frame và điểm neo thay vì chỉ duyệt bằng mắt trên ảnh tổng.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Anchor bắt đầu với canvas 1024 × 1024 và nền chroma key. Pixel Snapping giới hạn palette và dùng nearest-neighbor. Pose Board: Attack 8, Hurt 6, Death 10 frame (lựa chọn của dự án). Recovery &amp; Curation tách nền, kiểm tra bounding box, loại frame lỗi. Anchoring &amp; Onion Skin giữ chân ổn định và chạy thử bằng AnimatedSprite2D trong Godot.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dự án này, tôi trực tiếp dựng map trong Godot. Y-sort, bố trí cây, bờ hồ, lối đi và giếng nước cần xem cùng trải nghiệm người chơi. Đây là giới hạn tôi gặp trong workflow của mình, không phải tuyên bố AI hoàn toàn không thể hỗ trợ level design.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chia việc theo mức độ cần phán đoán. Thuật toán, state machine, refactor và test là nhóm AI có thể dẫn dắt thi công dưới spec và kiểm tra. Khi lắp scene, animation hoặc UI, tôi cần kèm vì có nhiều quan hệ trực quan và phụ thuộc tài nguyên. Với map, game feel, balance và scope, tôi giữ quyền quyết định thiết kế. Các nhãn phân công là gợi ý của tác giả, không phải số đo hiệu suất hay độ chính xác được kiểm chứng.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5E4D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1000" cy="6858000"/>
          </a:xfrm>
          <a:prstGeom prst="rect">
            <a:avLst/>
          </a:prstGeom>
        </p:spPr>
      </p:pic>
      <p:pic>
        <p:nvPicPr>
          <p:cNvPr id="4" name="Image 2" descr="preencoded.png"/>
          <p:cNvPicPr>
            <a:picLocks noChangeAspect="1"/>
          </p:cNvPicPr>
          <p:nvPr/>
        </p:nvPicPr>
        <p:blipFill>
          <a:blip r:embed="rId5"/>
          <a:stretch>
            <a:fillRect/>
          </a:stretch>
        </p:blipFill>
        <p:spPr>
          <a:xfrm>
            <a:off x="0" y="0"/>
            <a:ext cx="12191000" cy="6858000"/>
          </a:xfrm>
          <a:prstGeom prst="rect">
            <a:avLst/>
          </a:prstGeom>
        </p:spPr>
      </p:pic>
      <p:sp>
        <p:nvSpPr>
          <p:cNvPr id="7" name="Shape 0"/>
          <p:cNvSpPr/>
          <p:nvPr/>
        </p:nvSpPr>
        <p:spPr>
          <a:xfrm>
            <a:off x="5610283" y="1673225"/>
            <a:ext cx="5946329" cy="3774281"/>
          </a:xfrm>
          <a:prstGeom prst="roundRect">
            <a:avLst>
              <a:gd name="adj" fmla="val 4845"/>
            </a:avLst>
          </a:prstGeom>
          <a:noFill/>
          <a:ln/>
          <a:effectLst>
            <a:outerShdw blurRad="303530" dist="113030" dir="5400000" algn="bl" rotWithShape="0">
              <a:srgbClr val="000000">
                <a:alpha val="50000"/>
              </a:srgbClr>
            </a:outerShdw>
          </a:effectLst>
        </p:spPr>
      </p:sp>
      <p:pic>
        <p:nvPicPr>
          <p:cNvPr id="8" name="Image 5" descr="preencoded.png"/>
          <p:cNvPicPr>
            <a:picLocks noChangeAspect="1"/>
          </p:cNvPicPr>
          <p:nvPr/>
        </p:nvPicPr>
        <p:blipFill rotWithShape="1">
          <a:blip r:embed="rId6"/>
          <a:srcRect l="-1067" t="-3768" r="1067" b="582"/>
          <a:stretch/>
        </p:blipFill>
        <p:spPr>
          <a:xfrm>
            <a:off x="5833656" y="1714388"/>
            <a:ext cx="5499580" cy="3630434"/>
          </a:xfrm>
          <a:prstGeom prst="rect">
            <a:avLst/>
          </a:prstGeom>
        </p:spPr>
      </p:pic>
      <p:sp>
        <p:nvSpPr>
          <p:cNvPr id="9" name="Text 1"/>
          <p:cNvSpPr/>
          <p:nvPr/>
        </p:nvSpPr>
        <p:spPr>
          <a:xfrm>
            <a:off x="657209" y="889000"/>
            <a:ext cx="5632309"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FFFFFF"/>
                </a:solidFill>
                <a:latin typeface="M PLUS 1 Code Medium" pitchFamily="34" charset="0"/>
                <a:ea typeface="M PLUS 1 Code Medium" pitchFamily="34" charset="-122"/>
                <a:cs typeface="M PLUS 1 Code Medium" pitchFamily="34" charset="-120"/>
              </a:rPr>
              <a:t>NHẬT KÝ PHÁT TRIỂN </a:t>
            </a:r>
            <a:endParaRPr lang="en-US" sz="1100" dirty="0"/>
          </a:p>
        </p:txBody>
      </p:sp>
      <p:sp>
        <p:nvSpPr>
          <p:cNvPr id="11" name="Shape 3"/>
          <p:cNvSpPr/>
          <p:nvPr/>
        </p:nvSpPr>
        <p:spPr>
          <a:xfrm>
            <a:off x="597449" y="3025592"/>
            <a:ext cx="2039688" cy="31452"/>
          </a:xfrm>
          <a:prstGeom prst="roundRect">
            <a:avLst>
              <a:gd name="adj" fmla="val 49999"/>
            </a:avLst>
          </a:prstGeom>
          <a:solidFill>
            <a:srgbClr val="C8321A"/>
          </a:solidFill>
          <a:ln/>
        </p:spPr>
      </p:sp>
      <p:sp>
        <p:nvSpPr>
          <p:cNvPr id="12" name="Text 4"/>
          <p:cNvSpPr/>
          <p:nvPr/>
        </p:nvSpPr>
        <p:spPr>
          <a:xfrm>
            <a:off x="585491" y="3157240"/>
            <a:ext cx="5333867" cy="670520"/>
          </a:xfrm>
          <a:prstGeom prst="rect">
            <a:avLst/>
          </a:prstGeom>
          <a:noFill/>
          <a:ln/>
        </p:spPr>
        <p:txBody>
          <a:bodyPr wrap="square" lIns="0" tIns="0" rIns="0" bIns="0" rtlCol="0" anchor="t">
            <a:normAutofit/>
          </a:bodyPr>
          <a:lstStyle/>
          <a:p>
            <a:pPr marL="0" indent="0" algn="l">
              <a:lnSpc>
                <a:spcPct val="110000"/>
              </a:lnSpc>
              <a:buNone/>
            </a:pPr>
            <a:r>
              <a:rPr lang="en-US" sz="2000" b="1" dirty="0" err="1">
                <a:solidFill>
                  <a:srgbClr val="FFFFFF"/>
                </a:solidFill>
                <a:latin typeface="Carlito Bold" pitchFamily="34" charset="0"/>
                <a:ea typeface="Carlito Bold" pitchFamily="34" charset="-122"/>
                <a:cs typeface="Carlito Bold" pitchFamily="34" charset="-120"/>
              </a:rPr>
              <a:t>Bài</a:t>
            </a:r>
            <a:r>
              <a:rPr lang="en-US" sz="2000" b="1" dirty="0">
                <a:solidFill>
                  <a:srgbClr val="FFFFFF"/>
                </a:solidFill>
                <a:latin typeface="Carlito Bold" pitchFamily="34" charset="0"/>
                <a:ea typeface="Carlito Bold" pitchFamily="34" charset="-122"/>
                <a:cs typeface="Carlito Bold" pitchFamily="34" charset="-120"/>
              </a:rPr>
              <a:t> </a:t>
            </a:r>
            <a:r>
              <a:rPr lang="en-US" sz="2000" b="1" dirty="0" err="1">
                <a:solidFill>
                  <a:srgbClr val="FFFFFF"/>
                </a:solidFill>
                <a:latin typeface="Carlito Bold" pitchFamily="34" charset="0"/>
                <a:ea typeface="Carlito Bold" pitchFamily="34" charset="-122"/>
                <a:cs typeface="Carlito Bold" pitchFamily="34" charset="-120"/>
              </a:rPr>
              <a:t>toán</a:t>
            </a:r>
            <a:r>
              <a:rPr lang="en-US" sz="2000" b="1" dirty="0">
                <a:solidFill>
                  <a:srgbClr val="FFFFFF"/>
                </a:solidFill>
                <a:latin typeface="Carlito Bold" pitchFamily="34" charset="0"/>
                <a:ea typeface="Carlito Bold" pitchFamily="34" charset="-122"/>
                <a:cs typeface="Carlito Bold" pitchFamily="34" charset="-120"/>
              </a:rPr>
              <a:t> </a:t>
            </a:r>
            <a:r>
              <a:rPr lang="en-US" sz="2000" b="1" dirty="0" err="1">
                <a:solidFill>
                  <a:srgbClr val="FFFFFF"/>
                </a:solidFill>
                <a:latin typeface="Carlito Bold" pitchFamily="34" charset="0"/>
                <a:ea typeface="Carlito Bold" pitchFamily="34" charset="-122"/>
                <a:cs typeface="Carlito Bold" pitchFamily="34" charset="-120"/>
              </a:rPr>
              <a:t>phân</a:t>
            </a:r>
            <a:r>
              <a:rPr lang="en-US" sz="2000" b="1" dirty="0">
                <a:solidFill>
                  <a:srgbClr val="FFFFFF"/>
                </a:solidFill>
                <a:latin typeface="Carlito Bold" pitchFamily="34" charset="0"/>
                <a:ea typeface="Carlito Bold" pitchFamily="34" charset="-122"/>
                <a:cs typeface="Carlito Bold" pitchFamily="34" charset="-120"/>
              </a:rPr>
              <a:t> </a:t>
            </a:r>
            <a:r>
              <a:rPr lang="en-US" sz="2000" b="1" dirty="0" err="1">
                <a:solidFill>
                  <a:srgbClr val="FFFFFF"/>
                </a:solidFill>
                <a:latin typeface="Carlito Bold" pitchFamily="34" charset="0"/>
                <a:ea typeface="Carlito Bold" pitchFamily="34" charset="-122"/>
                <a:cs typeface="Carlito Bold" pitchFamily="34" charset="-120"/>
              </a:rPr>
              <a:t>vai</a:t>
            </a:r>
            <a:br>
              <a:rPr lang="vi-VN" sz="2000" b="1" dirty="0">
                <a:solidFill>
                  <a:srgbClr val="FFFFFF"/>
                </a:solidFill>
                <a:latin typeface="Carlito Bold" pitchFamily="34" charset="0"/>
                <a:ea typeface="Carlito Bold" pitchFamily="34" charset="-122"/>
                <a:cs typeface="Carlito Bold" pitchFamily="34" charset="-120"/>
              </a:rPr>
            </a:br>
            <a:r>
              <a:rPr lang="vi-VN" sz="2000" b="1" dirty="0">
                <a:solidFill>
                  <a:srgbClr val="E5B842"/>
                </a:solidFill>
                <a:latin typeface="Carlito Bold" pitchFamily="34" charset="0"/>
                <a:ea typeface="Carlito Bold" pitchFamily="34" charset="-122"/>
                <a:cs typeface="Carlito Bold" pitchFamily="34" charset="-120"/>
              </a:rPr>
              <a:t>Kiểm soát chất lượng &amp; nghiệm thu</a:t>
            </a:r>
            <a:r>
              <a:rPr lang="en-US" sz="2000" b="1" dirty="0">
                <a:solidFill>
                  <a:srgbClr val="E5B842"/>
                </a:solidFill>
                <a:latin typeface="Carlito Bold" pitchFamily="34" charset="0"/>
                <a:ea typeface="Carlito Bold" pitchFamily="34" charset="-122"/>
                <a:cs typeface="Carlito Bold" pitchFamily="34" charset="-120"/>
              </a:rPr>
              <a:t>.</a:t>
            </a:r>
            <a:endParaRPr lang="en-US" sz="2000" dirty="0"/>
          </a:p>
        </p:txBody>
      </p:sp>
      <p:sp>
        <p:nvSpPr>
          <p:cNvPr id="13" name="Text 5"/>
          <p:cNvSpPr/>
          <p:nvPr/>
        </p:nvSpPr>
        <p:spPr>
          <a:xfrm>
            <a:off x="657209" y="5918200"/>
            <a:ext cx="5886303"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FFFFFF"/>
                </a:solidFill>
                <a:latin typeface="M PLUS 1 Code" pitchFamily="34" charset="0"/>
                <a:ea typeface="M PLUS 1 Code" pitchFamily="34" charset="-122"/>
                <a:cs typeface="M PLUS 1 Code" pitchFamily="34" charset="-120"/>
              </a:rPr>
              <a:t>CODE · SCENE · ASSET · KIỂM THỬ</a:t>
            </a:r>
            <a:endParaRPr lang="en-US" sz="1100" dirty="0"/>
          </a:p>
        </p:txBody>
      </p:sp>
      <p:sp>
        <p:nvSpPr>
          <p:cNvPr id="14" name="Shape 6"/>
          <p:cNvSpPr/>
          <p:nvPr/>
        </p:nvSpPr>
        <p:spPr>
          <a:xfrm>
            <a:off x="6106960" y="5490409"/>
            <a:ext cx="5079873" cy="180280"/>
          </a:xfrm>
          <a:prstGeom prst="roundRect">
            <a:avLst>
              <a:gd name="adj" fmla="val 19020"/>
            </a:avLst>
          </a:prstGeom>
          <a:noFill/>
          <a:ln/>
        </p:spPr>
      </p:sp>
      <p:sp>
        <p:nvSpPr>
          <p:cNvPr id="15" name="Text 7"/>
          <p:cNvSpPr/>
          <p:nvPr/>
        </p:nvSpPr>
        <p:spPr>
          <a:xfrm>
            <a:off x="5859315" y="5507817"/>
            <a:ext cx="5575161" cy="180280"/>
          </a:xfrm>
          <a:prstGeom prst="rect">
            <a:avLst/>
          </a:prstGeom>
          <a:noFill/>
          <a:ln/>
        </p:spPr>
        <p:txBody>
          <a:bodyPr wrap="none" lIns="0" tIns="0" rIns="0" bIns="0" rtlCol="0" anchor="t"/>
          <a:lstStyle/>
          <a:p>
            <a:pPr marL="0" indent="0" algn="ctr">
              <a:lnSpc>
                <a:spcPct val="118000"/>
              </a:lnSpc>
              <a:buNone/>
            </a:pPr>
            <a:r>
              <a:rPr lang="en-US" sz="1000" dirty="0">
                <a:solidFill>
                  <a:srgbClr val="B8B8C0"/>
                </a:solidFill>
                <a:latin typeface="Noto Sans" pitchFamily="34" charset="0"/>
                <a:ea typeface="Noto Sans" pitchFamily="34" charset="-122"/>
                <a:cs typeface="Noto Sans" pitchFamily="34" charset="-120"/>
              </a:rPr>
              <a:t>My 2D Action Game · created with Godot 4.7 Engine</a:t>
            </a:r>
            <a:endParaRPr lang="en-US" sz="1000" dirty="0"/>
          </a:p>
        </p:txBody>
      </p:sp>
      <p:sp>
        <p:nvSpPr>
          <p:cNvPr id="19" name="Text 2">
            <a:extLst>
              <a:ext uri="{FF2B5EF4-FFF2-40B4-BE49-F238E27FC236}">
                <a16:creationId xmlns:a16="http://schemas.microsoft.com/office/drawing/2014/main" id="{133060C2-4E7A-DB99-BADD-599ABC8F1867}"/>
              </a:ext>
            </a:extLst>
          </p:cNvPr>
          <p:cNvSpPr/>
          <p:nvPr/>
        </p:nvSpPr>
        <p:spPr>
          <a:xfrm>
            <a:off x="585491" y="1342661"/>
            <a:ext cx="8159546" cy="2077045"/>
          </a:xfrm>
          <a:prstGeom prst="rect">
            <a:avLst/>
          </a:prstGeom>
          <a:noFill/>
          <a:ln/>
        </p:spPr>
        <p:txBody>
          <a:bodyPr wrap="square" lIns="0" tIns="0" rIns="0" bIns="0" rtlCol="0" anchor="t">
            <a:normAutofit/>
          </a:bodyPr>
          <a:lstStyle/>
          <a:p>
            <a:pPr marL="0" indent="0" algn="l">
              <a:lnSpc>
                <a:spcPct val="78000"/>
              </a:lnSpc>
              <a:buNone/>
            </a:pPr>
            <a:r>
              <a:rPr lang="vi-VN" sz="3600" kern="100" spc="-232" dirty="0">
                <a:solidFill>
                  <a:srgbClr val="FFFFFF"/>
                </a:solidFill>
                <a:latin typeface="Noto Sans Black" pitchFamily="34" charset="0"/>
                <a:ea typeface="Noto Sans Black" pitchFamily="34" charset="-122"/>
                <a:cs typeface="Noto Sans Black" pitchFamily="34" charset="-120"/>
              </a:rPr>
              <a:t>1 mình AI..</a:t>
            </a:r>
            <a:br>
              <a:rPr lang="vi-VN" sz="3600" kern="100" spc="-232" dirty="0">
                <a:solidFill>
                  <a:srgbClr val="FFFFFF"/>
                </a:solidFill>
                <a:latin typeface="Noto Sans Black" pitchFamily="34" charset="0"/>
                <a:ea typeface="Noto Sans Black" pitchFamily="34" charset="-122"/>
                <a:cs typeface="Noto Sans Black" pitchFamily="34" charset="-120"/>
              </a:rPr>
            </a:br>
            <a:r>
              <a:rPr lang="vi-VN" sz="3600" kern="100" spc="-232" dirty="0">
                <a:solidFill>
                  <a:srgbClr val="FFFFFF"/>
                </a:solidFill>
                <a:latin typeface="Noto Sans Black" pitchFamily="34" charset="0"/>
                <a:ea typeface="Noto Sans Black" pitchFamily="34" charset="-122"/>
                <a:cs typeface="Noto Sans Black" pitchFamily="34" charset="-120"/>
              </a:rPr>
              <a:t>           </a:t>
            </a:r>
            <a:r>
              <a:rPr lang="en-US" sz="3600" kern="100" spc="-232" dirty="0" err="1">
                <a:solidFill>
                  <a:srgbClr val="FFFFFF"/>
                </a:solidFill>
                <a:latin typeface="Noto Sans Black" pitchFamily="34" charset="0"/>
                <a:ea typeface="Noto Sans Black" pitchFamily="34" charset="-122"/>
                <a:cs typeface="Noto Sans Black" pitchFamily="34" charset="-120"/>
              </a:rPr>
              <a:t>làm</a:t>
            </a:r>
            <a:r>
              <a:rPr lang="en-US" sz="3600" kern="100" spc="-232" dirty="0">
                <a:solidFill>
                  <a:srgbClr val="FFFFFF"/>
                </a:solidFill>
                <a:latin typeface="Noto Sans Black" pitchFamily="34" charset="0"/>
                <a:ea typeface="Noto Sans Black" pitchFamily="34" charset="-122"/>
                <a:cs typeface="Noto Sans Black" pitchFamily="34" charset="-120"/>
              </a:rPr>
              <a:t> game </a:t>
            </a:r>
            <a:r>
              <a:rPr lang="vi-VN" sz="3600" kern="100" spc="-232" dirty="0">
                <a:solidFill>
                  <a:srgbClr val="FFFFFF"/>
                </a:solidFill>
                <a:latin typeface="Noto Sans Black" pitchFamily="34" charset="0"/>
                <a:ea typeface="Noto Sans Black" pitchFamily="34" charset="-122"/>
                <a:cs typeface="Noto Sans Black" pitchFamily="34" charset="-120"/>
              </a:rPr>
              <a:t>này?</a:t>
            </a:r>
            <a:endParaRPr lang="en-US" sz="3600" dirty="0"/>
          </a:p>
          <a:p>
            <a:pPr marL="0" indent="0" algn="l">
              <a:lnSpc>
                <a:spcPct val="78000"/>
              </a:lnSpc>
              <a:buNone/>
            </a:pPr>
            <a:br>
              <a:rPr lang="vi-VN" sz="2000" kern="100" spc="-232" dirty="0">
                <a:solidFill>
                  <a:srgbClr val="FFFFFF"/>
                </a:solidFill>
                <a:latin typeface="Noto Sans Black" pitchFamily="34" charset="0"/>
                <a:ea typeface="Noto Sans Black" pitchFamily="34" charset="-122"/>
                <a:cs typeface="Noto Sans Black" pitchFamily="34" charset="-120"/>
              </a:rPr>
            </a:br>
            <a:r>
              <a:rPr lang="en-US" sz="2000" i="1" kern="100" spc="-232" dirty="0" err="1">
                <a:solidFill>
                  <a:srgbClr val="FFFFFF"/>
                </a:solidFill>
                <a:latin typeface="Noto Sans Black" pitchFamily="34" charset="0"/>
                <a:ea typeface="Noto Sans Black" pitchFamily="34" charset="-122"/>
                <a:cs typeface="Noto Sans Black" pitchFamily="34" charset="-120"/>
              </a:rPr>
              <a:t>Bài</a:t>
            </a:r>
            <a:r>
              <a:rPr lang="en-US" sz="2000" i="1" kern="100" spc="-232" dirty="0">
                <a:solidFill>
                  <a:srgbClr val="FFFFFF"/>
                </a:solidFill>
                <a:latin typeface="Noto Sans Black" pitchFamily="34" charset="0"/>
                <a:ea typeface="Noto Sans Black" pitchFamily="34" charset="-122"/>
                <a:cs typeface="Noto Sans Black" pitchFamily="34" charset="-120"/>
              </a:rPr>
              <a:t> </a:t>
            </a:r>
            <a:r>
              <a:rPr lang="en-US" sz="2000" i="1" kern="100" spc="-232" dirty="0" err="1">
                <a:solidFill>
                  <a:srgbClr val="FFFFFF"/>
                </a:solidFill>
                <a:latin typeface="Noto Sans Black" pitchFamily="34" charset="0"/>
                <a:ea typeface="Noto Sans Black" pitchFamily="34" charset="-122"/>
                <a:cs typeface="Noto Sans Black" pitchFamily="34" charset="-120"/>
              </a:rPr>
              <a:t>học</a:t>
            </a:r>
            <a:r>
              <a:rPr lang="en-US" sz="2000" i="1" kern="100" spc="-232" dirty="0">
                <a:solidFill>
                  <a:srgbClr val="FFFFFF"/>
                </a:solidFill>
                <a:latin typeface="Noto Sans Black" pitchFamily="34" charset="0"/>
                <a:ea typeface="Noto Sans Black" pitchFamily="34" charset="-122"/>
                <a:cs typeface="Noto Sans Black" pitchFamily="34" charset="-120"/>
              </a:rPr>
              <a:t> </a:t>
            </a:r>
            <a:r>
              <a:rPr lang="en-US" sz="2000" i="1" kern="100" spc="-232" dirty="0" err="1">
                <a:solidFill>
                  <a:srgbClr val="FFFFFF"/>
                </a:solidFill>
                <a:latin typeface="Noto Sans Black" pitchFamily="34" charset="0"/>
                <a:ea typeface="Noto Sans Black" pitchFamily="34" charset="-122"/>
                <a:cs typeface="Noto Sans Black" pitchFamily="34" charset="-120"/>
              </a:rPr>
              <a:t>từ</a:t>
            </a:r>
            <a:r>
              <a:rPr lang="vi-VN" sz="2000" i="1" dirty="0"/>
              <a:t> </a:t>
            </a:r>
            <a:br>
              <a:rPr lang="vi-VN" sz="2000" i="1" dirty="0"/>
            </a:br>
            <a:r>
              <a:rPr lang="en-US" sz="2000" i="1" kern="100" spc="-232" dirty="0" err="1">
                <a:solidFill>
                  <a:srgbClr val="FFFFFF"/>
                </a:solidFill>
                <a:latin typeface="Noto Sans Black" pitchFamily="34" charset="0"/>
                <a:ea typeface="Noto Sans Black" pitchFamily="34" charset="-122"/>
                <a:cs typeface="Noto Sans Black" pitchFamily="34" charset="-120"/>
              </a:rPr>
              <a:t>một</a:t>
            </a:r>
            <a:r>
              <a:rPr lang="en-US" sz="2000" i="1" kern="100" spc="-232" dirty="0">
                <a:solidFill>
                  <a:srgbClr val="FFFFFF"/>
                </a:solidFill>
                <a:latin typeface="Noto Sans Black" pitchFamily="34" charset="0"/>
                <a:ea typeface="Noto Sans Black" pitchFamily="34" charset="-122"/>
                <a:cs typeface="Noto Sans Black" pitchFamily="34" charset="-120"/>
              </a:rPr>
              <a:t> </a:t>
            </a:r>
            <a:r>
              <a:rPr lang="vi-VN" sz="2000" i="1" kern="100" spc="-232" dirty="0">
                <a:solidFill>
                  <a:srgbClr val="FFFFFF"/>
                </a:solidFill>
                <a:latin typeface="Noto Sans Black" pitchFamily="34" charset="0"/>
                <a:ea typeface="Noto Sans Black" pitchFamily="34" charset="-122"/>
                <a:cs typeface="Noto Sans Black" pitchFamily="34" charset="-120"/>
              </a:rPr>
              <a:t>project cá nhân :D</a:t>
            </a:r>
            <a:endParaRPr lang="en-US" sz="20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E4DF"/>
        </a:solidFill>
        <a:effectLst/>
      </p:bgPr>
    </p:bg>
    <p:spTree>
      <p:nvGrpSpPr>
        <p:cNvPr id="1" name=""/>
        <p:cNvGrpSpPr/>
        <p:nvPr/>
      </p:nvGrpSpPr>
      <p:grpSpPr>
        <a:xfrm>
          <a:off x="0" y="0"/>
          <a:ext cx="0" cy="0"/>
          <a:chOff x="0" y="0"/>
          <a:chExt cx="0" cy="0"/>
        </a:xfrm>
      </p:grpSpPr>
      <p:sp>
        <p:nvSpPr>
          <p:cNvPr id="2" name="Shape 0"/>
          <p:cNvSpPr/>
          <p:nvPr/>
        </p:nvSpPr>
        <p:spPr>
          <a:xfrm>
            <a:off x="0" y="0"/>
            <a:ext cx="7873505" cy="6858000"/>
          </a:xfrm>
          <a:prstGeom prst="roundRect">
            <a:avLst>
              <a:gd name="adj" fmla="val 600"/>
            </a:avLst>
          </a:prstGeom>
          <a:solidFill>
            <a:srgbClr val="FFF1E8"/>
          </a:solidFill>
          <a:ln/>
        </p:spPr>
      </p:sp>
      <p:sp>
        <p:nvSpPr>
          <p:cNvPr id="3" name="Shape 1"/>
          <p:cNvSpPr/>
          <p:nvPr/>
        </p:nvSpPr>
        <p:spPr>
          <a:xfrm>
            <a:off x="0" y="3556000"/>
            <a:ext cx="7873505" cy="2921000"/>
          </a:xfrm>
          <a:prstGeom prst="roundRect">
            <a:avLst>
              <a:gd name="adj" fmla="val 1409"/>
            </a:avLst>
          </a:prstGeom>
          <a:solidFill>
            <a:srgbClr val="16181C"/>
          </a:solidFill>
          <a:ln/>
        </p:spPr>
      </p:sp>
      <p:sp>
        <p:nvSpPr>
          <p:cNvPr id="4" name="Shape 2"/>
          <p:cNvSpPr/>
          <p:nvPr/>
        </p:nvSpPr>
        <p:spPr>
          <a:xfrm>
            <a:off x="6173534" y="5733256"/>
            <a:ext cx="1700071" cy="743645"/>
          </a:xfrm>
          <a:prstGeom prst="roundRect">
            <a:avLst>
              <a:gd name="adj" fmla="val 2352"/>
            </a:avLst>
          </a:prstGeom>
          <a:solidFill>
            <a:srgbClr val="C8321A"/>
          </a:solidFill>
          <a:ln/>
        </p:spPr>
      </p:sp>
      <p:sp>
        <p:nvSpPr>
          <p:cNvPr id="5" name="Shape 3"/>
          <p:cNvSpPr/>
          <p:nvPr/>
        </p:nvSpPr>
        <p:spPr>
          <a:xfrm>
            <a:off x="609585" y="3810000"/>
            <a:ext cx="2158946" cy="914400"/>
          </a:xfrm>
          <a:prstGeom prst="roundRect">
            <a:avLst>
              <a:gd name="adj" fmla="val 4500"/>
            </a:avLst>
          </a:prstGeom>
          <a:solidFill>
            <a:srgbClr val="16181C"/>
          </a:solidFill>
          <a:ln/>
        </p:spPr>
      </p:sp>
      <p:sp>
        <p:nvSpPr>
          <p:cNvPr id="6" name="Text 4"/>
          <p:cNvSpPr/>
          <p:nvPr/>
        </p:nvSpPr>
        <p:spPr>
          <a:xfrm>
            <a:off x="666733" y="3810000"/>
            <a:ext cx="1987500" cy="914400"/>
          </a:xfrm>
          <a:prstGeom prst="rect">
            <a:avLst/>
          </a:prstGeom>
          <a:noFill/>
          <a:ln/>
        </p:spPr>
        <p:txBody>
          <a:bodyPr wrap="none" lIns="0" tIns="0" rIns="0" bIns="0" rtlCol="0" anchor="t"/>
          <a:lstStyle/>
          <a:p>
            <a:pPr marL="0" indent="0" algn="l">
              <a:lnSpc>
                <a:spcPct val="83000"/>
              </a:lnSpc>
              <a:buNone/>
            </a:pPr>
            <a:r>
              <a:rPr lang="en-US" sz="7200" dirty="0">
                <a:solidFill>
                  <a:srgbClr val="FFFFFF"/>
                </a:solidFill>
                <a:latin typeface="Noto Sans" pitchFamily="34" charset="0"/>
                <a:ea typeface="Noto Sans" pitchFamily="34" charset="-122"/>
                <a:cs typeface="Noto Sans" pitchFamily="34" charset="-120"/>
              </a:rPr>
              <a:t>65</a:t>
            </a:r>
            <a:endParaRPr lang="en-US" sz="7200" dirty="0"/>
          </a:p>
        </p:txBody>
      </p:sp>
      <p:sp>
        <p:nvSpPr>
          <p:cNvPr id="7" name="Text 5"/>
          <p:cNvSpPr/>
          <p:nvPr/>
        </p:nvSpPr>
        <p:spPr>
          <a:xfrm>
            <a:off x="666733" y="5029200"/>
            <a:ext cx="3206471" cy="216396"/>
          </a:xfrm>
          <a:prstGeom prst="rect">
            <a:avLst/>
          </a:prstGeom>
          <a:noFill/>
          <a:ln/>
        </p:spPr>
        <p:txBody>
          <a:bodyPr wrap="none" lIns="0" tIns="0" rIns="0" bIns="0" rtlCol="0" anchor="t"/>
          <a:lstStyle/>
          <a:p>
            <a:pPr marL="0" indent="0" algn="l">
              <a:lnSpc>
                <a:spcPct val="118000"/>
              </a:lnSpc>
              <a:buNone/>
            </a:pPr>
            <a:r>
              <a:rPr lang="en-US" sz="1200" dirty="0">
                <a:solidFill>
                  <a:srgbClr val="FFFFFF"/>
                </a:solidFill>
                <a:latin typeface="Noto Sans" pitchFamily="34" charset="0"/>
                <a:ea typeface="Noto Sans" pitchFamily="34" charset="-122"/>
                <a:cs typeface="Noto Sans" pitchFamily="34" charset="-120"/>
              </a:rPr>
              <a:t>FILE GDSCRIPT</a:t>
            </a:r>
            <a:endParaRPr lang="en-US" sz="1200" dirty="0"/>
          </a:p>
        </p:txBody>
      </p:sp>
      <p:sp>
        <p:nvSpPr>
          <p:cNvPr id="8" name="Shape 6"/>
          <p:cNvSpPr/>
          <p:nvPr/>
        </p:nvSpPr>
        <p:spPr>
          <a:xfrm>
            <a:off x="3047725" y="3810000"/>
            <a:ext cx="2158946" cy="914400"/>
          </a:xfrm>
          <a:prstGeom prst="roundRect">
            <a:avLst>
              <a:gd name="adj" fmla="val 4500"/>
            </a:avLst>
          </a:prstGeom>
          <a:solidFill>
            <a:srgbClr val="16181C"/>
          </a:solidFill>
          <a:ln/>
        </p:spPr>
      </p:sp>
      <p:sp>
        <p:nvSpPr>
          <p:cNvPr id="9" name="Text 7"/>
          <p:cNvSpPr/>
          <p:nvPr/>
        </p:nvSpPr>
        <p:spPr>
          <a:xfrm>
            <a:off x="3104874" y="3810000"/>
            <a:ext cx="1987500" cy="914400"/>
          </a:xfrm>
          <a:prstGeom prst="rect">
            <a:avLst/>
          </a:prstGeom>
          <a:noFill/>
          <a:ln/>
        </p:spPr>
        <p:txBody>
          <a:bodyPr wrap="none" lIns="0" tIns="0" rIns="0" bIns="0" rtlCol="0" anchor="t"/>
          <a:lstStyle/>
          <a:p>
            <a:pPr marL="0" indent="0" algn="l">
              <a:lnSpc>
                <a:spcPct val="83000"/>
              </a:lnSpc>
              <a:buNone/>
            </a:pPr>
            <a:r>
              <a:rPr lang="en-US" sz="7200" dirty="0">
                <a:solidFill>
                  <a:srgbClr val="FFFFFF"/>
                </a:solidFill>
                <a:latin typeface="Noto Sans" pitchFamily="34" charset="0"/>
                <a:ea typeface="Noto Sans" pitchFamily="34" charset="-122"/>
                <a:cs typeface="Noto Sans" pitchFamily="34" charset="-120"/>
              </a:rPr>
              <a:t>50</a:t>
            </a:r>
            <a:endParaRPr lang="en-US" sz="7200" dirty="0"/>
          </a:p>
        </p:txBody>
      </p:sp>
      <p:sp>
        <p:nvSpPr>
          <p:cNvPr id="10" name="Text 8"/>
          <p:cNvSpPr/>
          <p:nvPr/>
        </p:nvSpPr>
        <p:spPr>
          <a:xfrm>
            <a:off x="3104874" y="5029200"/>
            <a:ext cx="3206471" cy="216396"/>
          </a:xfrm>
          <a:prstGeom prst="rect">
            <a:avLst/>
          </a:prstGeom>
          <a:noFill/>
          <a:ln/>
        </p:spPr>
        <p:txBody>
          <a:bodyPr wrap="none" lIns="0" tIns="0" rIns="0" bIns="0" rtlCol="0" anchor="t"/>
          <a:lstStyle/>
          <a:p>
            <a:pPr marL="0" indent="0" algn="l">
              <a:lnSpc>
                <a:spcPct val="118000"/>
              </a:lnSpc>
              <a:buNone/>
            </a:pPr>
            <a:r>
              <a:rPr lang="en-US" sz="1200" dirty="0">
                <a:solidFill>
                  <a:srgbClr val="FFFFFF"/>
                </a:solidFill>
                <a:latin typeface="Noto Sans" pitchFamily="34" charset="0"/>
                <a:ea typeface="Noto Sans" pitchFamily="34" charset="-122"/>
                <a:cs typeface="Noto Sans" pitchFamily="34" charset="-120"/>
              </a:rPr>
              <a:t>SCENE</a:t>
            </a:r>
            <a:endParaRPr lang="en-US" sz="1200" dirty="0"/>
          </a:p>
        </p:txBody>
      </p:sp>
      <p:sp>
        <p:nvSpPr>
          <p:cNvPr id="11" name="Shape 9"/>
          <p:cNvSpPr/>
          <p:nvPr/>
        </p:nvSpPr>
        <p:spPr>
          <a:xfrm>
            <a:off x="5486064" y="3810000"/>
            <a:ext cx="2158946" cy="914400"/>
          </a:xfrm>
          <a:prstGeom prst="roundRect">
            <a:avLst>
              <a:gd name="adj" fmla="val 4500"/>
            </a:avLst>
          </a:prstGeom>
          <a:solidFill>
            <a:srgbClr val="16181C"/>
          </a:solidFill>
          <a:ln/>
        </p:spPr>
      </p:sp>
      <p:sp>
        <p:nvSpPr>
          <p:cNvPr id="12" name="Text 10"/>
          <p:cNvSpPr/>
          <p:nvPr/>
        </p:nvSpPr>
        <p:spPr>
          <a:xfrm>
            <a:off x="5543213" y="3810000"/>
            <a:ext cx="1987500" cy="914400"/>
          </a:xfrm>
          <a:prstGeom prst="rect">
            <a:avLst/>
          </a:prstGeom>
          <a:noFill/>
          <a:ln/>
        </p:spPr>
        <p:txBody>
          <a:bodyPr wrap="none" lIns="0" tIns="0" rIns="0" bIns="0" rtlCol="0" anchor="t"/>
          <a:lstStyle/>
          <a:p>
            <a:pPr marL="0" indent="0" algn="l">
              <a:lnSpc>
                <a:spcPct val="83000"/>
              </a:lnSpc>
              <a:buNone/>
            </a:pPr>
            <a:r>
              <a:rPr lang="en-US" sz="7200" dirty="0">
                <a:solidFill>
                  <a:srgbClr val="FFFFFF"/>
                </a:solidFill>
                <a:latin typeface="Noto Sans" pitchFamily="34" charset="0"/>
                <a:ea typeface="Noto Sans" pitchFamily="34" charset="-122"/>
                <a:cs typeface="Noto Sans" pitchFamily="34" charset="-120"/>
              </a:rPr>
              <a:t>99</a:t>
            </a:r>
            <a:endParaRPr lang="en-US" sz="7200" dirty="0"/>
          </a:p>
        </p:txBody>
      </p:sp>
      <p:sp>
        <p:nvSpPr>
          <p:cNvPr id="13" name="Text 11"/>
          <p:cNvSpPr/>
          <p:nvPr/>
        </p:nvSpPr>
        <p:spPr>
          <a:xfrm>
            <a:off x="5543213" y="5012432"/>
            <a:ext cx="1257269" cy="432792"/>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FFFFFF"/>
                </a:solidFill>
                <a:latin typeface="Noto Sans" pitchFamily="34" charset="0"/>
                <a:ea typeface="Noto Sans" pitchFamily="34" charset="-122"/>
                <a:cs typeface="Noto Sans" pitchFamily="34" charset="-120"/>
              </a:rPr>
              <a:t>GODOT DOMAIN SKILLS</a:t>
            </a:r>
            <a:endParaRPr lang="en-US" sz="1200" dirty="0"/>
          </a:p>
        </p:txBody>
      </p:sp>
      <p:sp>
        <p:nvSpPr>
          <p:cNvPr id="14" name="Shape 12"/>
          <p:cNvSpPr/>
          <p:nvPr/>
        </p:nvSpPr>
        <p:spPr>
          <a:xfrm>
            <a:off x="7873505" y="0"/>
            <a:ext cx="4317694" cy="6858000"/>
          </a:xfrm>
          <a:prstGeom prst="roundRect">
            <a:avLst>
              <a:gd name="adj" fmla="val 953"/>
            </a:avLst>
          </a:prstGeom>
          <a:solidFill>
            <a:srgbClr val="F4B9A6"/>
          </a:solidFill>
          <a:ln/>
        </p:spPr>
      </p:sp>
      <p:sp>
        <p:nvSpPr>
          <p:cNvPr id="15" name="Text 13"/>
          <p:cNvSpPr/>
          <p:nvPr/>
        </p:nvSpPr>
        <p:spPr>
          <a:xfrm>
            <a:off x="8184648" y="2413000"/>
            <a:ext cx="3638261" cy="762000"/>
          </a:xfrm>
          <a:prstGeom prst="rect">
            <a:avLst/>
          </a:prstGeom>
          <a:noFill/>
          <a:ln/>
        </p:spPr>
        <p:txBody>
          <a:bodyPr wrap="none" lIns="0" tIns="0" rIns="0" bIns="0" rtlCol="0" anchor="t"/>
          <a:lstStyle/>
          <a:p>
            <a:pPr marL="0" indent="0" algn="l">
              <a:lnSpc>
                <a:spcPct val="83000"/>
              </a:lnSpc>
              <a:buNone/>
            </a:pPr>
            <a:r>
              <a:rPr lang="en-US" sz="6000" kern="100" spc="-200" dirty="0">
                <a:solidFill>
                  <a:srgbClr val="16181C"/>
                </a:solidFill>
                <a:latin typeface="Noto Sans Black" pitchFamily="34" charset="0"/>
                <a:ea typeface="Noto Sans Black" pitchFamily="34" charset="-122"/>
                <a:cs typeface="Noto Sans Black" pitchFamily="34" charset="-120"/>
              </a:rPr>
              <a:t>≈ 5.700</a:t>
            </a:r>
            <a:endParaRPr lang="en-US" sz="6000" dirty="0"/>
          </a:p>
        </p:txBody>
      </p:sp>
      <p:sp>
        <p:nvSpPr>
          <p:cNvPr id="16" name="Text 14"/>
          <p:cNvSpPr/>
          <p:nvPr/>
        </p:nvSpPr>
        <p:spPr>
          <a:xfrm>
            <a:off x="8572087" y="3302793"/>
            <a:ext cx="4007047" cy="252413"/>
          </a:xfrm>
          <a:prstGeom prst="rect">
            <a:avLst/>
          </a:prstGeom>
          <a:noFill/>
          <a:ln/>
        </p:spPr>
        <p:txBody>
          <a:bodyPr wrap="none" lIns="0" tIns="0" rIns="0" bIns="0" rtlCol="0" anchor="t"/>
          <a:lstStyle/>
          <a:p>
            <a:pPr marL="0" indent="0" algn="l">
              <a:lnSpc>
                <a:spcPct val="118000"/>
              </a:lnSpc>
              <a:buNone/>
            </a:pPr>
            <a:r>
              <a:rPr lang="en-US" sz="1400" dirty="0">
                <a:solidFill>
                  <a:srgbClr val="16181C"/>
                </a:solidFill>
                <a:latin typeface="M PLUS 1 Code" pitchFamily="34" charset="0"/>
                <a:ea typeface="M PLUS 1 Code" pitchFamily="34" charset="-122"/>
                <a:cs typeface="M PLUS 1 Code" pitchFamily="34" charset="-120"/>
              </a:rPr>
              <a:t>DÒNG GDSCRIPT</a:t>
            </a:r>
            <a:endParaRPr lang="en-US" sz="1400" dirty="0"/>
          </a:p>
        </p:txBody>
      </p:sp>
      <p:sp>
        <p:nvSpPr>
          <p:cNvPr id="17" name="Text 15"/>
          <p:cNvSpPr/>
          <p:nvPr/>
        </p:nvSpPr>
        <p:spPr>
          <a:xfrm>
            <a:off x="8972028" y="4400252"/>
            <a:ext cx="2241494" cy="1154112"/>
          </a:xfrm>
          <a:prstGeom prst="rect">
            <a:avLst/>
          </a:prstGeom>
          <a:noFill/>
          <a:ln/>
        </p:spPr>
        <p:txBody>
          <a:bodyPr wrap="square" lIns="0" tIns="0" rIns="0" bIns="0" rtlCol="0" anchor="t">
            <a:normAutofit/>
          </a:bodyPr>
          <a:lstStyle/>
          <a:p>
            <a:pPr marL="0" indent="0" algn="l">
              <a:lnSpc>
                <a:spcPct val="118000"/>
              </a:lnSpc>
              <a:buNone/>
            </a:pPr>
            <a:r>
              <a:rPr lang="en-US" sz="3200" dirty="0">
                <a:solidFill>
                  <a:srgbClr val="16181C"/>
                </a:solidFill>
                <a:latin typeface="Noto Sans" pitchFamily="34" charset="0"/>
                <a:ea typeface="Noto Sans" pitchFamily="34" charset="-122"/>
                <a:cs typeface="Noto Sans" pitchFamily="34" charset="-120"/>
              </a:rPr>
              <a:t>{ } ▲ ● ■ &gt;_</a:t>
            </a:r>
            <a:endParaRPr lang="en-US" sz="3200" dirty="0"/>
          </a:p>
        </p:txBody>
      </p:sp>
      <p:sp>
        <p:nvSpPr>
          <p:cNvPr id="19" name="Text 17"/>
          <p:cNvSpPr/>
          <p:nvPr/>
        </p:nvSpPr>
        <p:spPr>
          <a:xfrm>
            <a:off x="666733" y="558800"/>
            <a:ext cx="7905354" cy="198338"/>
          </a:xfrm>
          <a:prstGeom prst="rect">
            <a:avLst/>
          </a:prstGeom>
          <a:noFill/>
          <a:ln/>
        </p:spPr>
        <p:txBody>
          <a:bodyPr wrap="none" lIns="0" tIns="0" rIns="0" bIns="0" rtlCol="0" anchor="t"/>
          <a:lstStyle/>
          <a:p>
            <a:pPr marL="0" indent="0" algn="l">
              <a:lnSpc>
                <a:spcPct val="118000"/>
              </a:lnSpc>
              <a:buNone/>
            </a:pPr>
            <a:r>
              <a:rPr lang="en-US" sz="1100" kern="100" spc="66" dirty="0">
                <a:solidFill>
                  <a:srgbClr val="34363B"/>
                </a:solidFill>
                <a:latin typeface="M PLUS 1 Code Medium" pitchFamily="34" charset="0"/>
                <a:ea typeface="M PLUS 1 Code Medium" pitchFamily="34" charset="-122"/>
                <a:cs typeface="M PLUS 1 Code Medium" pitchFamily="34" charset="-120"/>
              </a:rPr>
              <a:t>QUY MÔ · SỐ LIỆU GHI NHẬN</a:t>
            </a:r>
            <a:endParaRPr lang="en-US" sz="1100" dirty="0"/>
          </a:p>
        </p:txBody>
      </p:sp>
      <p:sp>
        <p:nvSpPr>
          <p:cNvPr id="20" name="Text 18"/>
          <p:cNvSpPr/>
          <p:nvPr/>
        </p:nvSpPr>
        <p:spPr>
          <a:xfrm>
            <a:off x="666733" y="835620"/>
            <a:ext cx="6686184" cy="1087041"/>
          </a:xfrm>
          <a:prstGeom prst="rect">
            <a:avLst/>
          </a:prstGeom>
          <a:noFill/>
          <a:ln/>
        </p:spPr>
        <p:txBody>
          <a:bodyPr wrap="square" lIns="0" tIns="0" rIns="0" bIns="0" rtlCol="0" anchor="t">
            <a:normAutofit/>
          </a:bodyPr>
          <a:lstStyle/>
          <a:p>
            <a:pPr marL="0" indent="0" algn="l">
              <a:lnSpc>
                <a:spcPct val="89000"/>
              </a:lnSpc>
              <a:buNone/>
            </a:pPr>
            <a:r>
              <a:rPr lang="en-US" sz="4000" dirty="0">
                <a:solidFill>
                  <a:srgbClr val="14161A"/>
                </a:solidFill>
                <a:latin typeface="Noto Sans" pitchFamily="34" charset="0"/>
                <a:ea typeface="Noto Sans" pitchFamily="34" charset="-122"/>
                <a:cs typeface="Noto Sans" pitchFamily="34" charset="-120"/>
              </a:rPr>
              <a:t>Một hệ thống 65 file cần được kiểm soát</a:t>
            </a:r>
            <a:endParaRPr lang="en-US" sz="4000" dirty="0"/>
          </a:p>
        </p:txBody>
      </p:sp>
      <p:sp>
        <p:nvSpPr>
          <p:cNvPr id="21" name="Shape 19"/>
          <p:cNvSpPr/>
          <p:nvPr/>
        </p:nvSpPr>
        <p:spPr>
          <a:xfrm>
            <a:off x="609585" y="2997200"/>
            <a:ext cx="2031949" cy="127000"/>
          </a:xfrm>
          <a:prstGeom prst="roundRect">
            <a:avLst>
              <a:gd name="adj" fmla="val 32399"/>
            </a:avLst>
          </a:prstGeom>
          <a:solidFill>
            <a:srgbClr val="C8321A"/>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E4DF"/>
        </a:solidFill>
        <a:effectLst/>
      </p:bgPr>
    </p:bg>
    <p:spTree>
      <p:nvGrpSpPr>
        <p:cNvPr id="1" name=""/>
        <p:cNvGrpSpPr/>
        <p:nvPr/>
      </p:nvGrpSpPr>
      <p:grpSpPr>
        <a:xfrm>
          <a:off x="0" y="0"/>
          <a:ext cx="0" cy="0"/>
          <a:chOff x="0" y="0"/>
          <a:chExt cx="0" cy="0"/>
        </a:xfrm>
      </p:grpSpPr>
      <p:sp>
        <p:nvSpPr>
          <p:cNvPr id="2" name="Shape 0"/>
          <p:cNvSpPr/>
          <p:nvPr/>
        </p:nvSpPr>
        <p:spPr>
          <a:xfrm>
            <a:off x="0" y="0"/>
            <a:ext cx="12191397" cy="6858000"/>
          </a:xfrm>
          <a:prstGeom prst="roundRect">
            <a:avLst>
              <a:gd name="adj" fmla="val 600"/>
            </a:avLst>
          </a:prstGeom>
          <a:solidFill>
            <a:srgbClr val="F4F1EA"/>
          </a:solidFill>
          <a:ln/>
        </p:spPr>
      </p:sp>
      <p:sp>
        <p:nvSpPr>
          <p:cNvPr id="3" name="Shape 1"/>
          <p:cNvSpPr/>
          <p:nvPr/>
        </p:nvSpPr>
        <p:spPr>
          <a:xfrm>
            <a:off x="609585" y="457200"/>
            <a:ext cx="1142971" cy="127000"/>
          </a:xfrm>
          <a:prstGeom prst="roundRect">
            <a:avLst>
              <a:gd name="adj" fmla="val 32399"/>
            </a:avLst>
          </a:prstGeom>
          <a:solidFill>
            <a:srgbClr val="C8321A"/>
          </a:solidFill>
          <a:ln/>
        </p:spPr>
      </p:sp>
      <p:sp>
        <p:nvSpPr>
          <p:cNvPr id="4" name="Text 2"/>
          <p:cNvSpPr/>
          <p:nvPr/>
        </p:nvSpPr>
        <p:spPr>
          <a:xfrm>
            <a:off x="666733" y="610989"/>
            <a:ext cx="7702060" cy="1032669"/>
          </a:xfrm>
          <a:prstGeom prst="rect">
            <a:avLst/>
          </a:prstGeom>
          <a:noFill/>
          <a:ln/>
        </p:spPr>
        <p:txBody>
          <a:bodyPr wrap="square" lIns="0" tIns="0" rIns="0" bIns="0" rtlCol="0" anchor="t">
            <a:normAutofit/>
          </a:bodyPr>
          <a:lstStyle/>
          <a:p>
            <a:pPr marL="0" indent="0" algn="l">
              <a:lnSpc>
                <a:spcPct val="89000"/>
              </a:lnSpc>
              <a:buNone/>
            </a:pPr>
            <a:r>
              <a:rPr lang="en-US" sz="3800" b="1" dirty="0">
                <a:solidFill>
                  <a:srgbClr val="16181C"/>
                </a:solidFill>
                <a:latin typeface="Noto Sans Bold" pitchFamily="34" charset="0"/>
                <a:ea typeface="Noto Sans Bold" pitchFamily="34" charset="-122"/>
                <a:cs typeface="Noto Sans Bold" pitchFamily="34" charset="-120"/>
              </a:rPr>
              <a:t>CHỌN ENGINE THEO WORKFLOW CỦA AI</a:t>
            </a:r>
            <a:endParaRPr lang="en-US" sz="3800" dirty="0"/>
          </a:p>
        </p:txBody>
      </p:sp>
      <p:sp>
        <p:nvSpPr>
          <p:cNvPr id="5" name="Shape 3"/>
          <p:cNvSpPr/>
          <p:nvPr/>
        </p:nvSpPr>
        <p:spPr>
          <a:xfrm>
            <a:off x="609585" y="2133600"/>
            <a:ext cx="2996927" cy="3810000"/>
          </a:xfrm>
          <a:prstGeom prst="roundRect">
            <a:avLst>
              <a:gd name="adj" fmla="val 1373"/>
            </a:avLst>
          </a:prstGeom>
          <a:noFill/>
          <a:ln w="25399">
            <a:solidFill>
              <a:srgbClr val="16181C"/>
            </a:solidFill>
            <a:prstDash val="solid"/>
          </a:ln>
        </p:spPr>
      </p:sp>
      <p:sp>
        <p:nvSpPr>
          <p:cNvPr id="6" name="Text 4"/>
          <p:cNvSpPr/>
          <p:nvPr/>
        </p:nvSpPr>
        <p:spPr>
          <a:xfrm>
            <a:off x="819130" y="2260600"/>
            <a:ext cx="3130273" cy="360660"/>
          </a:xfrm>
          <a:prstGeom prst="rect">
            <a:avLst/>
          </a:prstGeom>
          <a:noFill/>
          <a:ln/>
        </p:spPr>
        <p:txBody>
          <a:bodyPr wrap="none" lIns="0" tIns="0" rIns="0" bIns="0" rtlCol="0" anchor="t"/>
          <a:lstStyle/>
          <a:p>
            <a:pPr marL="0" indent="0" algn="l">
              <a:lnSpc>
                <a:spcPct val="118000"/>
              </a:lnSpc>
              <a:buNone/>
            </a:pPr>
            <a:r>
              <a:rPr lang="en-US" sz="2000" b="1" dirty="0">
                <a:solidFill>
                  <a:srgbClr val="16181C"/>
                </a:solidFill>
                <a:latin typeface="Noto Sans Bold" pitchFamily="34" charset="0"/>
                <a:ea typeface="Noto Sans Bold" pitchFamily="34" charset="-122"/>
                <a:cs typeface="Noto Sans Bold" pitchFamily="34" charset="-120"/>
              </a:rPr>
              <a:t>Unreal Engine 5</a:t>
            </a:r>
            <a:endParaRPr lang="en-US" sz="2000" dirty="0"/>
          </a:p>
        </p:txBody>
      </p:sp>
      <p:sp>
        <p:nvSpPr>
          <p:cNvPr id="7" name="Text 5"/>
          <p:cNvSpPr/>
          <p:nvPr/>
        </p:nvSpPr>
        <p:spPr>
          <a:xfrm>
            <a:off x="819130" y="2753717"/>
            <a:ext cx="2520689" cy="2550815"/>
          </a:xfrm>
          <a:prstGeom prst="rect">
            <a:avLst/>
          </a:prstGeom>
          <a:noFill/>
          <a:ln/>
        </p:spPr>
        <p:txBody>
          <a:bodyPr wrap="square" lIns="0" tIns="0" rIns="0" bIns="0" rtlCol="0" anchor="t">
            <a:normAutofit/>
          </a:bodyPr>
          <a:lstStyle/>
          <a:p>
            <a:pPr marL="0" indent="0" algn="l">
              <a:lnSpc>
                <a:spcPct val="118000"/>
              </a:lnSpc>
              <a:spcAft>
                <a:spcPts val="1100"/>
              </a:spcAft>
              <a:buNone/>
            </a:pPr>
            <a:r>
              <a:rPr lang="en-US" sz="1200" dirty="0">
                <a:solidFill>
                  <a:srgbClr val="4A4C51"/>
                </a:solidFill>
                <a:latin typeface="Noto Sans" pitchFamily="34" charset="0"/>
                <a:ea typeface="Noto Sans" pitchFamily="34" charset="-122"/>
                <a:cs typeface="Noto Sans" pitchFamily="34" charset="-120"/>
              </a:rPr>
              <a:t>Đồ họa đỉnh cao · Dự án 3D bom tấn</a:t>
            </a:r>
            <a:endParaRPr lang="en-US" sz="1200" dirty="0"/>
          </a:p>
          <a:p>
            <a:pPr marL="0" indent="0" algn="l">
              <a:lnSpc>
                <a:spcPct val="118000"/>
              </a:lnSpc>
              <a:spcAft>
                <a:spcPts val="1100"/>
              </a:spcAft>
              <a:buNone/>
            </a:pPr>
            <a:r>
              <a:rPr lang="en-US" sz="1200" b="1" dirty="0">
                <a:solidFill>
                  <a:srgbClr val="C8321A"/>
                </a:solidFill>
                <a:latin typeface="Noto Sans Bold" pitchFamily="34" charset="0"/>
                <a:ea typeface="Noto Sans Bold" pitchFamily="34" charset="-122"/>
                <a:cs typeface="Noto Sans Bold" pitchFamily="34" charset="-120"/>
              </a:rPr>
              <a:t>ƯU ĐIỂM VỚI AI</a:t>
            </a:r>
            <a:endParaRPr lang="en-US" sz="1200" dirty="0"/>
          </a:p>
          <a:p>
            <a:pPr marL="0" indent="0" algn="l">
              <a:lnSpc>
                <a:spcPct val="118000"/>
              </a:lnSpc>
              <a:spcAft>
                <a:spcPts val="1100"/>
              </a:spcAft>
              <a:buNone/>
            </a:pPr>
            <a:r>
              <a:rPr lang="en-US" sz="1200" dirty="0">
                <a:solidFill>
                  <a:srgbClr val="16181C"/>
                </a:solidFill>
                <a:latin typeface="Noto Sans" pitchFamily="34" charset="0"/>
                <a:ea typeface="Noto Sans" pitchFamily="34" charset="-122"/>
                <a:cs typeface="Noto Sans" pitchFamily="34" charset="-120"/>
              </a:rPr>
              <a:t>• AI điều khiển tốt qua MCP.</a:t>
            </a:r>
            <a:endParaRPr lang="en-US" sz="1200" dirty="0"/>
          </a:p>
          <a:p>
            <a:pPr marL="0" indent="0" algn="l">
              <a:lnSpc>
                <a:spcPct val="118000"/>
              </a:lnSpc>
              <a:spcAft>
                <a:spcPts val="1100"/>
              </a:spcAft>
              <a:buNone/>
            </a:pPr>
            <a:r>
              <a:rPr lang="en-US" sz="1200" dirty="0">
                <a:solidFill>
                  <a:srgbClr val="16181C"/>
                </a:solidFill>
                <a:latin typeface="Noto Sans" pitchFamily="34" charset="0"/>
                <a:ea typeface="Noto Sans" pitchFamily="34" charset="-122"/>
                <a:cs typeface="Noto Sans" pitchFamily="34" charset="-120"/>
              </a:rPr>
              <a:t>• Đồ họa photorealistic số 1.</a:t>
            </a:r>
            <a:endParaRPr lang="en-US" sz="1200" dirty="0"/>
          </a:p>
          <a:p>
            <a:pPr marL="0" indent="0" algn="l">
              <a:lnSpc>
                <a:spcPct val="118000"/>
              </a:lnSpc>
              <a:buNone/>
            </a:pPr>
            <a:r>
              <a:rPr lang="en-US" sz="1200" b="1" dirty="0">
                <a:solidFill>
                  <a:srgbClr val="C8321A"/>
                </a:solidFill>
                <a:latin typeface="Noto Sans Bold" pitchFamily="34" charset="0"/>
                <a:ea typeface="Noto Sans Bold" pitchFamily="34" charset="-122"/>
                <a:cs typeface="Noto Sans Bold" pitchFamily="34" charset="-120"/>
              </a:rPr>
              <a:t>ĐÁNH ĐỔI &amp; RỦI RO</a:t>
            </a:r>
            <a:endParaRPr lang="en-US" sz="1200" dirty="0"/>
          </a:p>
          <a:p>
            <a:pPr marL="0" indent="0" algn="l">
              <a:lnSpc>
                <a:spcPct val="118000"/>
              </a:lnSpc>
              <a:buNone/>
            </a:pPr>
            <a:r>
              <a:rPr lang="en-US" sz="1200" dirty="0">
                <a:solidFill>
                  <a:srgbClr val="000000"/>
                </a:solidFill>
                <a:latin typeface="Noto Color Emoji" pitchFamily="34" charset="0"/>
                <a:ea typeface="Noto Color Emoji" pitchFamily="34" charset="-122"/>
                <a:cs typeface="Noto Color Emoji" pitchFamily="34" charset="-120"/>
              </a:rPr>
              <a:t>⚠</a:t>
            </a:r>
            <a:r>
              <a:rPr lang="en-US" sz="1200" dirty="0">
                <a:solidFill>
                  <a:srgbClr val="16181C"/>
                </a:solidFill>
                <a:latin typeface="Noto Sans" pitchFamily="34" charset="0"/>
                <a:ea typeface="Noto Sans" pitchFamily="34" charset="-122"/>
                <a:cs typeface="Noto Sans" pitchFamily="34" charset="-120"/>
              </a:rPr>
              <a:t> Đốt token: ~$2.500 cho 1 demo.</a:t>
            </a:r>
            <a:endParaRPr lang="en-US" sz="1200" dirty="0"/>
          </a:p>
          <a:p>
            <a:pPr marL="0" indent="0" algn="l">
              <a:lnSpc>
                <a:spcPct val="118000"/>
              </a:lnSpc>
              <a:buNone/>
            </a:pPr>
            <a:r>
              <a:rPr lang="en-US" sz="1200" dirty="0">
                <a:solidFill>
                  <a:srgbClr val="000000"/>
                </a:solidFill>
                <a:latin typeface="Noto Color Emoji" pitchFamily="34" charset="0"/>
                <a:ea typeface="Noto Color Emoji" pitchFamily="34" charset="-122"/>
                <a:cs typeface="Noto Color Emoji" pitchFamily="34" charset="-120"/>
              </a:rPr>
              <a:t>⚠</a:t>
            </a:r>
            <a:r>
              <a:rPr lang="en-US" sz="1200" dirty="0">
                <a:solidFill>
                  <a:srgbClr val="16181C"/>
                </a:solidFill>
                <a:latin typeface="Noto Sans" pitchFamily="34" charset="0"/>
                <a:ea typeface="Noto Sans" pitchFamily="34" charset="-122"/>
                <a:cs typeface="Noto Sans" pitchFamily="34" charset="-120"/>
              </a:rPr>
              <a:t> Máy mạnh, build C++ rất lâu.</a:t>
            </a:r>
            <a:endParaRPr lang="en-US" sz="1200" dirty="0"/>
          </a:p>
          <a:p>
            <a:pPr marL="0" indent="0" algn="l">
              <a:lnSpc>
                <a:spcPct val="118000"/>
              </a:lnSpc>
              <a:buNone/>
            </a:pPr>
            <a:r>
              <a:rPr lang="en-US" sz="1200" dirty="0">
                <a:solidFill>
                  <a:srgbClr val="000000"/>
                </a:solidFill>
                <a:latin typeface="Noto Color Emoji" pitchFamily="34" charset="0"/>
                <a:ea typeface="Noto Color Emoji" pitchFamily="34" charset="-122"/>
                <a:cs typeface="Noto Color Emoji" pitchFamily="34" charset="-120"/>
              </a:rPr>
              <a:t>⚠</a:t>
            </a:r>
            <a:r>
              <a:rPr lang="en-US" sz="1200" dirty="0">
                <a:solidFill>
                  <a:srgbClr val="16181C"/>
                </a:solidFill>
                <a:latin typeface="Noto Sans" pitchFamily="34" charset="0"/>
                <a:ea typeface="Noto Sans" pitchFamily="34" charset="-122"/>
                <a:cs typeface="Noto Sans" pitchFamily="34" charset="-120"/>
              </a:rPr>
              <a:t> Asset binary, AI khó diff.</a:t>
            </a:r>
            <a:endParaRPr lang="en-US" sz="1200" dirty="0"/>
          </a:p>
        </p:txBody>
      </p:sp>
      <p:sp>
        <p:nvSpPr>
          <p:cNvPr id="8" name="Shape 6"/>
          <p:cNvSpPr/>
          <p:nvPr/>
        </p:nvSpPr>
        <p:spPr>
          <a:xfrm>
            <a:off x="3758908" y="2133600"/>
            <a:ext cx="2996927" cy="3810000"/>
          </a:xfrm>
          <a:prstGeom prst="roundRect">
            <a:avLst>
              <a:gd name="adj" fmla="val 1373"/>
            </a:avLst>
          </a:prstGeom>
          <a:noFill/>
          <a:ln w="25399">
            <a:solidFill>
              <a:srgbClr val="16181C"/>
            </a:solidFill>
            <a:prstDash val="solid"/>
          </a:ln>
        </p:spPr>
      </p:sp>
      <p:sp>
        <p:nvSpPr>
          <p:cNvPr id="9" name="Text 7"/>
          <p:cNvSpPr/>
          <p:nvPr/>
        </p:nvSpPr>
        <p:spPr>
          <a:xfrm>
            <a:off x="3968452" y="2260600"/>
            <a:ext cx="3130273" cy="360660"/>
          </a:xfrm>
          <a:prstGeom prst="rect">
            <a:avLst/>
          </a:prstGeom>
          <a:noFill/>
          <a:ln/>
        </p:spPr>
        <p:txBody>
          <a:bodyPr wrap="none" lIns="0" tIns="0" rIns="0" bIns="0" rtlCol="0" anchor="t"/>
          <a:lstStyle/>
          <a:p>
            <a:pPr marL="0" indent="0" algn="l">
              <a:lnSpc>
                <a:spcPct val="118000"/>
              </a:lnSpc>
              <a:buNone/>
            </a:pPr>
            <a:r>
              <a:rPr lang="en-US" sz="2000" b="1" dirty="0">
                <a:solidFill>
                  <a:srgbClr val="16181C"/>
                </a:solidFill>
                <a:latin typeface="Noto Sans Bold" pitchFamily="34" charset="0"/>
                <a:ea typeface="Noto Sans Bold" pitchFamily="34" charset="-122"/>
                <a:cs typeface="Noto Sans Bold" pitchFamily="34" charset="-120"/>
              </a:rPr>
              <a:t>Unity</a:t>
            </a:r>
            <a:endParaRPr lang="en-US" sz="2000" dirty="0"/>
          </a:p>
        </p:txBody>
      </p:sp>
      <p:sp>
        <p:nvSpPr>
          <p:cNvPr id="10" name="Text 8"/>
          <p:cNvSpPr/>
          <p:nvPr/>
        </p:nvSpPr>
        <p:spPr>
          <a:xfrm>
            <a:off x="3968452" y="2753717"/>
            <a:ext cx="2520689" cy="2767211"/>
          </a:xfrm>
          <a:prstGeom prst="rect">
            <a:avLst/>
          </a:prstGeom>
          <a:noFill/>
          <a:ln/>
        </p:spPr>
        <p:txBody>
          <a:bodyPr wrap="square" lIns="0" tIns="0" rIns="0" bIns="0" rtlCol="0" anchor="t"/>
          <a:lstStyle/>
          <a:p>
            <a:pPr marL="0" indent="0" algn="l">
              <a:lnSpc>
                <a:spcPct val="118000"/>
              </a:lnSpc>
              <a:spcAft>
                <a:spcPts val="1100"/>
              </a:spcAft>
              <a:buNone/>
            </a:pPr>
            <a:r>
              <a:rPr lang="en-US" sz="1200" dirty="0">
                <a:solidFill>
                  <a:srgbClr val="4A4C51"/>
                </a:solidFill>
                <a:latin typeface="Noto Sans" pitchFamily="34" charset="0"/>
                <a:ea typeface="Noto Sans" pitchFamily="34" charset="-122"/>
                <a:cs typeface="Noto Sans" pitchFamily="34" charset="-120"/>
              </a:rPr>
              <a:t>Hệ sinh thái khổng lồ · C# phổ biến</a:t>
            </a:r>
            <a:endParaRPr lang="en-US" sz="1200" dirty="0"/>
          </a:p>
          <a:p>
            <a:pPr marL="0" indent="0" algn="l">
              <a:lnSpc>
                <a:spcPct val="118000"/>
              </a:lnSpc>
              <a:spcAft>
                <a:spcPts val="1100"/>
              </a:spcAft>
              <a:buNone/>
            </a:pPr>
            <a:r>
              <a:rPr lang="en-US" sz="1200" b="1" dirty="0">
                <a:solidFill>
                  <a:srgbClr val="C8321A"/>
                </a:solidFill>
                <a:latin typeface="Noto Sans Bold" pitchFamily="34" charset="0"/>
                <a:ea typeface="Noto Sans Bold" pitchFamily="34" charset="-122"/>
                <a:cs typeface="Noto Sans Bold" pitchFamily="34" charset="-120"/>
              </a:rPr>
              <a:t>ƯU ĐIỂM VỚI AI</a:t>
            </a:r>
            <a:endParaRPr lang="en-US" sz="1200" dirty="0"/>
          </a:p>
          <a:p>
            <a:pPr marL="0" indent="0" algn="l">
              <a:lnSpc>
                <a:spcPct val="118000"/>
              </a:lnSpc>
              <a:spcAft>
                <a:spcPts val="1100"/>
              </a:spcAft>
              <a:buNone/>
            </a:pPr>
            <a:r>
              <a:rPr lang="en-US" sz="1200" dirty="0">
                <a:solidFill>
                  <a:srgbClr val="16181C"/>
                </a:solidFill>
                <a:latin typeface="Noto Sans" pitchFamily="34" charset="0"/>
                <a:ea typeface="Noto Sans" pitchFamily="34" charset="-122"/>
                <a:cs typeface="Noto Sans" pitchFamily="34" charset="-120"/>
              </a:rPr>
              <a:t>• C# quen, AI viết code mượt.</a:t>
            </a:r>
            <a:endParaRPr lang="en-US" sz="1200" dirty="0"/>
          </a:p>
          <a:p>
            <a:pPr marL="0" indent="0" algn="l">
              <a:lnSpc>
                <a:spcPct val="118000"/>
              </a:lnSpc>
              <a:spcAft>
                <a:spcPts val="1100"/>
              </a:spcAft>
              <a:buNone/>
            </a:pPr>
            <a:r>
              <a:rPr lang="en-US" sz="1200" dirty="0">
                <a:solidFill>
                  <a:srgbClr val="16181C"/>
                </a:solidFill>
                <a:latin typeface="Noto Sans" pitchFamily="34" charset="0"/>
                <a:ea typeface="Noto Sans" pitchFamily="34" charset="-122"/>
                <a:cs typeface="Noto Sans" pitchFamily="34" charset="-120"/>
              </a:rPr>
              <a:t>• Asset Store phong phú.</a:t>
            </a:r>
            <a:endParaRPr lang="en-US" sz="1200" dirty="0"/>
          </a:p>
          <a:p>
            <a:pPr marL="0" indent="0" algn="l">
              <a:lnSpc>
                <a:spcPct val="118000"/>
              </a:lnSpc>
              <a:buNone/>
            </a:pPr>
            <a:r>
              <a:rPr lang="en-US" sz="1200" b="1" dirty="0">
                <a:solidFill>
                  <a:srgbClr val="C8321A"/>
                </a:solidFill>
                <a:latin typeface="Noto Sans Bold" pitchFamily="34" charset="0"/>
                <a:ea typeface="Noto Sans Bold" pitchFamily="34" charset="-122"/>
                <a:cs typeface="Noto Sans Bold" pitchFamily="34" charset="-120"/>
              </a:rPr>
              <a:t>ĐÁNH ĐỔI &amp; RỦI RO</a:t>
            </a:r>
            <a:endParaRPr lang="en-US" sz="1200" dirty="0"/>
          </a:p>
          <a:p>
            <a:pPr marL="0" indent="0" algn="l">
              <a:lnSpc>
                <a:spcPct val="118000"/>
              </a:lnSpc>
              <a:buNone/>
            </a:pPr>
            <a:r>
              <a:rPr lang="en-US" sz="1200" dirty="0">
                <a:solidFill>
                  <a:srgbClr val="000000"/>
                </a:solidFill>
                <a:latin typeface="Noto Color Emoji" pitchFamily="34" charset="0"/>
                <a:ea typeface="Noto Color Emoji" pitchFamily="34" charset="-122"/>
                <a:cs typeface="Noto Color Emoji" pitchFamily="34" charset="-120"/>
              </a:rPr>
              <a:t>⚠</a:t>
            </a:r>
            <a:r>
              <a:rPr lang="en-US" sz="1200" dirty="0">
                <a:solidFill>
                  <a:srgbClr val="16181C"/>
                </a:solidFill>
                <a:latin typeface="Noto Sans" pitchFamily="34" charset="0"/>
                <a:ea typeface="Noto Sans" pitchFamily="34" charset="-122"/>
                <a:cs typeface="Noto Sans" pitchFamily="34" charset="-120"/>
              </a:rPr>
              <a:t> "Editor Gap": nối Inspector bằng tay.</a:t>
            </a:r>
            <a:endParaRPr lang="en-US" sz="1200" dirty="0"/>
          </a:p>
          <a:p>
            <a:pPr marL="0" indent="0" algn="l">
              <a:lnSpc>
                <a:spcPct val="118000"/>
              </a:lnSpc>
              <a:buNone/>
            </a:pPr>
            <a:r>
              <a:rPr lang="en-US" sz="1200" dirty="0">
                <a:solidFill>
                  <a:srgbClr val="000000"/>
                </a:solidFill>
                <a:latin typeface="Noto Color Emoji" pitchFamily="34" charset="0"/>
                <a:ea typeface="Noto Color Emoji" pitchFamily="34" charset="-122"/>
                <a:cs typeface="Noto Color Emoji" pitchFamily="34" charset="-120"/>
              </a:rPr>
              <a:t>⚠</a:t>
            </a:r>
            <a:r>
              <a:rPr lang="en-US" sz="1200" dirty="0">
                <a:solidFill>
                  <a:srgbClr val="16181C"/>
                </a:solidFill>
                <a:latin typeface="Noto Sans" pitchFamily="34" charset="0"/>
                <a:ea typeface="Noto Sans" pitchFamily="34" charset="-122"/>
                <a:cs typeface="Noto Sans" pitchFamily="34" charset="-120"/>
              </a:rPr>
              <a:t> Domain Reload mất 3-5s mỗi lần.</a:t>
            </a:r>
            <a:endParaRPr lang="en-US" sz="1200" dirty="0"/>
          </a:p>
          <a:p>
            <a:pPr marL="0" indent="0" algn="l">
              <a:lnSpc>
                <a:spcPct val="118000"/>
              </a:lnSpc>
              <a:buNone/>
            </a:pPr>
            <a:r>
              <a:rPr lang="en-US" sz="1200" dirty="0">
                <a:solidFill>
                  <a:srgbClr val="000000"/>
                </a:solidFill>
                <a:latin typeface="Noto Color Emoji" pitchFamily="34" charset="0"/>
                <a:ea typeface="Noto Color Emoji" pitchFamily="34" charset="-122"/>
                <a:cs typeface="Noto Color Emoji" pitchFamily="34" charset="-120"/>
              </a:rPr>
              <a:t>⚠</a:t>
            </a:r>
            <a:r>
              <a:rPr lang="en-US" sz="1200" dirty="0">
                <a:solidFill>
                  <a:srgbClr val="16181C"/>
                </a:solidFill>
                <a:latin typeface="Noto Sans" pitchFamily="34" charset="0"/>
                <a:ea typeface="Noto Sans" pitchFamily="34" charset="-122"/>
                <a:cs typeface="Noto Sans" pitchFamily="34" charset="-120"/>
              </a:rPr>
              <a:t> Đứt nhịp tự động của Agent.</a:t>
            </a:r>
            <a:endParaRPr lang="en-US" sz="1200" dirty="0"/>
          </a:p>
        </p:txBody>
      </p:sp>
      <p:sp>
        <p:nvSpPr>
          <p:cNvPr id="11" name="Shape 9"/>
          <p:cNvSpPr/>
          <p:nvPr/>
        </p:nvSpPr>
        <p:spPr>
          <a:xfrm>
            <a:off x="6959227" y="1879600"/>
            <a:ext cx="4622486" cy="4064000"/>
          </a:xfrm>
          <a:prstGeom prst="roundRect">
            <a:avLst>
              <a:gd name="adj" fmla="val 1012"/>
            </a:avLst>
          </a:prstGeom>
          <a:solidFill>
            <a:srgbClr val="16181C"/>
          </a:solidFill>
          <a:ln/>
        </p:spPr>
      </p:sp>
      <p:sp>
        <p:nvSpPr>
          <p:cNvPr id="12" name="Shape 10"/>
          <p:cNvSpPr/>
          <p:nvPr/>
        </p:nvSpPr>
        <p:spPr>
          <a:xfrm>
            <a:off x="7162422" y="1727200"/>
            <a:ext cx="3555713" cy="304800"/>
          </a:xfrm>
          <a:prstGeom prst="roundRect">
            <a:avLst>
              <a:gd name="adj" fmla="val 13500"/>
            </a:avLst>
          </a:prstGeom>
          <a:solidFill>
            <a:srgbClr val="C8321A"/>
          </a:solidFill>
          <a:ln/>
        </p:spPr>
      </p:sp>
      <p:sp>
        <p:nvSpPr>
          <p:cNvPr id="13" name="Text 11"/>
          <p:cNvSpPr/>
          <p:nvPr/>
        </p:nvSpPr>
        <p:spPr>
          <a:xfrm>
            <a:off x="6609986" y="1780381"/>
            <a:ext cx="4660585" cy="198338"/>
          </a:xfrm>
          <a:prstGeom prst="rect">
            <a:avLst/>
          </a:prstGeom>
          <a:noFill/>
          <a:ln/>
        </p:spPr>
        <p:txBody>
          <a:bodyPr wrap="none" lIns="0" tIns="0" rIns="0" bIns="0" rtlCol="0" anchor="t"/>
          <a:lstStyle/>
          <a:p>
            <a:pPr marL="0" indent="0" algn="ctr">
              <a:lnSpc>
                <a:spcPct val="118000"/>
              </a:lnSpc>
              <a:buNone/>
            </a:pPr>
            <a:r>
              <a:rPr lang="en-US" sz="1100" b="1" dirty="0">
                <a:solidFill>
                  <a:srgbClr val="FFFFFF"/>
                </a:solidFill>
                <a:latin typeface="M PLUS 1 Code Bold" pitchFamily="34" charset="0"/>
                <a:ea typeface="M PLUS 1 Code Bold" pitchFamily="34" charset="-122"/>
                <a:cs typeface="M PLUS 1 Code Bold" pitchFamily="34" charset="-120"/>
              </a:rPr>
              <a:t>★ LỰA CHỌN TỐI ƯU  ★</a:t>
            </a:r>
            <a:endParaRPr lang="en-US" sz="1100" dirty="0"/>
          </a:p>
        </p:txBody>
      </p:sp>
      <p:sp>
        <p:nvSpPr>
          <p:cNvPr id="14" name="Text 12"/>
          <p:cNvSpPr/>
          <p:nvPr/>
        </p:nvSpPr>
        <p:spPr>
          <a:xfrm>
            <a:off x="7219571" y="2235200"/>
            <a:ext cx="4654235" cy="504924"/>
          </a:xfrm>
          <a:prstGeom prst="rect">
            <a:avLst/>
          </a:prstGeom>
          <a:noFill/>
          <a:ln/>
        </p:spPr>
        <p:txBody>
          <a:bodyPr wrap="none" lIns="0" tIns="0" rIns="0" bIns="0" rtlCol="0" anchor="t"/>
          <a:lstStyle/>
          <a:p>
            <a:pPr marL="0" indent="0" algn="l">
              <a:lnSpc>
                <a:spcPct val="118000"/>
              </a:lnSpc>
              <a:buNone/>
            </a:pPr>
            <a:r>
              <a:rPr lang="en-US" sz="2800" b="1" dirty="0">
                <a:solidFill>
                  <a:srgbClr val="FFFFFF"/>
                </a:solidFill>
                <a:latin typeface="Noto Sans Bold" pitchFamily="34" charset="0"/>
                <a:ea typeface="Noto Sans Bold" pitchFamily="34" charset="-122"/>
                <a:cs typeface="Noto Sans Bold" pitchFamily="34" charset="-120"/>
              </a:rPr>
              <a:t>Godot Engine 4.X</a:t>
            </a:r>
            <a:endParaRPr lang="en-US" sz="2800" dirty="0"/>
          </a:p>
        </p:txBody>
      </p:sp>
      <p:sp>
        <p:nvSpPr>
          <p:cNvPr id="15" name="Text 13"/>
          <p:cNvSpPr/>
          <p:nvPr/>
        </p:nvSpPr>
        <p:spPr>
          <a:xfrm>
            <a:off x="7219571" y="2871192"/>
            <a:ext cx="4101799" cy="614759"/>
          </a:xfrm>
          <a:prstGeom prst="rect">
            <a:avLst/>
          </a:prstGeom>
          <a:noFill/>
          <a:ln/>
        </p:spPr>
        <p:txBody>
          <a:bodyPr wrap="square" lIns="0" tIns="0" rIns="0" bIns="0" rtlCol="0" anchor="t"/>
          <a:lstStyle/>
          <a:p>
            <a:pPr marL="0" indent="0" algn="l">
              <a:lnSpc>
                <a:spcPct val="118000"/>
              </a:lnSpc>
              <a:spcAft>
                <a:spcPts val="1100"/>
              </a:spcAft>
              <a:buNone/>
            </a:pPr>
            <a:r>
              <a:rPr lang="en-US" sz="1300" dirty="0">
                <a:solidFill>
                  <a:srgbClr val="E5B842"/>
                </a:solidFill>
                <a:latin typeface="Noto Sans" pitchFamily="34" charset="0"/>
                <a:ea typeface="Noto Sans" pitchFamily="34" charset="-122"/>
                <a:cs typeface="Noto Sans" pitchFamily="34" charset="-120"/>
              </a:rPr>
              <a:t>Vòng phản hồi siêu tốc (Fast Feedback)</a:t>
            </a:r>
            <a:endParaRPr lang="en-US" sz="1300" dirty="0"/>
          </a:p>
          <a:p>
            <a:pPr marL="0" indent="0" algn="l">
              <a:lnSpc>
                <a:spcPct val="118000"/>
              </a:lnSpc>
              <a:buNone/>
            </a:pPr>
            <a:r>
              <a:rPr lang="en-US" sz="1300" b="1" dirty="0">
                <a:solidFill>
                  <a:srgbClr val="FF7A5C"/>
                </a:solidFill>
                <a:latin typeface="Noto Sans Bold" pitchFamily="34" charset="0"/>
                <a:ea typeface="Noto Sans Bold" pitchFamily="34" charset="-122"/>
                <a:cs typeface="Noto Sans Bold" pitchFamily="34" charset="-120"/>
              </a:rPr>
              <a:t>3 VŨ KHÍ CỐT LÕI</a:t>
            </a:r>
            <a:endParaRPr lang="en-US" sz="1300" dirty="0"/>
          </a:p>
        </p:txBody>
      </p:sp>
      <p:sp>
        <p:nvSpPr>
          <p:cNvPr id="16" name="Text 14"/>
          <p:cNvSpPr/>
          <p:nvPr/>
        </p:nvSpPr>
        <p:spPr>
          <a:xfrm>
            <a:off x="7219571" y="3636863"/>
            <a:ext cx="4101799" cy="1068388"/>
          </a:xfrm>
          <a:prstGeom prst="rect">
            <a:avLst/>
          </a:prstGeom>
          <a:noFill/>
          <a:ln/>
        </p:spPr>
        <p:txBody>
          <a:bodyPr wrap="square" lIns="0" tIns="0" rIns="0" bIns="0" rtlCol="0" anchor="t"/>
          <a:lstStyle/>
          <a:p>
            <a:pPr marL="0" indent="0" algn="l">
              <a:lnSpc>
                <a:spcPct val="118000"/>
              </a:lnSpc>
              <a:spcAft>
                <a:spcPts val="1100"/>
              </a:spcAft>
              <a:buNone/>
            </a:pPr>
            <a:r>
              <a:rPr lang="en-US" sz="1400" dirty="0">
                <a:solidFill>
                  <a:srgbClr val="000000"/>
                </a:solidFill>
                <a:latin typeface="Noto Color Emoji" pitchFamily="34" charset="0"/>
                <a:ea typeface="Noto Color Emoji" pitchFamily="34" charset="-122"/>
                <a:cs typeface="Noto Color Emoji" pitchFamily="34" charset="-120"/>
              </a:rPr>
              <a:t>⭐</a:t>
            </a:r>
            <a:r>
              <a:rPr lang="en-US" sz="1400" dirty="0">
                <a:solidFill>
                  <a:srgbClr val="FFFFFF"/>
                </a:solidFill>
                <a:latin typeface="Noto Sans" pitchFamily="34" charset="0"/>
                <a:ea typeface="Noto Sans" pitchFamily="34" charset="-122"/>
                <a:cs typeface="Noto Sans" pitchFamily="34" charset="-120"/>
              </a:rPr>
              <a:t> Plain text (.tscn): AI đọc và diff sạch</a:t>
            </a:r>
            <a:endParaRPr lang="en-US" sz="1400" dirty="0"/>
          </a:p>
          <a:p>
            <a:pPr marL="0" indent="0" algn="l">
              <a:lnSpc>
                <a:spcPct val="118000"/>
              </a:lnSpc>
              <a:spcAft>
                <a:spcPts val="1100"/>
              </a:spcAft>
              <a:buNone/>
            </a:pPr>
            <a:r>
              <a:rPr lang="en-US" sz="1400" dirty="0">
                <a:solidFill>
                  <a:srgbClr val="000000"/>
                </a:solidFill>
                <a:latin typeface="Noto Color Emoji" pitchFamily="34" charset="0"/>
                <a:ea typeface="Noto Color Emoji" pitchFamily="34" charset="-122"/>
                <a:cs typeface="Noto Color Emoji" pitchFamily="34" charset="-120"/>
              </a:rPr>
              <a:t>⭐</a:t>
            </a:r>
            <a:r>
              <a:rPr lang="en-US" sz="1400" dirty="0">
                <a:solidFill>
                  <a:srgbClr val="FFFFFF"/>
                </a:solidFill>
                <a:latin typeface="Noto Sans" pitchFamily="34" charset="0"/>
                <a:ea typeface="Noto Sans" pitchFamily="34" charset="-122"/>
                <a:cs typeface="Noto Sans" pitchFamily="34" charset="-120"/>
              </a:rPr>
              <a:t> Test headless 0.5s qua CLI</a:t>
            </a:r>
            <a:endParaRPr lang="en-US" sz="1400" dirty="0"/>
          </a:p>
          <a:p>
            <a:pPr marL="0" indent="0" algn="l">
              <a:lnSpc>
                <a:spcPct val="118000"/>
              </a:lnSpc>
              <a:buNone/>
            </a:pPr>
            <a:r>
              <a:rPr lang="en-US" sz="1400" dirty="0">
                <a:solidFill>
                  <a:srgbClr val="000000"/>
                </a:solidFill>
                <a:latin typeface="Noto Color Emoji" pitchFamily="34" charset="0"/>
                <a:ea typeface="Noto Color Emoji" pitchFamily="34" charset="-122"/>
                <a:cs typeface="Noto Color Emoji" pitchFamily="34" charset="-120"/>
              </a:rPr>
              <a:t>⭐</a:t>
            </a:r>
            <a:r>
              <a:rPr lang="en-US" sz="1400" dirty="0">
                <a:solidFill>
                  <a:srgbClr val="FFFFFF"/>
                </a:solidFill>
                <a:latin typeface="Noto Sans" pitchFamily="34" charset="0"/>
                <a:ea typeface="Noto Sans" pitchFamily="34" charset="-122"/>
                <a:cs typeface="Noto Sans" pitchFamily="34" charset="-120"/>
              </a:rPr>
              <a:t> ~100MB, tiết kiệm chi phí API</a:t>
            </a:r>
            <a:endParaRPr lang="en-US" sz="1400" dirty="0"/>
          </a:p>
        </p:txBody>
      </p:sp>
      <p:sp>
        <p:nvSpPr>
          <p:cNvPr id="17" name="Text 15"/>
          <p:cNvSpPr/>
          <p:nvPr/>
        </p:nvSpPr>
        <p:spPr>
          <a:xfrm>
            <a:off x="7219571" y="4880471"/>
            <a:ext cx="4972124" cy="234355"/>
          </a:xfrm>
          <a:prstGeom prst="rect">
            <a:avLst/>
          </a:prstGeom>
          <a:noFill/>
          <a:ln/>
        </p:spPr>
        <p:txBody>
          <a:bodyPr wrap="none" lIns="0" tIns="0" rIns="0" bIns="0" rtlCol="0" anchor="t"/>
          <a:lstStyle/>
          <a:p>
            <a:pPr marL="0" indent="0" algn="l">
              <a:lnSpc>
                <a:spcPct val="118000"/>
              </a:lnSpc>
              <a:buNone/>
            </a:pPr>
            <a:r>
              <a:rPr lang="en-US" sz="1300" b="1" dirty="0">
                <a:solidFill>
                  <a:srgbClr val="FF7A5C"/>
                </a:solidFill>
                <a:latin typeface="Noto Sans Bold" pitchFamily="34" charset="0"/>
                <a:ea typeface="Noto Sans Bold" pitchFamily="34" charset="-122"/>
                <a:cs typeface="Noto Sans Bold" pitchFamily="34" charset="-120"/>
              </a:rPr>
              <a:t>ĐÁNH GIÁ</a:t>
            </a:r>
            <a:endParaRPr lang="en-US" sz="1300" dirty="0"/>
          </a:p>
        </p:txBody>
      </p:sp>
      <p:sp>
        <p:nvSpPr>
          <p:cNvPr id="18" name="Text 16"/>
          <p:cNvSpPr/>
          <p:nvPr/>
        </p:nvSpPr>
        <p:spPr>
          <a:xfrm>
            <a:off x="7219571" y="5263952"/>
            <a:ext cx="4972124" cy="258763"/>
          </a:xfrm>
          <a:prstGeom prst="rect">
            <a:avLst/>
          </a:prstGeom>
          <a:noFill/>
          <a:ln/>
        </p:spPr>
        <p:txBody>
          <a:bodyPr wrap="none" lIns="0" tIns="0" rIns="0" bIns="0" rtlCol="0" anchor="t"/>
          <a:lstStyle/>
          <a:p>
            <a:pPr marL="0" indent="0" algn="l">
              <a:lnSpc>
                <a:spcPct val="118000"/>
              </a:lnSpc>
              <a:buNone/>
            </a:pPr>
            <a:r>
              <a:rPr lang="en-US" sz="1400" dirty="0">
                <a:solidFill>
                  <a:srgbClr val="000000"/>
                </a:solidFill>
                <a:latin typeface="Noto Color Emoji" pitchFamily="34" charset="0"/>
                <a:ea typeface="Noto Color Emoji" pitchFamily="34" charset="-122"/>
                <a:cs typeface="Noto Color Emoji" pitchFamily="34" charset="-120"/>
              </a:rPr>
              <a:t>🏆</a:t>
            </a:r>
            <a:r>
              <a:rPr lang="en-US" sz="1400" dirty="0">
                <a:solidFill>
                  <a:srgbClr val="FFFFFF"/>
                </a:solidFill>
                <a:latin typeface="Noto Sans" pitchFamily="34" charset="0"/>
                <a:ea typeface="Noto Sans" pitchFamily="34" charset="-122"/>
                <a:cs typeface="Noto Sans" pitchFamily="34" charset="-120"/>
              </a:rPr>
              <a:t> Recommend cho Solo Dev/Indie game 2D</a:t>
            </a:r>
            <a:endParaRPr lang="en-US" sz="1400" dirty="0"/>
          </a:p>
        </p:txBody>
      </p:sp>
      <p:sp>
        <p:nvSpPr>
          <p:cNvPr id="19" name="Shape 17"/>
          <p:cNvSpPr/>
          <p:nvPr/>
        </p:nvSpPr>
        <p:spPr>
          <a:xfrm>
            <a:off x="609585" y="6121400"/>
            <a:ext cx="10972228" cy="508000"/>
          </a:xfrm>
          <a:prstGeom prst="roundRect">
            <a:avLst>
              <a:gd name="adj" fmla="val 8100"/>
            </a:avLst>
          </a:prstGeom>
          <a:solidFill>
            <a:srgbClr val="C8321A"/>
          </a:solidFill>
          <a:ln/>
        </p:spPr>
      </p:sp>
      <p:sp>
        <p:nvSpPr>
          <p:cNvPr id="20" name="Text 18"/>
          <p:cNvSpPr/>
          <p:nvPr/>
        </p:nvSpPr>
        <p:spPr>
          <a:xfrm>
            <a:off x="666733" y="6258123"/>
            <a:ext cx="11524962" cy="234355"/>
          </a:xfrm>
          <a:prstGeom prst="rect">
            <a:avLst/>
          </a:prstGeom>
          <a:noFill/>
          <a:ln/>
        </p:spPr>
        <p:txBody>
          <a:bodyPr wrap="none" lIns="0" tIns="0" rIns="0" bIns="0" rtlCol="0" anchor="t"/>
          <a:lstStyle/>
          <a:p>
            <a:pPr marL="0" indent="0" algn="l">
              <a:lnSpc>
                <a:spcPct val="118000"/>
              </a:lnSpc>
              <a:buNone/>
            </a:pPr>
            <a:r>
              <a:rPr lang="en-US" sz="1300" b="1" dirty="0">
                <a:solidFill>
                  <a:srgbClr val="FFFFFF"/>
                </a:solidFill>
                <a:latin typeface="Noto Sans Bold" pitchFamily="34" charset="0"/>
                <a:ea typeface="Noto Sans Bold" pitchFamily="34" charset="-122"/>
                <a:cs typeface="Noto Sans Bold" pitchFamily="34" charset="-120"/>
              </a:rPr>
              <a:t>  KẾT LUẬN: Chọn engine phục vụ đúng nhu cầu, không chọn theo trend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1E8"/>
        </a:solidFill>
        <a:effectLst/>
      </p:bgPr>
    </p:bg>
    <p:spTree>
      <p:nvGrpSpPr>
        <p:cNvPr id="1" name=""/>
        <p:cNvGrpSpPr/>
        <p:nvPr/>
      </p:nvGrpSpPr>
      <p:grpSpPr>
        <a:xfrm>
          <a:off x="0" y="0"/>
          <a:ext cx="0" cy="0"/>
          <a:chOff x="0" y="0"/>
          <a:chExt cx="0" cy="0"/>
        </a:xfrm>
      </p:grpSpPr>
      <p:sp>
        <p:nvSpPr>
          <p:cNvPr id="2" name="Shape 0"/>
          <p:cNvSpPr/>
          <p:nvPr/>
        </p:nvSpPr>
        <p:spPr>
          <a:xfrm>
            <a:off x="0" y="39291"/>
            <a:ext cx="12191397" cy="6858000"/>
          </a:xfrm>
          <a:prstGeom prst="roundRect">
            <a:avLst>
              <a:gd name="adj" fmla="val 600"/>
            </a:avLst>
          </a:prstGeom>
          <a:solidFill>
            <a:srgbClr val="FFF1E8"/>
          </a:solidFill>
          <a:ln/>
        </p:spPr>
      </p:sp>
      <p:sp>
        <p:nvSpPr>
          <p:cNvPr id="3" name="Shape 1"/>
          <p:cNvSpPr/>
          <p:nvPr/>
        </p:nvSpPr>
        <p:spPr>
          <a:xfrm>
            <a:off x="10032451" y="0"/>
            <a:ext cx="2158946" cy="6897291"/>
          </a:xfrm>
          <a:prstGeom prst="roundRect">
            <a:avLst>
              <a:gd name="adj" fmla="val 1906"/>
            </a:avLst>
          </a:prstGeom>
          <a:solidFill>
            <a:srgbClr val="F4B9A6"/>
          </a:solidFill>
          <a:ln/>
        </p:spPr>
      </p:sp>
      <p:sp>
        <p:nvSpPr>
          <p:cNvPr id="4" name="Text 2"/>
          <p:cNvSpPr/>
          <p:nvPr/>
        </p:nvSpPr>
        <p:spPr>
          <a:xfrm>
            <a:off x="10216597" y="2540000"/>
            <a:ext cx="1917652" cy="577056"/>
          </a:xfrm>
          <a:prstGeom prst="rect">
            <a:avLst/>
          </a:prstGeom>
          <a:noFill/>
          <a:ln/>
        </p:spPr>
        <p:txBody>
          <a:bodyPr wrap="none" lIns="0" tIns="0" rIns="0" bIns="0" rtlCol="0" anchor="t"/>
          <a:lstStyle/>
          <a:p>
            <a:pPr marL="0" indent="0" algn="l">
              <a:lnSpc>
                <a:spcPct val="118000"/>
              </a:lnSpc>
              <a:buNone/>
            </a:pPr>
            <a:r>
              <a:rPr lang="en-US" sz="3200" dirty="0">
                <a:solidFill>
                  <a:srgbClr val="16181C"/>
                </a:solidFill>
                <a:latin typeface="Noto Sans" pitchFamily="34" charset="0"/>
                <a:ea typeface="Noto Sans" pitchFamily="34" charset="-122"/>
                <a:cs typeface="Noto Sans" pitchFamily="34" charset="-120"/>
              </a:rPr>
              <a:t>{ } ▲ ●</a:t>
            </a:r>
            <a:endParaRPr lang="en-US" sz="3200" dirty="0"/>
          </a:p>
        </p:txBody>
      </p:sp>
      <p:sp>
        <p:nvSpPr>
          <p:cNvPr id="5" name="Text 3"/>
          <p:cNvSpPr/>
          <p:nvPr/>
        </p:nvSpPr>
        <p:spPr>
          <a:xfrm>
            <a:off x="10216597" y="3312160"/>
            <a:ext cx="1733507" cy="762000"/>
          </a:xfrm>
          <a:prstGeom prst="rect">
            <a:avLst/>
          </a:prstGeom>
          <a:noFill/>
          <a:ln/>
        </p:spPr>
        <p:txBody>
          <a:bodyPr wrap="none" lIns="0" tIns="0" rIns="0" bIns="0" rtlCol="0" anchor="t"/>
          <a:lstStyle/>
          <a:p>
            <a:pPr marL="0" indent="0" algn="l">
              <a:lnSpc>
                <a:spcPct val="83000"/>
              </a:lnSpc>
              <a:buNone/>
            </a:pPr>
            <a:r>
              <a:rPr lang="en-US" sz="6000" dirty="0">
                <a:solidFill>
                  <a:srgbClr val="C8321A"/>
                </a:solidFill>
                <a:latin typeface="Noto Sans" pitchFamily="34" charset="0"/>
                <a:ea typeface="Noto Sans" pitchFamily="34" charset="-122"/>
                <a:cs typeface="Noto Sans" pitchFamily="34" charset="-120"/>
              </a:rPr>
              <a:t>→</a:t>
            </a:r>
            <a:endParaRPr lang="en-US" sz="6000" dirty="0"/>
          </a:p>
        </p:txBody>
      </p:sp>
      <p:sp>
        <p:nvSpPr>
          <p:cNvPr id="6" name="Text 4"/>
          <p:cNvSpPr/>
          <p:nvPr/>
        </p:nvSpPr>
        <p:spPr>
          <a:xfrm>
            <a:off x="10216597" y="4445000"/>
            <a:ext cx="1975098" cy="216396"/>
          </a:xfrm>
          <a:prstGeom prst="rect">
            <a:avLst/>
          </a:prstGeom>
          <a:noFill/>
          <a:ln/>
        </p:spPr>
        <p:txBody>
          <a:bodyPr wrap="none" lIns="0" tIns="0" rIns="0" bIns="0" rtlCol="0" anchor="t"/>
          <a:lstStyle/>
          <a:p>
            <a:pPr marL="0" indent="0" algn="l">
              <a:lnSpc>
                <a:spcPct val="118000"/>
              </a:lnSpc>
              <a:buNone/>
            </a:pPr>
            <a:r>
              <a:rPr lang="en-US" sz="1200" b="1" dirty="0">
                <a:solidFill>
                  <a:srgbClr val="16181C"/>
                </a:solidFill>
                <a:latin typeface="Noto Sans Bold" pitchFamily="34" charset="0"/>
                <a:ea typeface="Noto Sans Bold" pitchFamily="34" charset="-122"/>
                <a:cs typeface="Noto Sans Bold" pitchFamily="34" charset="-120"/>
              </a:rPr>
              <a:t>Đúng mục tiêu sửa lỗi</a:t>
            </a:r>
            <a:endParaRPr lang="en-US" sz="1200" dirty="0"/>
          </a:p>
        </p:txBody>
      </p:sp>
      <p:sp>
        <p:nvSpPr>
          <p:cNvPr id="8" name="Shape 6"/>
          <p:cNvSpPr/>
          <p:nvPr/>
        </p:nvSpPr>
        <p:spPr>
          <a:xfrm>
            <a:off x="609585" y="457200"/>
            <a:ext cx="1142971" cy="127000"/>
          </a:xfrm>
          <a:prstGeom prst="roundRect">
            <a:avLst>
              <a:gd name="adj" fmla="val 32399"/>
            </a:avLst>
          </a:prstGeom>
          <a:solidFill>
            <a:srgbClr val="C8321A"/>
          </a:solidFill>
          <a:ln/>
        </p:spPr>
      </p:sp>
      <p:sp>
        <p:nvSpPr>
          <p:cNvPr id="9" name="Text 7"/>
          <p:cNvSpPr/>
          <p:nvPr/>
        </p:nvSpPr>
        <p:spPr>
          <a:xfrm>
            <a:off x="666733" y="685800"/>
            <a:ext cx="8667236" cy="198338"/>
          </a:xfrm>
          <a:prstGeom prst="rect">
            <a:avLst/>
          </a:prstGeom>
          <a:noFill/>
          <a:ln/>
        </p:spPr>
        <p:txBody>
          <a:bodyPr wrap="none" lIns="0" tIns="0" rIns="0" bIns="0" rtlCol="0" anchor="t"/>
          <a:lstStyle/>
          <a:p>
            <a:pPr marL="0" indent="0" algn="l">
              <a:lnSpc>
                <a:spcPct val="118000"/>
              </a:lnSpc>
              <a:buNone/>
            </a:pPr>
            <a:r>
              <a:rPr lang="en-US" sz="1100" kern="100" spc="66" dirty="0">
                <a:solidFill>
                  <a:srgbClr val="34363B"/>
                </a:solidFill>
                <a:latin typeface="M PLUS 1 Code Medium" pitchFamily="34" charset="0"/>
                <a:ea typeface="M PLUS 1 Code Medium" pitchFamily="34" charset="-122"/>
                <a:cs typeface="M PLUS 1 Code Medium" pitchFamily="34" charset="-120"/>
              </a:rPr>
              <a:t>WORKFLOW · HỢP ĐỒNG TRƯỚC THI CÔNG</a:t>
            </a:r>
            <a:endParaRPr lang="en-US" sz="1100" dirty="0"/>
          </a:p>
        </p:txBody>
      </p:sp>
      <p:sp>
        <p:nvSpPr>
          <p:cNvPr id="10" name="Text 8"/>
          <p:cNvSpPr/>
          <p:nvPr/>
        </p:nvSpPr>
        <p:spPr>
          <a:xfrm>
            <a:off x="666733" y="894259"/>
            <a:ext cx="8775183" cy="978297"/>
          </a:xfrm>
          <a:prstGeom prst="rect">
            <a:avLst/>
          </a:prstGeom>
          <a:noFill/>
          <a:ln/>
        </p:spPr>
        <p:txBody>
          <a:bodyPr wrap="square" lIns="0" tIns="0" rIns="0" bIns="0" rtlCol="0" anchor="t">
            <a:normAutofit/>
          </a:bodyPr>
          <a:lstStyle/>
          <a:p>
            <a:pPr marL="0" indent="0" algn="l">
              <a:lnSpc>
                <a:spcPct val="89000"/>
              </a:lnSpc>
              <a:buNone/>
            </a:pPr>
            <a:r>
              <a:rPr lang="en-US" sz="3600" b="1" dirty="0">
                <a:solidFill>
                  <a:srgbClr val="16181C"/>
                </a:solidFill>
                <a:latin typeface="Noto Sans Bold" pitchFamily="34" charset="0"/>
                <a:ea typeface="Noto Sans Bold" pitchFamily="34" charset="-122"/>
                <a:cs typeface="Noto Sans Bold" pitchFamily="34" charset="-120"/>
              </a:rPr>
              <a:t>Tách model thiết kế </a:t>
            </a:r>
            <a:endParaRPr lang="en-US" sz="3600" dirty="0"/>
          </a:p>
          <a:p>
            <a:pPr marL="0" indent="0" algn="l">
              <a:lnSpc>
                <a:spcPct val="89000"/>
              </a:lnSpc>
              <a:buNone/>
            </a:pPr>
            <a:r>
              <a:rPr lang="en-US" sz="3600" b="1" dirty="0">
                <a:solidFill>
                  <a:srgbClr val="16181C"/>
                </a:solidFill>
                <a:latin typeface="Noto Sans Bold" pitchFamily="34" charset="0"/>
                <a:ea typeface="Noto Sans Bold" pitchFamily="34" charset="-122"/>
                <a:cs typeface="Noto Sans Bold" pitchFamily="34" charset="-120"/>
              </a:rPr>
              <a:t>khỏi model thi công</a:t>
            </a:r>
            <a:endParaRPr lang="en-US" sz="3600" dirty="0"/>
          </a:p>
        </p:txBody>
      </p:sp>
      <p:sp>
        <p:nvSpPr>
          <p:cNvPr id="11" name="Shape 9"/>
          <p:cNvSpPr/>
          <p:nvPr/>
        </p:nvSpPr>
        <p:spPr>
          <a:xfrm>
            <a:off x="609585" y="2413000"/>
            <a:ext cx="4190697" cy="2794000"/>
          </a:xfrm>
          <a:prstGeom prst="roundRect">
            <a:avLst>
              <a:gd name="adj" fmla="val 1473"/>
            </a:avLst>
          </a:prstGeom>
          <a:solidFill>
            <a:srgbClr val="16181C"/>
          </a:solidFill>
          <a:ln/>
        </p:spPr>
      </p:sp>
      <p:sp>
        <p:nvSpPr>
          <p:cNvPr id="12" name="Text 10"/>
          <p:cNvSpPr/>
          <p:nvPr/>
        </p:nvSpPr>
        <p:spPr>
          <a:xfrm>
            <a:off x="920727" y="2590800"/>
            <a:ext cx="3587462" cy="234355"/>
          </a:xfrm>
          <a:prstGeom prst="rect">
            <a:avLst/>
          </a:prstGeom>
          <a:noFill/>
          <a:ln/>
        </p:spPr>
        <p:txBody>
          <a:bodyPr wrap="none" lIns="0" tIns="0" rIns="0" bIns="0" rtlCol="0" anchor="t"/>
          <a:lstStyle/>
          <a:p>
            <a:pPr marL="0" indent="0" algn="l">
              <a:lnSpc>
                <a:spcPct val="118000"/>
              </a:lnSpc>
              <a:buNone/>
            </a:pPr>
            <a:r>
              <a:rPr lang="en-US" sz="1300" b="1" dirty="0">
                <a:solidFill>
                  <a:srgbClr val="FF7A5C"/>
                </a:solidFill>
                <a:latin typeface="M PLUS 1 Code Bold" pitchFamily="34" charset="0"/>
                <a:ea typeface="M PLUS 1 Code Bold" pitchFamily="34" charset="-122"/>
                <a:cs typeface="M PLUS 1 Code Bold" pitchFamily="34" charset="-120"/>
              </a:rPr>
              <a:t>01 · ARCHITECT</a:t>
            </a:r>
            <a:endParaRPr lang="en-US" sz="1300" dirty="0"/>
          </a:p>
        </p:txBody>
      </p:sp>
      <p:sp>
        <p:nvSpPr>
          <p:cNvPr id="13" name="Text 11"/>
          <p:cNvSpPr/>
          <p:nvPr/>
        </p:nvSpPr>
        <p:spPr>
          <a:xfrm>
            <a:off x="920727" y="2946400"/>
            <a:ext cx="3511264" cy="597892"/>
          </a:xfrm>
          <a:prstGeom prst="rect">
            <a:avLst/>
          </a:prstGeom>
          <a:noFill/>
          <a:ln/>
        </p:spPr>
        <p:txBody>
          <a:bodyPr wrap="none" lIns="0" tIns="0" rIns="0" bIns="0" rtlCol="0" anchor="t"/>
          <a:lstStyle/>
          <a:p>
            <a:pPr marL="0" indent="0" algn="l">
              <a:lnSpc>
                <a:spcPct val="89000"/>
              </a:lnSpc>
              <a:buNone/>
            </a:pPr>
            <a:r>
              <a:rPr lang="en-US" sz="4400" b="1" dirty="0">
                <a:solidFill>
                  <a:srgbClr val="FFFFFF"/>
                </a:solidFill>
                <a:latin typeface="Noto Sans Bold" pitchFamily="34" charset="0"/>
                <a:ea typeface="Noto Sans Bold" pitchFamily="34" charset="-122"/>
                <a:cs typeface="Noto Sans Bold" pitchFamily="34" charset="-120"/>
              </a:rPr>
              <a:t>Claude</a:t>
            </a:r>
            <a:endParaRPr lang="en-US" sz="4400" dirty="0"/>
          </a:p>
        </p:txBody>
      </p:sp>
      <p:sp>
        <p:nvSpPr>
          <p:cNvPr id="14" name="Text 12"/>
          <p:cNvSpPr/>
          <p:nvPr/>
        </p:nvSpPr>
        <p:spPr>
          <a:xfrm>
            <a:off x="920727" y="4064000"/>
            <a:ext cx="4120848" cy="360660"/>
          </a:xfrm>
          <a:prstGeom prst="rect">
            <a:avLst/>
          </a:prstGeom>
          <a:noFill/>
          <a:ln/>
        </p:spPr>
        <p:txBody>
          <a:bodyPr wrap="none" lIns="0" tIns="0" rIns="0" bIns="0" rtlCol="0" anchor="t"/>
          <a:lstStyle/>
          <a:p>
            <a:pPr marL="0" indent="0" algn="l">
              <a:lnSpc>
                <a:spcPct val="118000"/>
              </a:lnSpc>
              <a:buNone/>
            </a:pPr>
            <a:r>
              <a:rPr lang="en-US" sz="2000" dirty="0">
                <a:solidFill>
                  <a:srgbClr val="FFF1E8"/>
                </a:solidFill>
                <a:latin typeface="Noto Sans" pitchFamily="34" charset="0"/>
                <a:ea typeface="Noto Sans" pitchFamily="34" charset="-122"/>
                <a:cs typeface="Noto Sans" pitchFamily="34" charset="-120"/>
              </a:rPr>
              <a:t>Repo · rủi ro · spec</a:t>
            </a:r>
            <a:endParaRPr lang="en-US" sz="2000" dirty="0"/>
          </a:p>
        </p:txBody>
      </p:sp>
      <p:sp>
        <p:nvSpPr>
          <p:cNvPr id="15" name="Shape 13"/>
          <p:cNvSpPr/>
          <p:nvPr/>
        </p:nvSpPr>
        <p:spPr>
          <a:xfrm>
            <a:off x="3885904" y="2540000"/>
            <a:ext cx="660383" cy="660400"/>
          </a:xfrm>
          <a:prstGeom prst="ellipse">
            <a:avLst/>
          </a:prstGeom>
          <a:solidFill>
            <a:srgbClr val="FFF1E8"/>
          </a:solidFill>
          <a:ln/>
        </p:spPr>
      </p:sp>
      <p:pic>
        <p:nvPicPr>
          <p:cNvPr id="16" name="Image 0" descr="preencoded.png"/>
          <p:cNvPicPr>
            <a:picLocks noChangeAspect="1"/>
          </p:cNvPicPr>
          <p:nvPr/>
        </p:nvPicPr>
        <p:blipFill>
          <a:blip r:embed="rId3"/>
          <a:stretch>
            <a:fillRect/>
          </a:stretch>
        </p:blipFill>
        <p:spPr>
          <a:xfrm>
            <a:off x="4044650" y="2689225"/>
            <a:ext cx="342891" cy="342900"/>
          </a:xfrm>
          <a:prstGeom prst="rect">
            <a:avLst/>
          </a:prstGeom>
        </p:spPr>
      </p:pic>
      <p:sp>
        <p:nvSpPr>
          <p:cNvPr id="17" name="Shape 14"/>
          <p:cNvSpPr/>
          <p:nvPr/>
        </p:nvSpPr>
        <p:spPr>
          <a:xfrm>
            <a:off x="5486064" y="2413000"/>
            <a:ext cx="4190697" cy="2794000"/>
          </a:xfrm>
          <a:prstGeom prst="roundRect">
            <a:avLst>
              <a:gd name="adj" fmla="val 1473"/>
            </a:avLst>
          </a:prstGeom>
          <a:solidFill>
            <a:srgbClr val="F4B9A6"/>
          </a:solidFill>
          <a:ln w="25399">
            <a:solidFill>
              <a:srgbClr val="16181C"/>
            </a:solidFill>
            <a:prstDash val="solid"/>
          </a:ln>
        </p:spPr>
      </p:sp>
      <p:sp>
        <p:nvSpPr>
          <p:cNvPr id="18" name="Text 15"/>
          <p:cNvSpPr/>
          <p:nvPr/>
        </p:nvSpPr>
        <p:spPr>
          <a:xfrm>
            <a:off x="6178197" y="2590800"/>
            <a:ext cx="3587462" cy="234355"/>
          </a:xfrm>
          <a:prstGeom prst="rect">
            <a:avLst/>
          </a:prstGeom>
          <a:noFill/>
          <a:ln/>
        </p:spPr>
        <p:txBody>
          <a:bodyPr wrap="none" lIns="0" tIns="0" rIns="0" bIns="0" rtlCol="0" anchor="t"/>
          <a:lstStyle/>
          <a:p>
            <a:pPr marL="0" indent="0" algn="l">
              <a:lnSpc>
                <a:spcPct val="118000"/>
              </a:lnSpc>
              <a:buNone/>
            </a:pPr>
            <a:r>
              <a:rPr lang="en-US" sz="1300" b="1" dirty="0">
                <a:solidFill>
                  <a:srgbClr val="C8321A"/>
                </a:solidFill>
                <a:latin typeface="M PLUS 1 Code Bold" pitchFamily="34" charset="0"/>
                <a:ea typeface="M PLUS 1 Code Bold" pitchFamily="34" charset="-122"/>
                <a:cs typeface="M PLUS 1 Code Bold" pitchFamily="34" charset="-120"/>
              </a:rPr>
              <a:t>02 · BUILDER</a:t>
            </a:r>
            <a:endParaRPr lang="en-US" sz="1300" dirty="0"/>
          </a:p>
        </p:txBody>
      </p:sp>
      <p:sp>
        <p:nvSpPr>
          <p:cNvPr id="19" name="Text 16"/>
          <p:cNvSpPr/>
          <p:nvPr/>
        </p:nvSpPr>
        <p:spPr>
          <a:xfrm>
            <a:off x="6178197" y="2895203"/>
            <a:ext cx="3257270" cy="706438"/>
          </a:xfrm>
          <a:prstGeom prst="rect">
            <a:avLst/>
          </a:prstGeom>
          <a:noFill/>
          <a:ln/>
        </p:spPr>
        <p:txBody>
          <a:bodyPr wrap="square" lIns="0" tIns="0" rIns="0" bIns="0" rtlCol="0" anchor="t">
            <a:normAutofit/>
          </a:bodyPr>
          <a:lstStyle/>
          <a:p>
            <a:pPr marL="0" indent="0" algn="l">
              <a:lnSpc>
                <a:spcPct val="89000"/>
              </a:lnSpc>
              <a:buNone/>
            </a:pPr>
            <a:r>
              <a:rPr lang="en-US" sz="2600" b="1" dirty="0">
                <a:solidFill>
                  <a:srgbClr val="16181C"/>
                </a:solidFill>
                <a:latin typeface="Noto Sans Bold" pitchFamily="34" charset="0"/>
                <a:ea typeface="Noto Sans Bold" pitchFamily="34" charset="-122"/>
                <a:cs typeface="Noto Sans Bold" pitchFamily="34" charset="-120"/>
              </a:rPr>
              <a:t>GPT-5.6 Sol / Antigravity Agent</a:t>
            </a:r>
            <a:endParaRPr lang="en-US" sz="2600" dirty="0"/>
          </a:p>
        </p:txBody>
      </p:sp>
      <p:sp>
        <p:nvSpPr>
          <p:cNvPr id="20" name="Text 17"/>
          <p:cNvSpPr/>
          <p:nvPr/>
        </p:nvSpPr>
        <p:spPr>
          <a:xfrm>
            <a:off x="6178197" y="4191198"/>
            <a:ext cx="3314419" cy="649089"/>
          </a:xfrm>
          <a:prstGeom prst="rect">
            <a:avLst/>
          </a:prstGeom>
          <a:noFill/>
          <a:ln/>
        </p:spPr>
        <p:txBody>
          <a:bodyPr wrap="square" lIns="0" tIns="0" rIns="0" bIns="0" rtlCol="0" anchor="t">
            <a:normAutofit/>
          </a:bodyPr>
          <a:lstStyle/>
          <a:p>
            <a:pPr marL="0" indent="0" algn="l">
              <a:lnSpc>
                <a:spcPct val="118000"/>
              </a:lnSpc>
              <a:buNone/>
            </a:pPr>
            <a:r>
              <a:rPr lang="en-US" sz="1800" dirty="0">
                <a:solidFill>
                  <a:srgbClr val="16181C"/>
                </a:solidFill>
                <a:latin typeface="Noto Sans" pitchFamily="34" charset="0"/>
                <a:ea typeface="Noto Sans" pitchFamily="34" charset="-122"/>
                <a:cs typeface="Noto Sans" pitchFamily="34" charset="-120"/>
              </a:rPr>
              <a:t>99 Domain Skills</a:t>
            </a:r>
            <a:endParaRPr lang="en-US" sz="1800" dirty="0"/>
          </a:p>
          <a:p>
            <a:pPr marL="0" indent="0" algn="l">
              <a:lnSpc>
                <a:spcPct val="118000"/>
              </a:lnSpc>
              <a:buNone/>
            </a:pPr>
            <a:r>
              <a:rPr lang="en-US" sz="1800" dirty="0">
                <a:solidFill>
                  <a:srgbClr val="16181C"/>
                </a:solidFill>
                <a:latin typeface="Noto Sans" pitchFamily="34" charset="0"/>
                <a:ea typeface="Noto Sans" pitchFamily="34" charset="-122"/>
                <a:cs typeface="Noto Sans" pitchFamily="34" charset="-120"/>
              </a:rPr>
              <a:t>Code · test · diff</a:t>
            </a:r>
            <a:endParaRPr lang="en-US" sz="1800" dirty="0"/>
          </a:p>
        </p:txBody>
      </p:sp>
      <p:sp>
        <p:nvSpPr>
          <p:cNvPr id="21" name="Shape 18"/>
          <p:cNvSpPr/>
          <p:nvPr/>
        </p:nvSpPr>
        <p:spPr>
          <a:xfrm>
            <a:off x="8762483" y="2540000"/>
            <a:ext cx="660383" cy="660400"/>
          </a:xfrm>
          <a:prstGeom prst="ellipse">
            <a:avLst/>
          </a:prstGeom>
          <a:solidFill>
            <a:srgbClr val="FFF1E8"/>
          </a:solidFill>
          <a:ln/>
        </p:spPr>
      </p:sp>
      <p:pic>
        <p:nvPicPr>
          <p:cNvPr id="22" name="Image 1" descr="preencoded.png"/>
          <p:cNvPicPr>
            <a:picLocks noChangeAspect="1"/>
          </p:cNvPicPr>
          <p:nvPr/>
        </p:nvPicPr>
        <p:blipFill>
          <a:blip r:embed="rId4"/>
          <a:stretch>
            <a:fillRect/>
          </a:stretch>
        </p:blipFill>
        <p:spPr>
          <a:xfrm>
            <a:off x="8978378" y="2775506"/>
            <a:ext cx="228594" cy="215265"/>
          </a:xfrm>
          <a:prstGeom prst="rect">
            <a:avLst/>
          </a:prstGeom>
        </p:spPr>
      </p:pic>
      <p:sp>
        <p:nvSpPr>
          <p:cNvPr id="23" name="Shape 19"/>
          <p:cNvSpPr/>
          <p:nvPr/>
        </p:nvSpPr>
        <p:spPr>
          <a:xfrm>
            <a:off x="4508189" y="3060700"/>
            <a:ext cx="1269968" cy="1270000"/>
          </a:xfrm>
          <a:prstGeom prst="ellipse">
            <a:avLst/>
          </a:prstGeom>
          <a:solidFill>
            <a:srgbClr val="C8321A"/>
          </a:solidFill>
          <a:ln w="19050">
            <a:solidFill>
              <a:srgbClr val="16181C"/>
            </a:solidFill>
            <a:prstDash val="solid"/>
          </a:ln>
        </p:spPr>
      </p:sp>
      <p:sp>
        <p:nvSpPr>
          <p:cNvPr id="24" name="Text 20"/>
          <p:cNvSpPr/>
          <p:nvPr/>
        </p:nvSpPr>
        <p:spPr>
          <a:xfrm>
            <a:off x="4019251" y="3467100"/>
            <a:ext cx="2247844" cy="180280"/>
          </a:xfrm>
          <a:prstGeom prst="rect">
            <a:avLst/>
          </a:prstGeom>
          <a:noFill/>
          <a:ln/>
        </p:spPr>
        <p:txBody>
          <a:bodyPr wrap="none" lIns="0" tIns="0" rIns="0" bIns="0" rtlCol="0" anchor="t"/>
          <a:lstStyle/>
          <a:p>
            <a:pPr marL="0" indent="0" algn="ctr">
              <a:lnSpc>
                <a:spcPct val="118000"/>
              </a:lnSpc>
              <a:buNone/>
            </a:pPr>
            <a:r>
              <a:rPr lang="en-US" sz="1000" b="1" dirty="0">
                <a:solidFill>
                  <a:srgbClr val="FFFFFF"/>
                </a:solidFill>
                <a:latin typeface="Noto Sans Bold" pitchFamily="34" charset="0"/>
                <a:ea typeface="Noto Sans Bold" pitchFamily="34" charset="-122"/>
                <a:cs typeface="Noto Sans Bold" pitchFamily="34" charset="-120"/>
              </a:rPr>
              <a:t>Human</a:t>
            </a:r>
            <a:endParaRPr lang="en-US" sz="1000" dirty="0"/>
          </a:p>
        </p:txBody>
      </p:sp>
      <p:sp>
        <p:nvSpPr>
          <p:cNvPr id="25" name="Text 21"/>
          <p:cNvSpPr/>
          <p:nvPr/>
        </p:nvSpPr>
        <p:spPr>
          <a:xfrm>
            <a:off x="4019251" y="3733800"/>
            <a:ext cx="2247844" cy="234355"/>
          </a:xfrm>
          <a:prstGeom prst="rect">
            <a:avLst/>
          </a:prstGeom>
          <a:noFill/>
          <a:ln/>
        </p:spPr>
        <p:txBody>
          <a:bodyPr wrap="none" lIns="0" tIns="0" rIns="0" bIns="0" rtlCol="0" anchor="t"/>
          <a:lstStyle/>
          <a:p>
            <a:pPr marL="0" indent="0" algn="ctr">
              <a:lnSpc>
                <a:spcPct val="118000"/>
              </a:lnSpc>
              <a:buNone/>
            </a:pPr>
            <a:r>
              <a:rPr lang="en-US" sz="1300" b="1" dirty="0">
                <a:solidFill>
                  <a:srgbClr val="FFFFFF"/>
                </a:solidFill>
                <a:latin typeface="Noto Sans Bold" pitchFamily="34" charset="0"/>
                <a:ea typeface="Noto Sans Bold" pitchFamily="34" charset="-122"/>
                <a:cs typeface="Noto Sans Bold" pitchFamily="34" charset="-120"/>
              </a:rPr>
              <a:t>Approve</a:t>
            </a:r>
            <a:endParaRPr lang="en-US" sz="1300" dirty="0"/>
          </a:p>
        </p:txBody>
      </p:sp>
      <p:sp>
        <p:nvSpPr>
          <p:cNvPr id="26" name="Shape 22"/>
          <p:cNvSpPr/>
          <p:nvPr/>
        </p:nvSpPr>
        <p:spPr>
          <a:xfrm>
            <a:off x="609585" y="5588000"/>
            <a:ext cx="10972228" cy="762000"/>
          </a:xfrm>
          <a:prstGeom prst="roundRect">
            <a:avLst>
              <a:gd name="adj" fmla="val 5400"/>
            </a:avLst>
          </a:prstGeom>
          <a:solidFill>
            <a:srgbClr val="16181C"/>
          </a:solidFill>
          <a:ln/>
        </p:spPr>
      </p:sp>
      <p:sp>
        <p:nvSpPr>
          <p:cNvPr id="27" name="Text 23"/>
          <p:cNvSpPr/>
          <p:nvPr/>
        </p:nvSpPr>
        <p:spPr>
          <a:xfrm>
            <a:off x="869928" y="5715000"/>
            <a:ext cx="11321767" cy="301228"/>
          </a:xfrm>
          <a:prstGeom prst="rect">
            <a:avLst/>
          </a:prstGeom>
          <a:noFill/>
          <a:ln/>
        </p:spPr>
        <p:txBody>
          <a:bodyPr wrap="none" lIns="0" tIns="0" rIns="0" bIns="0" rtlCol="0" anchor="t"/>
          <a:lstStyle/>
          <a:p>
            <a:pPr marL="0" indent="0" algn="l">
              <a:lnSpc>
                <a:spcPct val="118000"/>
              </a:lnSpc>
              <a:buNone/>
            </a:pPr>
            <a:r>
              <a:rPr lang="en-US" sz="1600" dirty="0">
                <a:solidFill>
                  <a:srgbClr val="FFFFFF"/>
                </a:solidFill>
                <a:latin typeface="Noto Sans" pitchFamily="34" charset="0"/>
                <a:ea typeface="Noto Sans" pitchFamily="34" charset="-122"/>
                <a:cs typeface="Noto Sans" pitchFamily="34" charset="-120"/>
              </a:rPr>
              <a:t>Sửa </a:t>
            </a:r>
            <a:r>
              <a:rPr lang="en-US" sz="1600" dirty="0">
                <a:solidFill>
                  <a:srgbClr val="C8321A"/>
                </a:solidFill>
                <a:highlight>
                  <a:srgbClr val="F2E4DB"/>
                </a:highlight>
                <a:latin typeface="Consolas" pitchFamily="34" charset="0"/>
                <a:ea typeface="Consolas" pitchFamily="34" charset="-122"/>
                <a:cs typeface="Consolas" pitchFamily="34" charset="-120"/>
              </a:rPr>
              <a:t>inventory_ui.gd</a:t>
            </a:r>
            <a:r>
              <a:rPr lang="en-US" sz="1600" dirty="0">
                <a:solidFill>
                  <a:srgbClr val="FFFFFF"/>
                </a:solidFill>
                <a:latin typeface="Noto Sans" pitchFamily="34" charset="0"/>
                <a:ea typeface="Noto Sans" pitchFamily="34" charset="-122"/>
                <a:cs typeface="Noto Sans" pitchFamily="34" charset="-120"/>
              </a:rPr>
              <a:t> để click Hotbar không bắn tên. Không sửa script player.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5080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 NỀN TẢNG CỐT LÕI </a:t>
            </a:r>
            <a:r>
              <a:rPr lang="vi-VN" sz="1100" kern="100" spc="93" dirty="0">
                <a:solidFill>
                  <a:srgbClr val="34363B"/>
                </a:solidFill>
                <a:latin typeface="M PLUS 1 Code Medium" pitchFamily="34" charset="0"/>
                <a:ea typeface="M PLUS 1 Code Medium" pitchFamily="34" charset="-122"/>
                <a:cs typeface="M PLUS 1 Code Medium" pitchFamily="34" charset="-120"/>
              </a:rPr>
              <a:t>KHI DEV GAME</a:t>
            </a:r>
            <a:endParaRPr lang="en-US" sz="1100" dirty="0"/>
          </a:p>
        </p:txBody>
      </p:sp>
      <p:sp>
        <p:nvSpPr>
          <p:cNvPr id="3" name="Text 1"/>
          <p:cNvSpPr/>
          <p:nvPr/>
        </p:nvSpPr>
        <p:spPr>
          <a:xfrm>
            <a:off x="609585" y="736600"/>
            <a:ext cx="11524962" cy="434777"/>
          </a:xfrm>
          <a:prstGeom prst="rect">
            <a:avLst/>
          </a:prstGeom>
          <a:noFill/>
          <a:ln/>
        </p:spPr>
        <p:txBody>
          <a:bodyPr wrap="none" lIns="0" tIns="0" rIns="0" bIns="0" rtlCol="0" anchor="t"/>
          <a:lstStyle/>
          <a:p>
            <a:pPr marL="0" indent="0" algn="l">
              <a:lnSpc>
                <a:spcPct val="89000"/>
              </a:lnSpc>
              <a:buNone/>
            </a:pPr>
            <a:r>
              <a:rPr lang="en-US" sz="3200" b="1" kern="100" spc="-42" dirty="0">
                <a:solidFill>
                  <a:srgbClr val="14161A"/>
                </a:solidFill>
                <a:latin typeface="Noto Sans Bold" pitchFamily="34" charset="0"/>
                <a:ea typeface="Noto Sans Bold" pitchFamily="34" charset="-122"/>
                <a:cs typeface="Noto Sans Bold" pitchFamily="34" charset="-120"/>
              </a:rPr>
              <a:t>Muốn AI code đúng? Phải hiểu Game Mechanics!</a:t>
            </a:r>
            <a:endParaRPr lang="en-US" sz="3200" dirty="0"/>
          </a:p>
        </p:txBody>
      </p:sp>
      <p:sp>
        <p:nvSpPr>
          <p:cNvPr id="4" name="Shape 2"/>
          <p:cNvSpPr/>
          <p:nvPr/>
        </p:nvSpPr>
        <p:spPr>
          <a:xfrm>
            <a:off x="609585" y="1371600"/>
            <a:ext cx="2742834" cy="31452"/>
          </a:xfrm>
          <a:prstGeom prst="roundRect">
            <a:avLst>
              <a:gd name="adj" fmla="val 49999"/>
            </a:avLst>
          </a:prstGeom>
          <a:solidFill>
            <a:srgbClr val="C8321A"/>
          </a:solidFill>
          <a:ln/>
        </p:spPr>
      </p:sp>
      <p:sp>
        <p:nvSpPr>
          <p:cNvPr id="5" name="Text 3"/>
          <p:cNvSpPr/>
          <p:nvPr/>
        </p:nvSpPr>
        <p:spPr>
          <a:xfrm>
            <a:off x="609585" y="1498600"/>
            <a:ext cx="11582110" cy="252413"/>
          </a:xfrm>
          <a:prstGeom prst="rect">
            <a:avLst/>
          </a:prstGeom>
          <a:noFill/>
          <a:ln/>
        </p:spPr>
        <p:txBody>
          <a:bodyPr wrap="none" lIns="0" tIns="0" rIns="0" bIns="0" rtlCol="0" anchor="t"/>
          <a:lstStyle/>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Game là không gian vật lý 60 FPS, không phải dữ liệu CRUD tĩnh. Prompt chung chung sẽ khiến AI đoán mò.</a:t>
            </a:r>
            <a:endParaRPr lang="en-US" sz="1400" dirty="0"/>
          </a:p>
        </p:txBody>
      </p:sp>
      <p:sp>
        <p:nvSpPr>
          <p:cNvPr id="6" name="Shape 4"/>
          <p:cNvSpPr/>
          <p:nvPr/>
        </p:nvSpPr>
        <p:spPr>
          <a:xfrm>
            <a:off x="609585" y="2159000"/>
            <a:ext cx="5384467" cy="2997200"/>
          </a:xfrm>
          <a:prstGeom prst="roundRect">
            <a:avLst>
              <a:gd name="adj" fmla="val 1373"/>
            </a:avLst>
          </a:prstGeom>
          <a:solidFill>
            <a:srgbClr val="FFFFFF"/>
          </a:solidFill>
          <a:ln/>
        </p:spPr>
      </p:sp>
      <p:sp>
        <p:nvSpPr>
          <p:cNvPr id="7" name="Shape 5"/>
          <p:cNvSpPr/>
          <p:nvPr/>
        </p:nvSpPr>
        <p:spPr>
          <a:xfrm>
            <a:off x="609585" y="2159000"/>
            <a:ext cx="5384467" cy="63500"/>
          </a:xfrm>
          <a:prstGeom prst="roundRect">
            <a:avLst>
              <a:gd name="adj" fmla="val 49999"/>
            </a:avLst>
          </a:prstGeom>
          <a:solidFill>
            <a:srgbClr val="C8321A"/>
          </a:solidFill>
          <a:ln/>
        </p:spPr>
      </p:sp>
      <p:sp>
        <p:nvSpPr>
          <p:cNvPr id="8" name="Text 6"/>
          <p:cNvSpPr/>
          <p:nvPr/>
        </p:nvSpPr>
        <p:spPr>
          <a:xfrm>
            <a:off x="863578" y="2336800"/>
            <a:ext cx="5569902" cy="230981"/>
          </a:xfrm>
          <a:prstGeom prst="rect">
            <a:avLst/>
          </a:prstGeom>
          <a:noFill/>
          <a:ln/>
        </p:spPr>
        <p:txBody>
          <a:bodyPr wrap="none" lIns="0" tIns="0" rIns="0" bIns="0" rtlCol="0" anchor="t"/>
          <a:lstStyle/>
          <a:p>
            <a:pPr marL="0" indent="0" algn="l">
              <a:lnSpc>
                <a:spcPct val="89000"/>
              </a:lnSpc>
              <a:buNone/>
            </a:pPr>
            <a:r>
              <a:rPr lang="en-US" sz="1700" dirty="0">
                <a:solidFill>
                  <a:srgbClr val="2B2D31"/>
                </a:solidFill>
                <a:latin typeface="Noto Sans" pitchFamily="34" charset="0"/>
                <a:ea typeface="Noto Sans" pitchFamily="34" charset="-122"/>
                <a:cs typeface="Noto Sans" pitchFamily="34" charset="-120"/>
              </a:rPr>
              <a:t>1. Layer vs Mask (Hệ thống phân nhóm)</a:t>
            </a:r>
            <a:endParaRPr lang="en-US" sz="1700" dirty="0"/>
          </a:p>
        </p:txBody>
      </p:sp>
      <p:sp>
        <p:nvSpPr>
          <p:cNvPr id="9" name="Text 7"/>
          <p:cNvSpPr/>
          <p:nvPr/>
        </p:nvSpPr>
        <p:spPr>
          <a:xfrm>
            <a:off x="863578" y="2670274"/>
            <a:ext cx="4819331" cy="1083469"/>
          </a:xfrm>
          <a:prstGeom prst="rect">
            <a:avLst/>
          </a:prstGeom>
          <a:noFill/>
          <a:ln/>
        </p:spPr>
        <p:txBody>
          <a:bodyPr wrap="square" lIns="0" tIns="0" rIns="0" bIns="0" rtlCol="0" anchor="t">
            <a:normAutofit/>
          </a:bodyPr>
          <a:lstStyle/>
          <a:p>
            <a:pPr marL="0" indent="0" algn="l">
              <a:lnSpc>
                <a:spcPct val="118000"/>
              </a:lnSpc>
              <a:spcAft>
                <a:spcPts val="1100"/>
              </a:spcAft>
              <a:buNone/>
            </a:pPr>
            <a:r>
              <a:rPr lang="en-US" sz="1300" b="1" dirty="0">
                <a:solidFill>
                  <a:srgbClr val="2B2D31"/>
                </a:solidFill>
                <a:latin typeface="Noto Sans Bold" pitchFamily="34" charset="0"/>
                <a:ea typeface="Noto Sans Bold" pitchFamily="34" charset="-122"/>
                <a:cs typeface="Noto Sans Bold" pitchFamily="34" charset="-120"/>
              </a:rPr>
              <a:t>Collision Layer:</a:t>
            </a:r>
            <a:r>
              <a:rPr lang="en-US" sz="1300" dirty="0">
                <a:solidFill>
                  <a:srgbClr val="2B2D31"/>
                </a:solidFill>
                <a:latin typeface="Noto Sans" pitchFamily="34" charset="0"/>
                <a:ea typeface="Noto Sans" pitchFamily="34" charset="-122"/>
                <a:cs typeface="Noto Sans" pitchFamily="34" charset="-120"/>
              </a:rPr>
              <a:t> “Đối tượng này thuộc nhóm nào?” (Player, Enemy, Projectile, World)</a:t>
            </a:r>
            <a:endParaRPr lang="en-US" sz="1300" dirty="0"/>
          </a:p>
          <a:p>
            <a:pPr marL="0" indent="0" algn="l">
              <a:lnSpc>
                <a:spcPct val="118000"/>
              </a:lnSpc>
              <a:buNone/>
            </a:pPr>
            <a:r>
              <a:rPr lang="en-US" sz="1300" b="1" dirty="0">
                <a:solidFill>
                  <a:srgbClr val="2B2D31"/>
                </a:solidFill>
                <a:latin typeface="Noto Sans Bold" pitchFamily="34" charset="0"/>
                <a:ea typeface="Noto Sans Bold" pitchFamily="34" charset="-122"/>
                <a:cs typeface="Noto Sans Bold" pitchFamily="34" charset="-120"/>
              </a:rPr>
              <a:t>Collision Mask:</a:t>
            </a:r>
            <a:r>
              <a:rPr lang="en-US" sz="1300" dirty="0">
                <a:solidFill>
                  <a:srgbClr val="2B2D31"/>
                </a:solidFill>
                <a:latin typeface="Noto Sans" pitchFamily="34" charset="0"/>
                <a:ea typeface="Noto Sans" pitchFamily="34" charset="-122"/>
                <a:cs typeface="Noto Sans" pitchFamily="34" charset="-120"/>
              </a:rPr>
              <a:t> “Đối tượng này cần quét va chạm với nhóm nào?”</a:t>
            </a:r>
            <a:endParaRPr lang="en-US" sz="1300" dirty="0"/>
          </a:p>
        </p:txBody>
      </p:sp>
      <p:sp>
        <p:nvSpPr>
          <p:cNvPr id="10" name="Shape 8"/>
          <p:cNvSpPr/>
          <p:nvPr/>
        </p:nvSpPr>
        <p:spPr>
          <a:xfrm>
            <a:off x="6197247" y="2159000"/>
            <a:ext cx="5384467" cy="2997200"/>
          </a:xfrm>
          <a:prstGeom prst="roundRect">
            <a:avLst>
              <a:gd name="adj" fmla="val 1373"/>
            </a:avLst>
          </a:prstGeom>
          <a:solidFill>
            <a:srgbClr val="FFFFFF"/>
          </a:solidFill>
          <a:ln/>
        </p:spPr>
      </p:sp>
      <p:sp>
        <p:nvSpPr>
          <p:cNvPr id="11" name="Shape 9"/>
          <p:cNvSpPr/>
          <p:nvPr/>
        </p:nvSpPr>
        <p:spPr>
          <a:xfrm>
            <a:off x="6197247" y="2159000"/>
            <a:ext cx="5384467" cy="63500"/>
          </a:xfrm>
          <a:prstGeom prst="roundRect">
            <a:avLst>
              <a:gd name="adj" fmla="val 49999"/>
            </a:avLst>
          </a:prstGeom>
          <a:solidFill>
            <a:srgbClr val="2B2D31"/>
          </a:solidFill>
          <a:ln/>
        </p:spPr>
      </p:sp>
      <p:sp>
        <p:nvSpPr>
          <p:cNvPr id="12" name="Text 10"/>
          <p:cNvSpPr/>
          <p:nvPr/>
        </p:nvSpPr>
        <p:spPr>
          <a:xfrm>
            <a:off x="6451240" y="2303363"/>
            <a:ext cx="4819331" cy="461963"/>
          </a:xfrm>
          <a:prstGeom prst="rect">
            <a:avLst/>
          </a:prstGeom>
          <a:noFill/>
          <a:ln/>
        </p:spPr>
        <p:txBody>
          <a:bodyPr wrap="square" lIns="0" tIns="0" rIns="0" bIns="0" rtlCol="0" anchor="t">
            <a:normAutofit/>
          </a:bodyPr>
          <a:lstStyle/>
          <a:p>
            <a:pPr marL="0" indent="0" algn="l">
              <a:lnSpc>
                <a:spcPct val="89000"/>
              </a:lnSpc>
              <a:buNone/>
            </a:pPr>
            <a:r>
              <a:rPr lang="en-US" sz="1700" dirty="0">
                <a:solidFill>
                  <a:srgbClr val="2B2D31"/>
                </a:solidFill>
                <a:latin typeface="Noto Sans" pitchFamily="34" charset="0"/>
                <a:ea typeface="Noto Sans" pitchFamily="34" charset="-122"/>
                <a:cs typeface="Noto Sans" pitchFamily="34" charset="-120"/>
              </a:rPr>
              <a:t>2. Solid Body vs Area Trigger (Cản bước vs Cảm biến)</a:t>
            </a:r>
            <a:endParaRPr lang="en-US" sz="1700" dirty="0"/>
          </a:p>
        </p:txBody>
      </p:sp>
      <p:sp>
        <p:nvSpPr>
          <p:cNvPr id="13" name="Text 11"/>
          <p:cNvSpPr/>
          <p:nvPr/>
        </p:nvSpPr>
        <p:spPr>
          <a:xfrm>
            <a:off x="6451240" y="2901255"/>
            <a:ext cx="4876480" cy="1083469"/>
          </a:xfrm>
          <a:prstGeom prst="rect">
            <a:avLst/>
          </a:prstGeom>
          <a:noFill/>
          <a:ln/>
        </p:spPr>
        <p:txBody>
          <a:bodyPr wrap="square" lIns="0" tIns="0" rIns="0" bIns="0" rtlCol="0" anchor="t">
            <a:normAutofit/>
          </a:bodyPr>
          <a:lstStyle/>
          <a:p>
            <a:pPr marL="0" indent="0" algn="l">
              <a:lnSpc>
                <a:spcPct val="118000"/>
              </a:lnSpc>
              <a:spcAft>
                <a:spcPts val="1100"/>
              </a:spcAft>
              <a:buNone/>
            </a:pPr>
            <a:r>
              <a:rPr lang="en-US" sz="1300" b="1" dirty="0">
                <a:solidFill>
                  <a:srgbClr val="2B2D31"/>
                </a:solidFill>
                <a:latin typeface="Noto Sans Bold" pitchFamily="34" charset="0"/>
                <a:ea typeface="Noto Sans Bold" pitchFamily="34" charset="-122"/>
                <a:cs typeface="Noto Sans Bold" pitchFamily="34" charset="-120"/>
              </a:rPr>
              <a:t>Solid Body (Vật cản cứng):</a:t>
            </a:r>
            <a:r>
              <a:rPr lang="en-US" sz="1300" dirty="0">
                <a:solidFill>
                  <a:srgbClr val="2B2D31"/>
                </a:solidFill>
                <a:latin typeface="Noto Sans" pitchFamily="34" charset="0"/>
                <a:ea typeface="Noto Sans" pitchFamily="34" charset="-122"/>
                <a:cs typeface="Noto Sans" pitchFamily="34" charset="-120"/>
              </a:rPr>
              <a:t> Ngăn chuyển động, tạo phản lực (Tường đá, thân cây, khiên chắn).</a:t>
            </a:r>
            <a:endParaRPr lang="en-US" sz="1300" dirty="0"/>
          </a:p>
          <a:p>
            <a:pPr marL="0" indent="0" algn="l">
              <a:lnSpc>
                <a:spcPct val="118000"/>
              </a:lnSpc>
              <a:buNone/>
            </a:pPr>
            <a:r>
              <a:rPr lang="en-US" sz="1300" b="1" dirty="0">
                <a:solidFill>
                  <a:srgbClr val="2B2D31"/>
                </a:solidFill>
                <a:latin typeface="Noto Sans Bold" pitchFamily="34" charset="0"/>
                <a:ea typeface="Noto Sans Bold" pitchFamily="34" charset="-122"/>
                <a:cs typeface="Noto Sans Bold" pitchFamily="34" charset="-120"/>
              </a:rPr>
              <a:t>Area Trigger (Vùng cảm biến):</a:t>
            </a:r>
            <a:r>
              <a:rPr lang="en-US" sz="1300" dirty="0">
                <a:solidFill>
                  <a:srgbClr val="2B2D31"/>
                </a:solidFill>
                <a:latin typeface="Noto Sans" pitchFamily="34" charset="0"/>
                <a:ea typeface="Noto Sans" pitchFamily="34" charset="-122"/>
                <a:cs typeface="Noto Sans" pitchFamily="34" charset="-120"/>
              </a:rPr>
              <a:t> Cho xuyên qua để kích hoạt sự kiện</a:t>
            </a:r>
            <a:endParaRPr lang="en-US" sz="1300" dirty="0"/>
          </a:p>
        </p:txBody>
      </p:sp>
      <p:sp>
        <p:nvSpPr>
          <p:cNvPr id="14" name="Shape 12"/>
          <p:cNvSpPr/>
          <p:nvPr/>
        </p:nvSpPr>
        <p:spPr>
          <a:xfrm>
            <a:off x="609585" y="5283200"/>
            <a:ext cx="10972228" cy="1066800"/>
          </a:xfrm>
          <a:prstGeom prst="roundRect">
            <a:avLst>
              <a:gd name="adj" fmla="val 3857"/>
            </a:avLst>
          </a:prstGeom>
          <a:solidFill>
            <a:srgbClr val="2B2D31"/>
          </a:solidFill>
          <a:ln/>
        </p:spPr>
      </p:sp>
      <p:sp>
        <p:nvSpPr>
          <p:cNvPr id="15" name="Text 13"/>
          <p:cNvSpPr/>
          <p:nvPr/>
        </p:nvSpPr>
        <p:spPr>
          <a:xfrm>
            <a:off x="838179" y="5399385"/>
            <a:ext cx="11353516" cy="216396"/>
          </a:xfrm>
          <a:prstGeom prst="rect">
            <a:avLst/>
          </a:prstGeom>
          <a:noFill/>
          <a:ln/>
        </p:spPr>
        <p:txBody>
          <a:bodyPr wrap="none" lIns="0" tIns="0" rIns="0" bIns="0" rtlCol="0" anchor="t"/>
          <a:lstStyle/>
          <a:p>
            <a:pPr marL="0" indent="0" algn="l">
              <a:lnSpc>
                <a:spcPct val="118000"/>
              </a:lnSpc>
              <a:buNone/>
            </a:pPr>
            <a:r>
              <a:rPr lang="en-US" sz="1200" b="1" dirty="0">
                <a:solidFill>
                  <a:srgbClr val="F2C14E"/>
                </a:solidFill>
                <a:latin typeface="Noto Sans Bold" pitchFamily="34" charset="0"/>
                <a:ea typeface="Noto Sans Bold" pitchFamily="34" charset="-122"/>
                <a:cs typeface="Noto Sans Bold" pitchFamily="34" charset="-120"/>
              </a:rPr>
              <a:t>BÀI HỌC THỰC TẾ TỪ KINH NGHIỆM CÁ NHÂN</a:t>
            </a:r>
            <a:endParaRPr lang="en-US" sz="1200" dirty="0"/>
          </a:p>
        </p:txBody>
      </p:sp>
      <p:sp>
        <p:nvSpPr>
          <p:cNvPr id="16" name="Text 14"/>
          <p:cNvSpPr/>
          <p:nvPr/>
        </p:nvSpPr>
        <p:spPr>
          <a:xfrm>
            <a:off x="838179" y="5746849"/>
            <a:ext cx="10457891" cy="468709"/>
          </a:xfrm>
          <a:prstGeom prst="rect">
            <a:avLst/>
          </a:prstGeom>
          <a:noFill/>
          <a:ln/>
        </p:spPr>
        <p:txBody>
          <a:bodyPr wrap="square" lIns="0" tIns="0" rIns="0" bIns="0" rtlCol="0" anchor="t">
            <a:normAutofit/>
          </a:bodyPr>
          <a:lstStyle/>
          <a:p>
            <a:pPr marL="0" indent="0" algn="l">
              <a:lnSpc>
                <a:spcPct val="118000"/>
              </a:lnSpc>
              <a:buNone/>
            </a:pPr>
            <a:r>
              <a:rPr lang="en-US" sz="1300" dirty="0">
                <a:solidFill>
                  <a:srgbClr val="FFFFFF"/>
                </a:solidFill>
                <a:latin typeface="Noto Sans" pitchFamily="34" charset="0"/>
                <a:ea typeface="Noto Sans" pitchFamily="34" charset="-122"/>
                <a:cs typeface="Noto Sans" pitchFamily="34" charset="-120"/>
              </a:rPr>
              <a:t>Bug “WaterBlock nuốt mũi tên” xảy ra do AI gán nhầm vũng nước thành Solid Collider. Chỉ cần hiểu đúng cơ chế để viết spec tách Layer ➔ AI sửa chuẩn 100% trong 1 lần prompt.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E4DF"/>
        </a:solidFill>
        <a:effectLst/>
      </p:bgPr>
    </p:bg>
    <p:spTree>
      <p:nvGrpSpPr>
        <p:cNvPr id="1" name=""/>
        <p:cNvGrpSpPr/>
        <p:nvPr/>
      </p:nvGrpSpPr>
      <p:grpSpPr>
        <a:xfrm>
          <a:off x="0" y="0"/>
          <a:ext cx="0" cy="0"/>
          <a:chOff x="0" y="0"/>
          <a:chExt cx="0" cy="0"/>
        </a:xfrm>
      </p:grpSpPr>
      <p:sp>
        <p:nvSpPr>
          <p:cNvPr id="2" name="Shape 0"/>
          <p:cNvSpPr/>
          <p:nvPr/>
        </p:nvSpPr>
        <p:spPr>
          <a:xfrm>
            <a:off x="0" y="0"/>
            <a:ext cx="4190697" cy="6858000"/>
          </a:xfrm>
          <a:prstGeom prst="roundRect">
            <a:avLst>
              <a:gd name="adj" fmla="val 982"/>
            </a:avLst>
          </a:prstGeom>
          <a:solidFill>
            <a:srgbClr val="C8321A"/>
          </a:solidFill>
          <a:ln/>
        </p:spPr>
      </p:sp>
      <p:sp>
        <p:nvSpPr>
          <p:cNvPr id="3" name="Shape 1"/>
          <p:cNvSpPr/>
          <p:nvPr/>
        </p:nvSpPr>
        <p:spPr>
          <a:xfrm>
            <a:off x="4190697" y="0"/>
            <a:ext cx="152396" cy="6858000"/>
          </a:xfrm>
          <a:prstGeom prst="roundRect">
            <a:avLst>
              <a:gd name="adj" fmla="val 27000"/>
            </a:avLst>
          </a:prstGeom>
          <a:solidFill>
            <a:srgbClr val="14161A"/>
          </a:solidFill>
          <a:ln/>
        </p:spPr>
      </p:sp>
      <p:sp>
        <p:nvSpPr>
          <p:cNvPr id="4" name="Text 2"/>
          <p:cNvSpPr/>
          <p:nvPr/>
        </p:nvSpPr>
        <p:spPr>
          <a:xfrm>
            <a:off x="565136" y="609600"/>
            <a:ext cx="4222446" cy="198338"/>
          </a:xfrm>
          <a:prstGeom prst="rect">
            <a:avLst/>
          </a:prstGeom>
          <a:noFill/>
          <a:ln/>
        </p:spPr>
        <p:txBody>
          <a:bodyPr wrap="none" lIns="0" tIns="0" rIns="0" bIns="0" rtlCol="0" anchor="t"/>
          <a:lstStyle/>
          <a:p>
            <a:pPr marL="0" indent="0" algn="l">
              <a:lnSpc>
                <a:spcPct val="118000"/>
              </a:lnSpc>
              <a:buNone/>
            </a:pPr>
            <a:r>
              <a:rPr lang="en-US" sz="1100" kern="100" spc="66" dirty="0">
                <a:solidFill>
                  <a:srgbClr val="F4F1EA"/>
                </a:solidFill>
                <a:latin typeface="M PLUS 1 Code Medium" pitchFamily="34" charset="0"/>
                <a:ea typeface="M PLUS 1 Code Medium" pitchFamily="34" charset="-122"/>
                <a:cs typeface="M PLUS 1 Code Medium" pitchFamily="34" charset="-120"/>
              </a:rPr>
              <a:t>KỶ LUẬT THI CÔNG · KẾ HOẠCH</a:t>
            </a:r>
            <a:endParaRPr lang="en-US" sz="1100" dirty="0"/>
          </a:p>
        </p:txBody>
      </p:sp>
      <p:sp>
        <p:nvSpPr>
          <p:cNvPr id="5" name="Text 3"/>
          <p:cNvSpPr/>
          <p:nvPr/>
        </p:nvSpPr>
        <p:spPr>
          <a:xfrm>
            <a:off x="565136" y="1143000"/>
            <a:ext cx="3993852" cy="2705100"/>
          </a:xfrm>
          <a:prstGeom prst="rect">
            <a:avLst/>
          </a:prstGeom>
          <a:noFill/>
          <a:ln/>
        </p:spPr>
        <p:txBody>
          <a:bodyPr wrap="none" lIns="0" tIns="0" rIns="0" bIns="0" rtlCol="0" anchor="t"/>
          <a:lstStyle/>
          <a:p>
            <a:pPr marL="0" indent="0" algn="l">
              <a:lnSpc>
                <a:spcPct val="118000"/>
              </a:lnSpc>
              <a:buNone/>
            </a:pPr>
            <a:r>
              <a:rPr lang="en-US" sz="15000" dirty="0">
                <a:solidFill>
                  <a:srgbClr val="FFFFFF"/>
                </a:solidFill>
                <a:latin typeface="Noto Sans" pitchFamily="34" charset="0"/>
                <a:ea typeface="Noto Sans" pitchFamily="34" charset="-122"/>
                <a:cs typeface="Noto Sans" pitchFamily="34" charset="-120"/>
              </a:rPr>
              <a:t>01</a:t>
            </a:r>
            <a:endParaRPr lang="en-US" sz="15000" dirty="0"/>
          </a:p>
        </p:txBody>
      </p:sp>
      <p:sp>
        <p:nvSpPr>
          <p:cNvPr id="6" name="Text 4"/>
          <p:cNvSpPr/>
          <p:nvPr/>
        </p:nvSpPr>
        <p:spPr>
          <a:xfrm>
            <a:off x="565136" y="3627834"/>
            <a:ext cx="3003276" cy="1141214"/>
          </a:xfrm>
          <a:prstGeom prst="rect">
            <a:avLst/>
          </a:prstGeom>
          <a:noFill/>
          <a:ln/>
        </p:spPr>
        <p:txBody>
          <a:bodyPr wrap="square" lIns="0" tIns="0" rIns="0" bIns="0" rtlCol="0" anchor="t">
            <a:normAutofit/>
          </a:bodyPr>
          <a:lstStyle/>
          <a:p>
            <a:pPr marL="0" indent="0" algn="l">
              <a:lnSpc>
                <a:spcPct val="89000"/>
              </a:lnSpc>
              <a:buNone/>
            </a:pPr>
            <a:r>
              <a:rPr lang="en-US" sz="2800" dirty="0">
                <a:solidFill>
                  <a:srgbClr val="F4F1EA"/>
                </a:solidFill>
                <a:latin typeface="Noto Sans" pitchFamily="34" charset="0"/>
                <a:ea typeface="Noto Sans" pitchFamily="34" charset="-122"/>
                <a:cs typeface="Noto Sans" pitchFamily="34" charset="-120"/>
              </a:rPr>
              <a:t>Quy tắc 1: Duyệt kế hoạch trước khi sửa code</a:t>
            </a:r>
            <a:endParaRPr lang="en-US" sz="2800" dirty="0"/>
          </a:p>
        </p:txBody>
      </p:sp>
      <p:sp>
        <p:nvSpPr>
          <p:cNvPr id="8" name="Shape 6"/>
          <p:cNvSpPr/>
          <p:nvPr/>
        </p:nvSpPr>
        <p:spPr>
          <a:xfrm>
            <a:off x="4825681" y="609600"/>
            <a:ext cx="6857630" cy="1219200"/>
          </a:xfrm>
          <a:prstGeom prst="roundRect">
            <a:avLst>
              <a:gd name="adj" fmla="val 3375"/>
            </a:avLst>
          </a:prstGeom>
          <a:solidFill>
            <a:srgbClr val="F4F1EA"/>
          </a:solidFill>
          <a:ln/>
        </p:spPr>
      </p:sp>
      <p:sp>
        <p:nvSpPr>
          <p:cNvPr id="9" name="Text 7"/>
          <p:cNvSpPr/>
          <p:nvPr/>
        </p:nvSpPr>
        <p:spPr>
          <a:xfrm>
            <a:off x="5086024" y="838200"/>
            <a:ext cx="1327117" cy="721320"/>
          </a:xfrm>
          <a:prstGeom prst="rect">
            <a:avLst/>
          </a:prstGeom>
          <a:noFill/>
          <a:ln/>
        </p:spPr>
        <p:txBody>
          <a:bodyPr wrap="none" lIns="0" tIns="0" rIns="0" bIns="0" rtlCol="0" anchor="t"/>
          <a:lstStyle/>
          <a:p>
            <a:pPr marL="0" indent="0" algn="l">
              <a:lnSpc>
                <a:spcPct val="118000"/>
              </a:lnSpc>
              <a:buNone/>
            </a:pPr>
            <a:r>
              <a:rPr lang="en-US" sz="4000" dirty="0">
                <a:solidFill>
                  <a:srgbClr val="C8321A"/>
                </a:solidFill>
                <a:latin typeface="Noto Sans" pitchFamily="34" charset="0"/>
                <a:ea typeface="Noto Sans" pitchFamily="34" charset="-122"/>
                <a:cs typeface="Noto Sans" pitchFamily="34" charset="-120"/>
              </a:rPr>
              <a:t>01</a:t>
            </a:r>
            <a:endParaRPr lang="en-US" sz="4000" dirty="0"/>
          </a:p>
        </p:txBody>
      </p:sp>
      <p:sp>
        <p:nvSpPr>
          <p:cNvPr id="10" name="Text 8"/>
          <p:cNvSpPr/>
          <p:nvPr/>
        </p:nvSpPr>
        <p:spPr>
          <a:xfrm>
            <a:off x="6152798" y="863600"/>
            <a:ext cx="4654235" cy="339725"/>
          </a:xfrm>
          <a:prstGeom prst="rect">
            <a:avLst/>
          </a:prstGeom>
          <a:noFill/>
          <a:ln/>
        </p:spPr>
        <p:txBody>
          <a:bodyPr wrap="none" lIns="0" tIns="0" rIns="0" bIns="0" rtlCol="0" anchor="t"/>
          <a:lstStyle/>
          <a:p>
            <a:pPr marL="0" indent="0" algn="l">
              <a:lnSpc>
                <a:spcPct val="89000"/>
              </a:lnSpc>
              <a:buNone/>
            </a:pPr>
            <a:r>
              <a:rPr lang="en-US" sz="2500" dirty="0">
                <a:solidFill>
                  <a:srgbClr val="14161A"/>
                </a:solidFill>
                <a:latin typeface="Noto Sans" pitchFamily="34" charset="0"/>
                <a:ea typeface="Noto Sans" pitchFamily="34" charset="-122"/>
                <a:cs typeface="Noto Sans" pitchFamily="34" charset="-120"/>
              </a:rPr>
              <a:t>AI khảo sát repo</a:t>
            </a:r>
            <a:endParaRPr lang="en-US" sz="2500" dirty="0"/>
          </a:p>
        </p:txBody>
      </p:sp>
      <p:sp>
        <p:nvSpPr>
          <p:cNvPr id="11" name="Text 9"/>
          <p:cNvSpPr/>
          <p:nvPr/>
        </p:nvSpPr>
        <p:spPr>
          <a:xfrm>
            <a:off x="6152798" y="1346200"/>
            <a:ext cx="5873405"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Tách UI, data, input</a:t>
            </a:r>
            <a:endParaRPr lang="en-US" sz="1500" dirty="0"/>
          </a:p>
        </p:txBody>
      </p:sp>
      <p:sp>
        <p:nvSpPr>
          <p:cNvPr id="12" name="Text 10"/>
          <p:cNvSpPr/>
          <p:nvPr/>
        </p:nvSpPr>
        <p:spPr>
          <a:xfrm>
            <a:off x="4578037" y="1854200"/>
            <a:ext cx="7352918" cy="360660"/>
          </a:xfrm>
          <a:prstGeom prst="rect">
            <a:avLst/>
          </a:prstGeom>
          <a:noFill/>
          <a:ln/>
        </p:spPr>
        <p:txBody>
          <a:bodyPr wrap="none" lIns="0" tIns="0" rIns="0" bIns="0" rtlCol="0" anchor="t"/>
          <a:lstStyle/>
          <a:p>
            <a:pPr marL="0" indent="0" algn="ctr">
              <a:lnSpc>
                <a:spcPct val="118000"/>
              </a:lnSpc>
              <a:buNone/>
            </a:pPr>
            <a:r>
              <a:rPr lang="en-US" sz="2000" dirty="0">
                <a:solidFill>
                  <a:srgbClr val="A32615"/>
                </a:solidFill>
                <a:latin typeface="Noto Sans" pitchFamily="34" charset="0"/>
                <a:ea typeface="Noto Sans" pitchFamily="34" charset="-122"/>
                <a:cs typeface="Noto Sans" pitchFamily="34" charset="-120"/>
              </a:rPr>
              <a:t>↓</a:t>
            </a:r>
            <a:endParaRPr lang="en-US" sz="2000" dirty="0"/>
          </a:p>
        </p:txBody>
      </p:sp>
      <p:sp>
        <p:nvSpPr>
          <p:cNvPr id="13" name="Shape 11"/>
          <p:cNvSpPr/>
          <p:nvPr/>
        </p:nvSpPr>
        <p:spPr>
          <a:xfrm>
            <a:off x="4825681" y="2260600"/>
            <a:ext cx="6857630" cy="1397000"/>
          </a:xfrm>
          <a:prstGeom prst="roundRect">
            <a:avLst>
              <a:gd name="adj" fmla="val 2945"/>
            </a:avLst>
          </a:prstGeom>
          <a:solidFill>
            <a:srgbClr val="F4B9A6"/>
          </a:solidFill>
          <a:ln/>
        </p:spPr>
      </p:sp>
      <p:sp>
        <p:nvSpPr>
          <p:cNvPr id="14" name="Text 12"/>
          <p:cNvSpPr/>
          <p:nvPr/>
        </p:nvSpPr>
        <p:spPr>
          <a:xfrm>
            <a:off x="5086024" y="2578100"/>
            <a:ext cx="1327117" cy="721320"/>
          </a:xfrm>
          <a:prstGeom prst="rect">
            <a:avLst/>
          </a:prstGeom>
          <a:noFill/>
          <a:ln/>
        </p:spPr>
        <p:txBody>
          <a:bodyPr wrap="none" lIns="0" tIns="0" rIns="0" bIns="0" rtlCol="0" anchor="t"/>
          <a:lstStyle/>
          <a:p>
            <a:pPr marL="0" indent="0" algn="l">
              <a:lnSpc>
                <a:spcPct val="118000"/>
              </a:lnSpc>
              <a:buNone/>
            </a:pPr>
            <a:r>
              <a:rPr lang="en-US" sz="4000" dirty="0">
                <a:solidFill>
                  <a:srgbClr val="14161A"/>
                </a:solidFill>
                <a:latin typeface="Noto Sans" pitchFamily="34" charset="0"/>
                <a:ea typeface="Noto Sans" pitchFamily="34" charset="-122"/>
                <a:cs typeface="Noto Sans" pitchFamily="34" charset="-120"/>
              </a:rPr>
              <a:t>02</a:t>
            </a:r>
            <a:endParaRPr lang="en-US" sz="4000" dirty="0"/>
          </a:p>
        </p:txBody>
      </p:sp>
      <p:sp>
        <p:nvSpPr>
          <p:cNvPr id="15" name="Text 13"/>
          <p:cNvSpPr/>
          <p:nvPr/>
        </p:nvSpPr>
        <p:spPr>
          <a:xfrm>
            <a:off x="6152798" y="2438400"/>
            <a:ext cx="4654235" cy="339725"/>
          </a:xfrm>
          <a:prstGeom prst="rect">
            <a:avLst/>
          </a:prstGeom>
          <a:noFill/>
          <a:ln/>
        </p:spPr>
        <p:txBody>
          <a:bodyPr wrap="none" lIns="0" tIns="0" rIns="0" bIns="0" rtlCol="0" anchor="t"/>
          <a:lstStyle/>
          <a:p>
            <a:pPr marL="0" indent="0" algn="l">
              <a:lnSpc>
                <a:spcPct val="89000"/>
              </a:lnSpc>
              <a:buNone/>
            </a:pPr>
            <a:r>
              <a:rPr lang="en-US" sz="2500" dirty="0">
                <a:solidFill>
                  <a:srgbClr val="14161A"/>
                </a:solidFill>
                <a:latin typeface="Noto Sans" pitchFamily="34" charset="0"/>
                <a:ea typeface="Noto Sans" pitchFamily="34" charset="-122"/>
                <a:cs typeface="Noto Sans" pitchFamily="34" charset="-120"/>
              </a:rPr>
              <a:t>AI viết plan</a:t>
            </a:r>
            <a:endParaRPr lang="en-US" sz="2500" dirty="0"/>
          </a:p>
        </p:txBody>
      </p:sp>
      <p:sp>
        <p:nvSpPr>
          <p:cNvPr id="16" name="Text 14"/>
          <p:cNvSpPr/>
          <p:nvPr/>
        </p:nvSpPr>
        <p:spPr>
          <a:xfrm>
            <a:off x="6152798" y="2921000"/>
            <a:ext cx="5873405" cy="270470"/>
          </a:xfrm>
          <a:prstGeom prst="rect">
            <a:avLst/>
          </a:prstGeom>
          <a:noFill/>
          <a:ln/>
        </p:spPr>
        <p:txBody>
          <a:bodyPr wrap="none" lIns="0" tIns="0" rIns="0" bIns="0" rtlCol="0" anchor="t"/>
          <a:lstStyle/>
          <a:p>
            <a:pPr marL="0" indent="0" algn="l">
              <a:lnSpc>
                <a:spcPct val="118000"/>
              </a:lnSpc>
              <a:buNone/>
            </a:pPr>
            <a:r>
              <a:rPr lang="en-US" sz="1500" dirty="0">
                <a:solidFill>
                  <a:srgbClr val="A32615"/>
                </a:solidFill>
                <a:highlight>
                  <a:srgbClr val="D8D7D2"/>
                </a:highlight>
                <a:latin typeface="Inconsolata" pitchFamily="34" charset="0"/>
                <a:ea typeface="Inconsolata" pitchFamily="34" charset="-122"/>
                <a:cs typeface="Inconsolata" pitchFamily="34" charset="-120"/>
              </a:rPr>
              <a:t>bugfix_plan.md</a:t>
            </a:r>
            <a:endParaRPr lang="en-US" sz="1500" dirty="0"/>
          </a:p>
        </p:txBody>
      </p:sp>
      <p:sp>
        <p:nvSpPr>
          <p:cNvPr id="17" name="Text 15"/>
          <p:cNvSpPr/>
          <p:nvPr/>
        </p:nvSpPr>
        <p:spPr>
          <a:xfrm>
            <a:off x="6152798" y="3263900"/>
            <a:ext cx="603889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Nguyên nhân · file · diff · test</a:t>
            </a:r>
            <a:endParaRPr lang="en-US" sz="1500" dirty="0"/>
          </a:p>
        </p:txBody>
      </p:sp>
      <p:sp>
        <p:nvSpPr>
          <p:cNvPr id="18" name="Text 16"/>
          <p:cNvSpPr/>
          <p:nvPr/>
        </p:nvSpPr>
        <p:spPr>
          <a:xfrm>
            <a:off x="4578037" y="3683000"/>
            <a:ext cx="7352918" cy="360660"/>
          </a:xfrm>
          <a:prstGeom prst="rect">
            <a:avLst/>
          </a:prstGeom>
          <a:noFill/>
          <a:ln/>
        </p:spPr>
        <p:txBody>
          <a:bodyPr wrap="none" lIns="0" tIns="0" rIns="0" bIns="0" rtlCol="0" anchor="t"/>
          <a:lstStyle/>
          <a:p>
            <a:pPr marL="0" indent="0" algn="ctr">
              <a:lnSpc>
                <a:spcPct val="118000"/>
              </a:lnSpc>
              <a:buNone/>
            </a:pPr>
            <a:r>
              <a:rPr lang="en-US" sz="2000" dirty="0">
                <a:solidFill>
                  <a:srgbClr val="A32615"/>
                </a:solidFill>
                <a:latin typeface="Noto Sans" pitchFamily="34" charset="0"/>
                <a:ea typeface="Noto Sans" pitchFamily="34" charset="-122"/>
                <a:cs typeface="Noto Sans" pitchFamily="34" charset="-120"/>
              </a:rPr>
              <a:t>↓</a:t>
            </a:r>
            <a:endParaRPr lang="en-US" sz="2000" dirty="0"/>
          </a:p>
        </p:txBody>
      </p:sp>
      <p:sp>
        <p:nvSpPr>
          <p:cNvPr id="19" name="Shape 17"/>
          <p:cNvSpPr/>
          <p:nvPr/>
        </p:nvSpPr>
        <p:spPr>
          <a:xfrm>
            <a:off x="4825681" y="4089400"/>
            <a:ext cx="6857630" cy="1219200"/>
          </a:xfrm>
          <a:prstGeom prst="roundRect">
            <a:avLst>
              <a:gd name="adj" fmla="val 3375"/>
            </a:avLst>
          </a:prstGeom>
          <a:solidFill>
            <a:srgbClr val="8FD3C6"/>
          </a:solidFill>
          <a:ln/>
        </p:spPr>
      </p:sp>
      <p:sp>
        <p:nvSpPr>
          <p:cNvPr id="20" name="Text 18"/>
          <p:cNvSpPr/>
          <p:nvPr/>
        </p:nvSpPr>
        <p:spPr>
          <a:xfrm>
            <a:off x="5086024" y="4318000"/>
            <a:ext cx="1327117" cy="721320"/>
          </a:xfrm>
          <a:prstGeom prst="rect">
            <a:avLst/>
          </a:prstGeom>
          <a:noFill/>
          <a:ln/>
        </p:spPr>
        <p:txBody>
          <a:bodyPr wrap="none" lIns="0" tIns="0" rIns="0" bIns="0" rtlCol="0" anchor="t"/>
          <a:lstStyle/>
          <a:p>
            <a:pPr marL="0" indent="0" algn="l">
              <a:lnSpc>
                <a:spcPct val="118000"/>
              </a:lnSpc>
              <a:buNone/>
            </a:pPr>
            <a:r>
              <a:rPr lang="en-US" sz="4000" dirty="0">
                <a:solidFill>
                  <a:srgbClr val="14161A"/>
                </a:solidFill>
                <a:latin typeface="Noto Sans" pitchFamily="34" charset="0"/>
                <a:ea typeface="Noto Sans" pitchFamily="34" charset="-122"/>
                <a:cs typeface="Noto Sans" pitchFamily="34" charset="-120"/>
              </a:rPr>
              <a:t>03</a:t>
            </a:r>
            <a:endParaRPr lang="en-US" sz="4000" dirty="0"/>
          </a:p>
        </p:txBody>
      </p:sp>
      <p:sp>
        <p:nvSpPr>
          <p:cNvPr id="21" name="Text 19"/>
          <p:cNvSpPr/>
          <p:nvPr/>
        </p:nvSpPr>
        <p:spPr>
          <a:xfrm>
            <a:off x="6152798" y="4343400"/>
            <a:ext cx="4654235" cy="339725"/>
          </a:xfrm>
          <a:prstGeom prst="rect">
            <a:avLst/>
          </a:prstGeom>
          <a:noFill/>
          <a:ln/>
        </p:spPr>
        <p:txBody>
          <a:bodyPr wrap="none" lIns="0" tIns="0" rIns="0" bIns="0" rtlCol="0" anchor="t"/>
          <a:lstStyle/>
          <a:p>
            <a:pPr marL="0" indent="0" algn="l">
              <a:lnSpc>
                <a:spcPct val="89000"/>
              </a:lnSpc>
              <a:buNone/>
            </a:pPr>
            <a:r>
              <a:rPr lang="en-US" sz="2500" dirty="0">
                <a:solidFill>
                  <a:srgbClr val="000000"/>
                </a:solidFill>
                <a:latin typeface="Noto Sans" pitchFamily="34" charset="0"/>
                <a:ea typeface="Noto Sans" pitchFamily="34" charset="-122"/>
                <a:cs typeface="Noto Sans" pitchFamily="34" charset="-120"/>
              </a:rPr>
              <a:t>User duyệt</a:t>
            </a:r>
            <a:endParaRPr lang="en-US" sz="2500" dirty="0"/>
          </a:p>
        </p:txBody>
      </p:sp>
      <p:sp>
        <p:nvSpPr>
          <p:cNvPr id="22" name="Text 20"/>
          <p:cNvSpPr/>
          <p:nvPr/>
        </p:nvSpPr>
        <p:spPr>
          <a:xfrm>
            <a:off x="6152798" y="4826000"/>
            <a:ext cx="5873405"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Rồi mới sửa code</a:t>
            </a:r>
            <a:endParaRPr lang="en-US" sz="1500" dirty="0"/>
          </a:p>
        </p:txBody>
      </p:sp>
      <p:sp>
        <p:nvSpPr>
          <p:cNvPr id="23" name="Shape 21"/>
          <p:cNvSpPr/>
          <p:nvPr/>
        </p:nvSpPr>
        <p:spPr>
          <a:xfrm>
            <a:off x="4825681" y="5689600"/>
            <a:ext cx="6857630" cy="762000"/>
          </a:xfrm>
          <a:prstGeom prst="roundRect">
            <a:avLst>
              <a:gd name="adj" fmla="val 5400"/>
            </a:avLst>
          </a:prstGeom>
          <a:solidFill>
            <a:srgbClr val="14161A"/>
          </a:solidFill>
          <a:ln/>
        </p:spPr>
      </p:sp>
      <p:sp>
        <p:nvSpPr>
          <p:cNvPr id="24" name="Text 22"/>
          <p:cNvSpPr/>
          <p:nvPr/>
        </p:nvSpPr>
        <p:spPr>
          <a:xfrm>
            <a:off x="5086024" y="5816600"/>
            <a:ext cx="7105671" cy="288528"/>
          </a:xfrm>
          <a:prstGeom prst="rect">
            <a:avLst/>
          </a:prstGeom>
          <a:noFill/>
          <a:ln/>
        </p:spPr>
        <p:txBody>
          <a:bodyPr wrap="none" lIns="0" tIns="0" rIns="0" bIns="0" rtlCol="0" anchor="t"/>
          <a:lstStyle/>
          <a:p>
            <a:pPr marL="0" indent="0" algn="l">
              <a:lnSpc>
                <a:spcPct val="118000"/>
              </a:lnSpc>
              <a:buNone/>
            </a:pPr>
            <a:r>
              <a:rPr lang="en-US" sz="1600" dirty="0">
                <a:solidFill>
                  <a:srgbClr val="F4F1EA"/>
                </a:solidFill>
                <a:latin typeface="Noto Sans" pitchFamily="34" charset="0"/>
                <a:ea typeface="Noto Sans" pitchFamily="34" charset="-122"/>
                <a:cs typeface="Noto Sans" pitchFamily="34" charset="-120"/>
              </a:rPr>
              <a:t>Phạm vi rõ ràng ngăn một bugfix biến thành sửa dây chuyền.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E4DF"/>
        </a:solidFill>
        <a:effectLst/>
      </p:bgPr>
    </p:bg>
    <p:spTree>
      <p:nvGrpSpPr>
        <p:cNvPr id="1" name=""/>
        <p:cNvGrpSpPr/>
        <p:nvPr/>
      </p:nvGrpSpPr>
      <p:grpSpPr>
        <a:xfrm>
          <a:off x="0" y="0"/>
          <a:ext cx="0" cy="0"/>
          <a:chOff x="0" y="0"/>
          <a:chExt cx="0" cy="0"/>
        </a:xfrm>
      </p:grpSpPr>
      <p:sp>
        <p:nvSpPr>
          <p:cNvPr id="2" name="Shape 0"/>
          <p:cNvSpPr/>
          <p:nvPr/>
        </p:nvSpPr>
        <p:spPr>
          <a:xfrm>
            <a:off x="0" y="0"/>
            <a:ext cx="12191397" cy="6858000"/>
          </a:xfrm>
          <a:prstGeom prst="roundRect">
            <a:avLst>
              <a:gd name="adj" fmla="val 600"/>
            </a:avLst>
          </a:prstGeom>
          <a:solidFill>
            <a:srgbClr val="E5E4DF"/>
          </a:solidFill>
          <a:ln/>
        </p:spPr>
      </p:sp>
      <p:sp>
        <p:nvSpPr>
          <p:cNvPr id="3" name="Shape 1"/>
          <p:cNvSpPr/>
          <p:nvPr/>
        </p:nvSpPr>
        <p:spPr>
          <a:xfrm>
            <a:off x="0" y="0"/>
            <a:ext cx="152396" cy="6858000"/>
          </a:xfrm>
          <a:prstGeom prst="roundRect">
            <a:avLst>
              <a:gd name="adj" fmla="val 27000"/>
            </a:avLst>
          </a:prstGeom>
          <a:solidFill>
            <a:srgbClr val="C8321A"/>
          </a:solidFill>
          <a:ln/>
        </p:spPr>
      </p:sp>
      <p:sp>
        <p:nvSpPr>
          <p:cNvPr id="4" name="Text 2"/>
          <p:cNvSpPr/>
          <p:nvPr/>
        </p:nvSpPr>
        <p:spPr>
          <a:xfrm>
            <a:off x="565136" y="228600"/>
            <a:ext cx="4857430" cy="198338"/>
          </a:xfrm>
          <a:prstGeom prst="rect">
            <a:avLst/>
          </a:prstGeom>
          <a:noFill/>
          <a:ln/>
        </p:spPr>
        <p:txBody>
          <a:bodyPr wrap="none" lIns="0" tIns="0" rIns="0" bIns="0" rtlCol="0" anchor="t"/>
          <a:lstStyle/>
          <a:p>
            <a:pPr marL="0" indent="0" algn="l">
              <a:lnSpc>
                <a:spcPct val="118000"/>
              </a:lnSpc>
              <a:buNone/>
            </a:pPr>
            <a:r>
              <a:rPr lang="en-US" sz="1100" b="1" dirty="0">
                <a:solidFill>
                  <a:srgbClr val="A32615"/>
                </a:solidFill>
                <a:latin typeface="M PLUS 1 Code Bold" pitchFamily="34" charset="0"/>
                <a:ea typeface="M PLUS 1 Code Bold" pitchFamily="34" charset="-122"/>
                <a:cs typeface="M PLUS 1 Code Bold" pitchFamily="34" charset="-120"/>
              </a:rPr>
              <a:t>KỶ LUẬT THI CÔNG · NGỮ CẢNH</a:t>
            </a:r>
            <a:endParaRPr lang="en-US" sz="1100" dirty="0"/>
          </a:p>
        </p:txBody>
      </p:sp>
      <p:sp>
        <p:nvSpPr>
          <p:cNvPr id="5" name="Text 3"/>
          <p:cNvSpPr/>
          <p:nvPr/>
        </p:nvSpPr>
        <p:spPr>
          <a:xfrm>
            <a:off x="565136" y="431800"/>
            <a:ext cx="1835104" cy="685205"/>
          </a:xfrm>
          <a:prstGeom prst="rect">
            <a:avLst/>
          </a:prstGeom>
          <a:noFill/>
          <a:ln/>
        </p:spPr>
        <p:txBody>
          <a:bodyPr wrap="none" lIns="0" tIns="0" rIns="0" bIns="0" rtlCol="0" anchor="t"/>
          <a:lstStyle/>
          <a:p>
            <a:pPr marL="0" indent="0" algn="l">
              <a:lnSpc>
                <a:spcPct val="118000"/>
              </a:lnSpc>
              <a:buNone/>
            </a:pPr>
            <a:r>
              <a:rPr lang="en-US" sz="3800" b="1" dirty="0">
                <a:solidFill>
                  <a:srgbClr val="A32615"/>
                </a:solidFill>
                <a:latin typeface="Noto Sans Bold" pitchFamily="34" charset="0"/>
                <a:ea typeface="Noto Sans Bold" pitchFamily="34" charset="-122"/>
                <a:cs typeface="Noto Sans Bold" pitchFamily="34" charset="-120"/>
              </a:rPr>
              <a:t>02</a:t>
            </a:r>
            <a:endParaRPr lang="en-US" sz="3800" dirty="0"/>
          </a:p>
        </p:txBody>
      </p:sp>
      <p:sp>
        <p:nvSpPr>
          <p:cNvPr id="6" name="Text 4"/>
          <p:cNvSpPr/>
          <p:nvPr/>
        </p:nvSpPr>
        <p:spPr>
          <a:xfrm>
            <a:off x="1962101" y="431800"/>
            <a:ext cx="9607012" cy="407591"/>
          </a:xfrm>
          <a:prstGeom prst="rect">
            <a:avLst/>
          </a:prstGeom>
          <a:noFill/>
          <a:ln/>
        </p:spPr>
        <p:txBody>
          <a:bodyPr wrap="none" lIns="0" tIns="0" rIns="0" bIns="0" rtlCol="0" anchor="t"/>
          <a:lstStyle/>
          <a:p>
            <a:pPr marL="0" indent="0" algn="l">
              <a:lnSpc>
                <a:spcPct val="89000"/>
              </a:lnSpc>
              <a:buNone/>
            </a:pPr>
            <a:r>
              <a:rPr lang="en-US" sz="3000" b="1" dirty="0">
                <a:solidFill>
                  <a:srgbClr val="14161A"/>
                </a:solidFill>
                <a:latin typeface="Noto Sans Bold" pitchFamily="34" charset="0"/>
                <a:ea typeface="Noto Sans Bold" pitchFamily="34" charset="-122"/>
                <a:cs typeface="Noto Sans Bold" pitchFamily="34" charset="-120"/>
              </a:rPr>
              <a:t>Quy tắc 2: Một task, một phiên mới</a:t>
            </a:r>
            <a:endParaRPr lang="en-US" sz="3000" dirty="0"/>
          </a:p>
        </p:txBody>
      </p:sp>
      <p:sp>
        <p:nvSpPr>
          <p:cNvPr id="7" name="Shape 5"/>
          <p:cNvSpPr/>
          <p:nvPr/>
        </p:nvSpPr>
        <p:spPr>
          <a:xfrm>
            <a:off x="507987" y="1270000"/>
            <a:ext cx="5460665" cy="5207000"/>
          </a:xfrm>
          <a:prstGeom prst="roundRect">
            <a:avLst>
              <a:gd name="adj" fmla="val 790"/>
            </a:avLst>
          </a:prstGeom>
          <a:solidFill>
            <a:srgbClr val="14161A"/>
          </a:solidFill>
          <a:ln/>
        </p:spPr>
      </p:sp>
      <p:sp>
        <p:nvSpPr>
          <p:cNvPr id="8" name="Text 6"/>
          <p:cNvSpPr/>
          <p:nvPr/>
        </p:nvSpPr>
        <p:spPr>
          <a:xfrm>
            <a:off x="768331" y="1397000"/>
            <a:ext cx="4882829" cy="271760"/>
          </a:xfrm>
          <a:prstGeom prst="rect">
            <a:avLst/>
          </a:prstGeom>
          <a:noFill/>
          <a:ln/>
        </p:spPr>
        <p:txBody>
          <a:bodyPr wrap="none" lIns="0" tIns="0" rIns="0" bIns="0" rtlCol="0" anchor="t"/>
          <a:lstStyle/>
          <a:p>
            <a:pPr marL="0" indent="0" algn="l">
              <a:lnSpc>
                <a:spcPct val="89000"/>
              </a:lnSpc>
              <a:buNone/>
            </a:pPr>
            <a:r>
              <a:rPr lang="en-US" sz="2000" b="1" dirty="0">
                <a:solidFill>
                  <a:srgbClr val="F4F1EA"/>
                </a:solidFill>
                <a:latin typeface="Noto Sans Bold" pitchFamily="34" charset="0"/>
                <a:ea typeface="Noto Sans Bold" pitchFamily="34" charset="-122"/>
                <a:cs typeface="Noto Sans Bold" pitchFamily="34" charset="-120"/>
              </a:rPr>
              <a:t>ONE LONG CHAT</a:t>
            </a:r>
            <a:endParaRPr lang="en-US" sz="2000" dirty="0"/>
          </a:p>
        </p:txBody>
      </p:sp>
      <p:sp>
        <p:nvSpPr>
          <p:cNvPr id="9" name="Shape 7"/>
          <p:cNvSpPr/>
          <p:nvPr/>
        </p:nvSpPr>
        <p:spPr>
          <a:xfrm>
            <a:off x="711182" y="1828800"/>
            <a:ext cx="3809706" cy="330200"/>
          </a:xfrm>
          <a:prstGeom prst="roundRect">
            <a:avLst>
              <a:gd name="adj" fmla="val 12461"/>
            </a:avLst>
          </a:prstGeom>
          <a:solidFill>
            <a:srgbClr val="F4B9A6"/>
          </a:solidFill>
          <a:ln/>
        </p:spPr>
      </p:sp>
      <p:sp>
        <p:nvSpPr>
          <p:cNvPr id="10" name="Text 8"/>
          <p:cNvSpPr/>
          <p:nvPr/>
        </p:nvSpPr>
        <p:spPr>
          <a:xfrm>
            <a:off x="768331" y="1878013"/>
            <a:ext cx="4857430" cy="231775"/>
          </a:xfrm>
          <a:prstGeom prst="rect">
            <a:avLst/>
          </a:prstGeom>
          <a:noFill/>
          <a:ln/>
        </p:spPr>
        <p:txBody>
          <a:bodyPr wrap="none" lIns="0" tIns="0" rIns="0" bIns="0" rtlCol="0" anchor="t"/>
          <a:lstStyle/>
          <a:p>
            <a:pPr marL="0" indent="0" algn="l">
              <a:lnSpc>
                <a:spcPct val="118000"/>
              </a:lnSpc>
              <a:buNone/>
            </a:pPr>
            <a:r>
              <a:rPr lang="en-US" sz="1250" dirty="0">
                <a:solidFill>
                  <a:srgbClr val="000000"/>
                </a:solidFill>
                <a:latin typeface="Noto Color Emoji" pitchFamily="34" charset="0"/>
                <a:ea typeface="Noto Color Emoji" pitchFamily="34" charset="-122"/>
                <a:cs typeface="Noto Color Emoji" pitchFamily="34" charset="-120"/>
              </a:rPr>
              <a:t>⚠</a:t>
            </a:r>
            <a:r>
              <a:rPr lang="en-US" sz="1250" dirty="0">
                <a:solidFill>
                  <a:srgbClr val="14161A"/>
                </a:solidFill>
                <a:latin typeface="Noto Sans" pitchFamily="34" charset="0"/>
                <a:ea typeface="Noto Sans" pitchFamily="34" charset="-122"/>
                <a:cs typeface="Noto Sans" pitchFamily="34" charset="-120"/>
              </a:rPr>
              <a:t> 1 phiên ôm đồm 10 tính năng</a:t>
            </a:r>
            <a:endParaRPr lang="en-US" sz="1250" dirty="0"/>
          </a:p>
        </p:txBody>
      </p:sp>
      <p:sp>
        <p:nvSpPr>
          <p:cNvPr id="11" name="Shape 9"/>
          <p:cNvSpPr/>
          <p:nvPr/>
        </p:nvSpPr>
        <p:spPr>
          <a:xfrm>
            <a:off x="711182" y="2286000"/>
            <a:ext cx="4317694" cy="304800"/>
          </a:xfrm>
          <a:prstGeom prst="roundRect">
            <a:avLst>
              <a:gd name="adj" fmla="val 13500"/>
            </a:avLst>
          </a:prstGeom>
          <a:solidFill>
            <a:srgbClr val="3A2A28"/>
          </a:solidFill>
          <a:ln/>
        </p:spPr>
      </p:sp>
      <p:sp>
        <p:nvSpPr>
          <p:cNvPr id="12" name="Text 10"/>
          <p:cNvSpPr/>
          <p:nvPr/>
        </p:nvSpPr>
        <p:spPr>
          <a:xfrm>
            <a:off x="768331" y="2325688"/>
            <a:ext cx="5365417" cy="225425"/>
          </a:xfrm>
          <a:prstGeom prst="rect">
            <a:avLst/>
          </a:prstGeom>
          <a:noFill/>
          <a:ln/>
        </p:spPr>
        <p:txBody>
          <a:bodyPr wrap="none" lIns="0" tIns="0" rIns="0" bIns="0" rtlCol="0" anchor="t"/>
          <a:lstStyle/>
          <a:p>
            <a:pPr marL="0" indent="0" algn="l">
              <a:lnSpc>
                <a:spcPct val="118000"/>
              </a:lnSpc>
              <a:buNone/>
            </a:pPr>
            <a:r>
              <a:rPr lang="en-US" sz="1250" dirty="0">
                <a:solidFill>
                  <a:srgbClr val="F4F1EA"/>
                </a:solidFill>
                <a:latin typeface="Noto Sans" pitchFamily="34" charset="0"/>
                <a:ea typeface="Noto Sans" pitchFamily="34" charset="-122"/>
                <a:cs typeface="Noto Sans" pitchFamily="34" charset="-120"/>
              </a:rPr>
              <a:t>  Task 1: Movement (player.gd)</a:t>
            </a:r>
            <a:endParaRPr lang="en-US" sz="1250" dirty="0"/>
          </a:p>
        </p:txBody>
      </p:sp>
      <p:sp>
        <p:nvSpPr>
          <p:cNvPr id="13" name="Shape 11"/>
          <p:cNvSpPr/>
          <p:nvPr/>
        </p:nvSpPr>
        <p:spPr>
          <a:xfrm>
            <a:off x="1092173" y="2628900"/>
            <a:ext cx="4317694" cy="304800"/>
          </a:xfrm>
          <a:prstGeom prst="roundRect">
            <a:avLst>
              <a:gd name="adj" fmla="val 13500"/>
            </a:avLst>
          </a:prstGeom>
          <a:solidFill>
            <a:srgbClr val="4A2E29"/>
          </a:solidFill>
          <a:ln/>
        </p:spPr>
      </p:sp>
      <p:sp>
        <p:nvSpPr>
          <p:cNvPr id="14" name="Text 12"/>
          <p:cNvSpPr/>
          <p:nvPr/>
        </p:nvSpPr>
        <p:spPr>
          <a:xfrm>
            <a:off x="1149321" y="2668588"/>
            <a:ext cx="5365417" cy="225425"/>
          </a:xfrm>
          <a:prstGeom prst="rect">
            <a:avLst/>
          </a:prstGeom>
          <a:noFill/>
          <a:ln/>
        </p:spPr>
        <p:txBody>
          <a:bodyPr wrap="none" lIns="0" tIns="0" rIns="0" bIns="0" rtlCol="0" anchor="t"/>
          <a:lstStyle/>
          <a:p>
            <a:pPr marL="0" indent="0" algn="l">
              <a:lnSpc>
                <a:spcPct val="118000"/>
              </a:lnSpc>
              <a:buNone/>
            </a:pPr>
            <a:r>
              <a:rPr lang="en-US" sz="1250" dirty="0">
                <a:solidFill>
                  <a:srgbClr val="F4F1EA"/>
                </a:solidFill>
                <a:latin typeface="Noto Sans" pitchFamily="34" charset="0"/>
                <a:ea typeface="Noto Sans" pitchFamily="34" charset="-122"/>
                <a:cs typeface="Noto Sans" pitchFamily="34" charset="-120"/>
              </a:rPr>
              <a:t>  Task 2: Bow &amp; Arrow (arrow.gd)</a:t>
            </a:r>
            <a:endParaRPr lang="en-US" sz="1250" dirty="0"/>
          </a:p>
        </p:txBody>
      </p:sp>
      <p:sp>
        <p:nvSpPr>
          <p:cNvPr id="15" name="Shape 13"/>
          <p:cNvSpPr/>
          <p:nvPr/>
        </p:nvSpPr>
        <p:spPr>
          <a:xfrm>
            <a:off x="711182" y="2971800"/>
            <a:ext cx="4317694" cy="304800"/>
          </a:xfrm>
          <a:prstGeom prst="roundRect">
            <a:avLst>
              <a:gd name="adj" fmla="val 13500"/>
            </a:avLst>
          </a:prstGeom>
          <a:solidFill>
            <a:srgbClr val="3A2A28"/>
          </a:solidFill>
          <a:ln/>
        </p:spPr>
      </p:sp>
      <p:sp>
        <p:nvSpPr>
          <p:cNvPr id="16" name="Text 14"/>
          <p:cNvSpPr/>
          <p:nvPr/>
        </p:nvSpPr>
        <p:spPr>
          <a:xfrm>
            <a:off x="768331" y="3011488"/>
            <a:ext cx="5365417" cy="225425"/>
          </a:xfrm>
          <a:prstGeom prst="rect">
            <a:avLst/>
          </a:prstGeom>
          <a:noFill/>
          <a:ln/>
        </p:spPr>
        <p:txBody>
          <a:bodyPr wrap="none" lIns="0" tIns="0" rIns="0" bIns="0" rtlCol="0" anchor="t"/>
          <a:lstStyle/>
          <a:p>
            <a:pPr marL="0" indent="0" algn="l">
              <a:lnSpc>
                <a:spcPct val="118000"/>
              </a:lnSpc>
              <a:buNone/>
            </a:pPr>
            <a:r>
              <a:rPr lang="en-US" sz="1250" dirty="0">
                <a:solidFill>
                  <a:srgbClr val="F4F1EA"/>
                </a:solidFill>
                <a:latin typeface="Noto Sans" pitchFamily="34" charset="0"/>
                <a:ea typeface="Noto Sans" pitchFamily="34" charset="-122"/>
                <a:cs typeface="Noto Sans" pitchFamily="34" charset="-120"/>
              </a:rPr>
              <a:t>  Task 3: Slime Monster (slime.gd)</a:t>
            </a:r>
            <a:endParaRPr lang="en-US" sz="1250" dirty="0"/>
          </a:p>
        </p:txBody>
      </p:sp>
      <p:sp>
        <p:nvSpPr>
          <p:cNvPr id="17" name="Shape 15"/>
          <p:cNvSpPr/>
          <p:nvPr/>
        </p:nvSpPr>
        <p:spPr>
          <a:xfrm>
            <a:off x="1092173" y="3314700"/>
            <a:ext cx="4317694" cy="304800"/>
          </a:xfrm>
          <a:prstGeom prst="roundRect">
            <a:avLst>
              <a:gd name="adj" fmla="val 13500"/>
            </a:avLst>
          </a:prstGeom>
          <a:solidFill>
            <a:srgbClr val="4A2E29"/>
          </a:solidFill>
          <a:ln/>
        </p:spPr>
      </p:sp>
      <p:sp>
        <p:nvSpPr>
          <p:cNvPr id="18" name="Text 16"/>
          <p:cNvSpPr/>
          <p:nvPr/>
        </p:nvSpPr>
        <p:spPr>
          <a:xfrm>
            <a:off x="1149321" y="3354388"/>
            <a:ext cx="5365417" cy="225425"/>
          </a:xfrm>
          <a:prstGeom prst="rect">
            <a:avLst/>
          </a:prstGeom>
          <a:noFill/>
          <a:ln/>
        </p:spPr>
        <p:txBody>
          <a:bodyPr wrap="none" lIns="0" tIns="0" rIns="0" bIns="0" rtlCol="0" anchor="t"/>
          <a:lstStyle/>
          <a:p>
            <a:pPr marL="0" indent="0" algn="l">
              <a:lnSpc>
                <a:spcPct val="118000"/>
              </a:lnSpc>
              <a:buNone/>
            </a:pPr>
            <a:r>
              <a:rPr lang="en-US" sz="1250" dirty="0">
                <a:solidFill>
                  <a:srgbClr val="F4F1EA"/>
                </a:solidFill>
                <a:latin typeface="Noto Sans" pitchFamily="34" charset="0"/>
                <a:ea typeface="Noto Sans" pitchFamily="34" charset="-122"/>
                <a:cs typeface="Noto Sans" pitchFamily="34" charset="-120"/>
              </a:rPr>
              <a:t>  Task 4: Enemy Spawner (spawner.gd)</a:t>
            </a:r>
            <a:endParaRPr lang="en-US" sz="1250" dirty="0"/>
          </a:p>
        </p:txBody>
      </p:sp>
      <p:sp>
        <p:nvSpPr>
          <p:cNvPr id="19" name="Shape 17"/>
          <p:cNvSpPr/>
          <p:nvPr/>
        </p:nvSpPr>
        <p:spPr>
          <a:xfrm>
            <a:off x="711182" y="3657600"/>
            <a:ext cx="4317694" cy="304800"/>
          </a:xfrm>
          <a:prstGeom prst="roundRect">
            <a:avLst>
              <a:gd name="adj" fmla="val 13500"/>
            </a:avLst>
          </a:prstGeom>
          <a:solidFill>
            <a:srgbClr val="3A2A28"/>
          </a:solidFill>
          <a:ln/>
        </p:spPr>
      </p:sp>
      <p:sp>
        <p:nvSpPr>
          <p:cNvPr id="20" name="Text 18"/>
          <p:cNvSpPr/>
          <p:nvPr/>
        </p:nvSpPr>
        <p:spPr>
          <a:xfrm>
            <a:off x="768331" y="3697288"/>
            <a:ext cx="5365417" cy="225425"/>
          </a:xfrm>
          <a:prstGeom prst="rect">
            <a:avLst/>
          </a:prstGeom>
          <a:noFill/>
          <a:ln/>
        </p:spPr>
        <p:txBody>
          <a:bodyPr wrap="none" lIns="0" tIns="0" rIns="0" bIns="0" rtlCol="0" anchor="t"/>
          <a:lstStyle/>
          <a:p>
            <a:pPr marL="0" indent="0" algn="l">
              <a:lnSpc>
                <a:spcPct val="118000"/>
              </a:lnSpc>
              <a:buNone/>
            </a:pPr>
            <a:r>
              <a:rPr lang="en-US" sz="1250" dirty="0">
                <a:solidFill>
                  <a:srgbClr val="F4F1EA"/>
                </a:solidFill>
                <a:latin typeface="Noto Sans" pitchFamily="34" charset="0"/>
                <a:ea typeface="Noto Sans" pitchFamily="34" charset="-122"/>
                <a:cs typeface="Noto Sans" pitchFamily="34" charset="-120"/>
              </a:rPr>
              <a:t>  Task 5: Inventory UI (inventory.gd)</a:t>
            </a:r>
            <a:endParaRPr lang="en-US" sz="1250" dirty="0"/>
          </a:p>
        </p:txBody>
      </p:sp>
      <p:sp>
        <p:nvSpPr>
          <p:cNvPr id="21" name="Text 19"/>
          <p:cNvSpPr/>
          <p:nvPr/>
        </p:nvSpPr>
        <p:spPr>
          <a:xfrm>
            <a:off x="768331" y="3994944"/>
            <a:ext cx="4882829" cy="703064"/>
          </a:xfrm>
          <a:prstGeom prst="rect">
            <a:avLst/>
          </a:prstGeom>
          <a:noFill/>
          <a:ln/>
        </p:spPr>
        <p:txBody>
          <a:bodyPr wrap="square" lIns="0" tIns="0" rIns="0" bIns="0" rtlCol="0" anchor="t">
            <a:normAutofit/>
          </a:bodyPr>
          <a:lstStyle/>
          <a:p>
            <a:pPr marL="0" indent="0" algn="l">
              <a:lnSpc>
                <a:spcPct val="118000"/>
              </a:lnSpc>
              <a:buNone/>
            </a:pPr>
            <a:r>
              <a:rPr lang="en-US" sz="1300" b="1" dirty="0">
                <a:solidFill>
                  <a:srgbClr val="F4B9A6"/>
                </a:solidFill>
                <a:latin typeface="Noto Sans Bold" pitchFamily="34" charset="0"/>
                <a:ea typeface="Noto Sans Bold" pitchFamily="34" charset="-122"/>
                <a:cs typeface="Noto Sans Bold" pitchFamily="34" charset="-120"/>
              </a:rPr>
              <a:t>Hậu quả:</a:t>
            </a:r>
            <a:r>
              <a:rPr lang="en-US" sz="1300" dirty="0">
                <a:solidFill>
                  <a:srgbClr val="F4B9A6"/>
                </a:solidFill>
                <a:latin typeface="Noto Sans" pitchFamily="34" charset="0"/>
                <a:ea typeface="Noto Sans" pitchFamily="34" charset="-122"/>
                <a:cs typeface="Noto Sans" pitchFamily="34" charset="-120"/>
              </a:rPr>
              <a:t> Context phình to, AI bắt đầu “ảo giác” (nhớ nhầm tên biến cũ, Slime spawn kẹt trong vách đá, cung thủ bắn ngược ra sau).</a:t>
            </a:r>
            <a:endParaRPr lang="en-US" sz="1300" dirty="0"/>
          </a:p>
        </p:txBody>
      </p:sp>
      <p:sp>
        <p:nvSpPr>
          <p:cNvPr id="22" name="Shape 20"/>
          <p:cNvSpPr/>
          <p:nvPr/>
        </p:nvSpPr>
        <p:spPr>
          <a:xfrm>
            <a:off x="711182" y="5029200"/>
            <a:ext cx="1600160" cy="1295400"/>
          </a:xfrm>
          <a:prstGeom prst="roundRect">
            <a:avLst>
              <a:gd name="adj" fmla="val 3176"/>
            </a:avLst>
          </a:prstGeom>
          <a:solidFill>
            <a:srgbClr val="C8321A"/>
          </a:solidFill>
          <a:ln/>
        </p:spPr>
      </p:sp>
      <p:sp>
        <p:nvSpPr>
          <p:cNvPr id="23" name="Text 21"/>
          <p:cNvSpPr/>
          <p:nvPr/>
        </p:nvSpPr>
        <p:spPr>
          <a:xfrm>
            <a:off x="869928" y="5080000"/>
            <a:ext cx="1835104" cy="468809"/>
          </a:xfrm>
          <a:prstGeom prst="rect">
            <a:avLst/>
          </a:prstGeom>
          <a:noFill/>
          <a:ln/>
        </p:spPr>
        <p:txBody>
          <a:bodyPr wrap="none" lIns="0" tIns="0" rIns="0" bIns="0" rtlCol="0" anchor="t"/>
          <a:lstStyle/>
          <a:p>
            <a:pPr marL="0" indent="0" algn="l">
              <a:lnSpc>
                <a:spcPct val="118000"/>
              </a:lnSpc>
              <a:buNone/>
            </a:pPr>
            <a:r>
              <a:rPr lang="en-US" sz="2600" b="1" dirty="0">
                <a:solidFill>
                  <a:srgbClr val="FFFFFF"/>
                </a:solidFill>
                <a:latin typeface="Noto Sans Bold" pitchFamily="34" charset="0"/>
                <a:ea typeface="Noto Sans Bold" pitchFamily="34" charset="-122"/>
                <a:cs typeface="Noto Sans Bold" pitchFamily="34" charset="-120"/>
              </a:rPr>
              <a:t>120+</a:t>
            </a:r>
            <a:endParaRPr lang="en-US" sz="2600" dirty="0"/>
          </a:p>
        </p:txBody>
      </p:sp>
      <p:sp>
        <p:nvSpPr>
          <p:cNvPr id="24" name="Text 22"/>
          <p:cNvSpPr/>
          <p:nvPr/>
        </p:nvSpPr>
        <p:spPr>
          <a:xfrm>
            <a:off x="869928" y="5571927"/>
            <a:ext cx="1225519" cy="414734"/>
          </a:xfrm>
          <a:prstGeom prst="rect">
            <a:avLst/>
          </a:prstGeom>
          <a:noFill/>
          <a:ln/>
        </p:spPr>
        <p:txBody>
          <a:bodyPr wrap="square" lIns="0" tIns="0" rIns="0" bIns="0" rtlCol="0" anchor="t">
            <a:normAutofit/>
          </a:bodyPr>
          <a:lstStyle/>
          <a:p>
            <a:pPr marL="0" indent="0" algn="l">
              <a:lnSpc>
                <a:spcPct val="118000"/>
              </a:lnSpc>
              <a:buNone/>
            </a:pPr>
            <a:r>
              <a:rPr lang="en-US" sz="1150" dirty="0">
                <a:solidFill>
                  <a:srgbClr val="F4F1EA"/>
                </a:solidFill>
                <a:latin typeface="Noto Sans" pitchFamily="34" charset="0"/>
                <a:ea typeface="Noto Sans" pitchFamily="34" charset="-122"/>
                <a:cs typeface="Noto Sans" pitchFamily="34" charset="-120"/>
              </a:rPr>
              <a:t>Blocks tin nhắn tồn đọng</a:t>
            </a:r>
            <a:endParaRPr lang="en-US" sz="1150" dirty="0"/>
          </a:p>
        </p:txBody>
      </p:sp>
      <p:sp>
        <p:nvSpPr>
          <p:cNvPr id="25" name="Shape 23"/>
          <p:cNvSpPr/>
          <p:nvPr/>
        </p:nvSpPr>
        <p:spPr>
          <a:xfrm>
            <a:off x="2412940" y="5029200"/>
            <a:ext cx="1600160" cy="1295400"/>
          </a:xfrm>
          <a:prstGeom prst="roundRect">
            <a:avLst>
              <a:gd name="adj" fmla="val 3176"/>
            </a:avLst>
          </a:prstGeom>
          <a:solidFill>
            <a:srgbClr val="C8321A"/>
          </a:solidFill>
          <a:ln/>
        </p:spPr>
      </p:sp>
      <p:sp>
        <p:nvSpPr>
          <p:cNvPr id="26" name="Text 24"/>
          <p:cNvSpPr/>
          <p:nvPr/>
        </p:nvSpPr>
        <p:spPr>
          <a:xfrm>
            <a:off x="2571487" y="5080000"/>
            <a:ext cx="1835104" cy="468809"/>
          </a:xfrm>
          <a:prstGeom prst="rect">
            <a:avLst/>
          </a:prstGeom>
          <a:noFill/>
          <a:ln/>
        </p:spPr>
        <p:txBody>
          <a:bodyPr wrap="none" lIns="0" tIns="0" rIns="0" bIns="0" rtlCol="0" anchor="t"/>
          <a:lstStyle/>
          <a:p>
            <a:pPr marL="0" indent="0" algn="l">
              <a:lnSpc>
                <a:spcPct val="118000"/>
              </a:lnSpc>
              <a:buNone/>
            </a:pPr>
            <a:r>
              <a:rPr lang="en-US" sz="2600" b="1" dirty="0">
                <a:solidFill>
                  <a:srgbClr val="FFFFFF"/>
                </a:solidFill>
                <a:latin typeface="Noto Sans Bold" pitchFamily="34" charset="0"/>
                <a:ea typeface="Noto Sans Bold" pitchFamily="34" charset="-122"/>
                <a:cs typeface="Noto Sans Bold" pitchFamily="34" charset="-120"/>
              </a:rPr>
              <a:t>75k+</a:t>
            </a:r>
            <a:endParaRPr lang="en-US" sz="2600" dirty="0"/>
          </a:p>
        </p:txBody>
      </p:sp>
      <p:sp>
        <p:nvSpPr>
          <p:cNvPr id="27" name="Text 25"/>
          <p:cNvSpPr/>
          <p:nvPr/>
        </p:nvSpPr>
        <p:spPr>
          <a:xfrm>
            <a:off x="2571487" y="5571927"/>
            <a:ext cx="1282668" cy="414734"/>
          </a:xfrm>
          <a:prstGeom prst="rect">
            <a:avLst/>
          </a:prstGeom>
          <a:noFill/>
          <a:ln/>
        </p:spPr>
        <p:txBody>
          <a:bodyPr wrap="square" lIns="0" tIns="0" rIns="0" bIns="0" rtlCol="0" anchor="t">
            <a:normAutofit/>
          </a:bodyPr>
          <a:lstStyle/>
          <a:p>
            <a:pPr marL="0" indent="0" algn="l">
              <a:lnSpc>
                <a:spcPct val="118000"/>
              </a:lnSpc>
              <a:buNone/>
            </a:pPr>
            <a:r>
              <a:rPr lang="en-US" sz="1150" dirty="0">
                <a:solidFill>
                  <a:srgbClr val="F4F1EA"/>
                </a:solidFill>
                <a:latin typeface="Noto Sans" pitchFamily="34" charset="0"/>
                <a:ea typeface="Noto Sans" pitchFamily="34" charset="-122"/>
                <a:cs typeface="Noto Sans" pitchFamily="34" charset="-120"/>
              </a:rPr>
              <a:t>Tokens nạp lại mỗi prompt</a:t>
            </a:r>
            <a:endParaRPr lang="en-US" sz="1150" dirty="0"/>
          </a:p>
        </p:txBody>
      </p:sp>
      <p:sp>
        <p:nvSpPr>
          <p:cNvPr id="28" name="Shape 26"/>
          <p:cNvSpPr/>
          <p:nvPr/>
        </p:nvSpPr>
        <p:spPr>
          <a:xfrm>
            <a:off x="4114499" y="5029200"/>
            <a:ext cx="1600160" cy="1295400"/>
          </a:xfrm>
          <a:prstGeom prst="roundRect">
            <a:avLst>
              <a:gd name="adj" fmla="val 3176"/>
            </a:avLst>
          </a:prstGeom>
          <a:solidFill>
            <a:srgbClr val="C8321A"/>
          </a:solidFill>
          <a:ln/>
        </p:spPr>
      </p:sp>
      <p:sp>
        <p:nvSpPr>
          <p:cNvPr id="29" name="Text 27"/>
          <p:cNvSpPr/>
          <p:nvPr/>
        </p:nvSpPr>
        <p:spPr>
          <a:xfrm>
            <a:off x="4273245" y="5080000"/>
            <a:ext cx="1835104" cy="468809"/>
          </a:xfrm>
          <a:prstGeom prst="rect">
            <a:avLst/>
          </a:prstGeom>
          <a:noFill/>
          <a:ln/>
        </p:spPr>
        <p:txBody>
          <a:bodyPr wrap="none" lIns="0" tIns="0" rIns="0" bIns="0" rtlCol="0" anchor="t"/>
          <a:lstStyle/>
          <a:p>
            <a:pPr marL="0" indent="0" algn="l">
              <a:lnSpc>
                <a:spcPct val="118000"/>
              </a:lnSpc>
              <a:buNone/>
            </a:pPr>
            <a:r>
              <a:rPr lang="en-US" sz="2600" b="1" dirty="0">
                <a:solidFill>
                  <a:srgbClr val="FFFFFF"/>
                </a:solidFill>
                <a:latin typeface="Noto Sans Bold" pitchFamily="34" charset="0"/>
                <a:ea typeface="Noto Sans Bold" pitchFamily="34" charset="-122"/>
                <a:cs typeface="Noto Sans Bold" pitchFamily="34" charset="-120"/>
              </a:rPr>
              <a:t>~3×</a:t>
            </a:r>
            <a:endParaRPr lang="en-US" sz="2600" dirty="0"/>
          </a:p>
        </p:txBody>
      </p:sp>
      <p:sp>
        <p:nvSpPr>
          <p:cNvPr id="30" name="Text 28"/>
          <p:cNvSpPr/>
          <p:nvPr/>
        </p:nvSpPr>
        <p:spPr>
          <a:xfrm>
            <a:off x="4273245" y="5571927"/>
            <a:ext cx="1282668" cy="414734"/>
          </a:xfrm>
          <a:prstGeom prst="rect">
            <a:avLst/>
          </a:prstGeom>
          <a:noFill/>
          <a:ln/>
        </p:spPr>
        <p:txBody>
          <a:bodyPr wrap="square" lIns="0" tIns="0" rIns="0" bIns="0" rtlCol="0" anchor="t">
            <a:normAutofit/>
          </a:bodyPr>
          <a:lstStyle/>
          <a:p>
            <a:pPr marL="0" indent="0" algn="l">
              <a:lnSpc>
                <a:spcPct val="118000"/>
              </a:lnSpc>
              <a:buNone/>
            </a:pPr>
            <a:r>
              <a:rPr lang="en-US" sz="1150" dirty="0">
                <a:solidFill>
                  <a:srgbClr val="F4F1EA"/>
                </a:solidFill>
                <a:latin typeface="Noto Sans" pitchFamily="34" charset="0"/>
                <a:ea typeface="Noto Sans" pitchFamily="34" charset="-122"/>
                <a:cs typeface="Noto Sans" pitchFamily="34" charset="-120"/>
              </a:rPr>
              <a:t>Chi phí API bị lãng phí</a:t>
            </a:r>
            <a:endParaRPr lang="en-US" sz="1150" dirty="0"/>
          </a:p>
        </p:txBody>
      </p:sp>
      <p:sp>
        <p:nvSpPr>
          <p:cNvPr id="31" name="Shape 29"/>
          <p:cNvSpPr/>
          <p:nvPr/>
        </p:nvSpPr>
        <p:spPr>
          <a:xfrm>
            <a:off x="6222646" y="1270000"/>
            <a:ext cx="5460665" cy="5207000"/>
          </a:xfrm>
          <a:prstGeom prst="roundRect">
            <a:avLst>
              <a:gd name="adj" fmla="val 790"/>
            </a:avLst>
          </a:prstGeom>
          <a:solidFill>
            <a:srgbClr val="F4F1EA"/>
          </a:solidFill>
          <a:ln/>
        </p:spPr>
      </p:sp>
      <p:sp>
        <p:nvSpPr>
          <p:cNvPr id="32" name="Text 30"/>
          <p:cNvSpPr/>
          <p:nvPr/>
        </p:nvSpPr>
        <p:spPr>
          <a:xfrm>
            <a:off x="6482989" y="1397000"/>
            <a:ext cx="4882829" cy="271760"/>
          </a:xfrm>
          <a:prstGeom prst="rect">
            <a:avLst/>
          </a:prstGeom>
          <a:noFill/>
          <a:ln/>
        </p:spPr>
        <p:txBody>
          <a:bodyPr wrap="none" lIns="0" tIns="0" rIns="0" bIns="0" rtlCol="0" anchor="t"/>
          <a:lstStyle/>
          <a:p>
            <a:pPr marL="0" indent="0" algn="l">
              <a:lnSpc>
                <a:spcPct val="89000"/>
              </a:lnSpc>
              <a:buNone/>
            </a:pPr>
            <a:r>
              <a:rPr lang="en-US" sz="2000" b="1" dirty="0">
                <a:solidFill>
                  <a:srgbClr val="14161A"/>
                </a:solidFill>
                <a:latin typeface="Noto Sans Bold" pitchFamily="34" charset="0"/>
                <a:ea typeface="Noto Sans Bold" pitchFamily="34" charset="-122"/>
                <a:cs typeface="Noto Sans Bold" pitchFamily="34" charset="-120"/>
              </a:rPr>
              <a:t>FRESH CHAT PER JOB</a:t>
            </a:r>
            <a:endParaRPr lang="en-US" sz="2000" dirty="0"/>
          </a:p>
        </p:txBody>
      </p:sp>
      <p:sp>
        <p:nvSpPr>
          <p:cNvPr id="33" name="Shape 31"/>
          <p:cNvSpPr/>
          <p:nvPr/>
        </p:nvSpPr>
        <p:spPr>
          <a:xfrm>
            <a:off x="6425841" y="1828800"/>
            <a:ext cx="3809706" cy="330200"/>
          </a:xfrm>
          <a:prstGeom prst="roundRect">
            <a:avLst>
              <a:gd name="adj" fmla="val 12461"/>
            </a:avLst>
          </a:prstGeom>
          <a:solidFill>
            <a:srgbClr val="C6F432"/>
          </a:solidFill>
          <a:ln/>
        </p:spPr>
      </p:sp>
      <p:sp>
        <p:nvSpPr>
          <p:cNvPr id="34" name="Text 32"/>
          <p:cNvSpPr/>
          <p:nvPr/>
        </p:nvSpPr>
        <p:spPr>
          <a:xfrm>
            <a:off x="6482989" y="1881188"/>
            <a:ext cx="4857430" cy="225425"/>
          </a:xfrm>
          <a:prstGeom prst="rect">
            <a:avLst/>
          </a:prstGeom>
          <a:noFill/>
          <a:ln/>
        </p:spPr>
        <p:txBody>
          <a:bodyPr wrap="none" lIns="0" tIns="0" rIns="0" bIns="0" rtlCol="0" anchor="t"/>
          <a:lstStyle/>
          <a:p>
            <a:pPr marL="0" indent="0" algn="l">
              <a:lnSpc>
                <a:spcPct val="118000"/>
              </a:lnSpc>
              <a:buNone/>
            </a:pPr>
            <a:r>
              <a:rPr lang="en-US" sz="1250" b="1" dirty="0">
                <a:solidFill>
                  <a:srgbClr val="14161A"/>
                </a:solidFill>
                <a:latin typeface="Noto Sans Bold" pitchFamily="34" charset="0"/>
                <a:ea typeface="Noto Sans Bold" pitchFamily="34" charset="-122"/>
                <a:cs typeface="Noto Sans Bold" pitchFamily="34" charset="-120"/>
              </a:rPr>
              <a:t>✓ 1 Task = 1 Session sạch hoàn toàn</a:t>
            </a:r>
            <a:endParaRPr lang="en-US" sz="1250" dirty="0"/>
          </a:p>
        </p:txBody>
      </p:sp>
      <p:sp>
        <p:nvSpPr>
          <p:cNvPr id="35" name="Shape 33"/>
          <p:cNvSpPr/>
          <p:nvPr/>
        </p:nvSpPr>
        <p:spPr>
          <a:xfrm>
            <a:off x="6425841" y="2286000"/>
            <a:ext cx="5054275" cy="304800"/>
          </a:xfrm>
          <a:prstGeom prst="roundRect">
            <a:avLst>
              <a:gd name="adj" fmla="val 13500"/>
            </a:avLst>
          </a:prstGeom>
          <a:solidFill>
            <a:srgbClr val="FFFFFF"/>
          </a:solidFill>
          <a:ln/>
        </p:spPr>
      </p:sp>
      <p:sp>
        <p:nvSpPr>
          <p:cNvPr id="36" name="Text 34"/>
          <p:cNvSpPr/>
          <p:nvPr/>
        </p:nvSpPr>
        <p:spPr>
          <a:xfrm>
            <a:off x="6559187" y="2286000"/>
            <a:ext cx="1352516" cy="252413"/>
          </a:xfrm>
          <a:prstGeom prst="rect">
            <a:avLst/>
          </a:prstGeom>
          <a:noFill/>
          <a:ln/>
        </p:spPr>
        <p:txBody>
          <a:bodyPr wrap="none" lIns="0" tIns="0" rIns="0" bIns="0" rtlCol="0" anchor="t"/>
          <a:lstStyle/>
          <a:p>
            <a:pPr marL="0" indent="0" algn="l">
              <a:lnSpc>
                <a:spcPct val="118000"/>
              </a:lnSpc>
              <a:buNone/>
            </a:pPr>
            <a:r>
              <a:rPr lang="en-US" sz="1400" b="1" dirty="0">
                <a:solidFill>
                  <a:srgbClr val="116B38"/>
                </a:solidFill>
                <a:latin typeface="Noto Sans Bold" pitchFamily="34" charset="0"/>
                <a:ea typeface="Noto Sans Bold" pitchFamily="34" charset="-122"/>
                <a:cs typeface="Noto Sans Bold" pitchFamily="34" charset="-120"/>
              </a:rPr>
              <a:t>✓</a:t>
            </a:r>
            <a:endParaRPr lang="en-US" sz="1400" dirty="0"/>
          </a:p>
        </p:txBody>
      </p:sp>
      <p:sp>
        <p:nvSpPr>
          <p:cNvPr id="37" name="Text 35"/>
          <p:cNvSpPr/>
          <p:nvPr/>
        </p:nvSpPr>
        <p:spPr>
          <a:xfrm>
            <a:off x="6889379" y="2286000"/>
            <a:ext cx="5302316" cy="225425"/>
          </a:xfrm>
          <a:prstGeom prst="rect">
            <a:avLst/>
          </a:prstGeom>
          <a:noFill/>
          <a:ln/>
        </p:spPr>
        <p:txBody>
          <a:bodyPr wrap="none" lIns="0" tIns="0" rIns="0" bIns="0" rtlCol="0" anchor="t"/>
          <a:lstStyle/>
          <a:p>
            <a:pPr marL="0" indent="0" algn="l">
              <a:lnSpc>
                <a:spcPct val="118000"/>
              </a:lnSpc>
              <a:buNone/>
            </a:pPr>
            <a:r>
              <a:rPr lang="en-US" sz="1250" b="1" dirty="0">
                <a:solidFill>
                  <a:srgbClr val="14161A"/>
                </a:solidFill>
                <a:latin typeface="Noto Sans Bold" pitchFamily="34" charset="0"/>
                <a:ea typeface="Noto Sans Bold" pitchFamily="34" charset="-122"/>
                <a:cs typeface="Noto Sans Bold" pitchFamily="34" charset="-120"/>
              </a:rPr>
              <a:t>WALKING (player.gd)</a:t>
            </a:r>
            <a:endParaRPr lang="en-US" sz="1250" dirty="0"/>
          </a:p>
        </p:txBody>
      </p:sp>
      <p:sp>
        <p:nvSpPr>
          <p:cNvPr id="38" name="Shape 36"/>
          <p:cNvSpPr/>
          <p:nvPr/>
        </p:nvSpPr>
        <p:spPr>
          <a:xfrm>
            <a:off x="6425841" y="2628900"/>
            <a:ext cx="5054275" cy="304800"/>
          </a:xfrm>
          <a:prstGeom prst="roundRect">
            <a:avLst>
              <a:gd name="adj" fmla="val 13500"/>
            </a:avLst>
          </a:prstGeom>
          <a:solidFill>
            <a:srgbClr val="FFFFFF"/>
          </a:solidFill>
          <a:ln/>
        </p:spPr>
      </p:sp>
      <p:sp>
        <p:nvSpPr>
          <p:cNvPr id="39" name="Text 37"/>
          <p:cNvSpPr/>
          <p:nvPr/>
        </p:nvSpPr>
        <p:spPr>
          <a:xfrm>
            <a:off x="6559187" y="2628900"/>
            <a:ext cx="1352516" cy="252413"/>
          </a:xfrm>
          <a:prstGeom prst="rect">
            <a:avLst/>
          </a:prstGeom>
          <a:noFill/>
          <a:ln/>
        </p:spPr>
        <p:txBody>
          <a:bodyPr wrap="none" lIns="0" tIns="0" rIns="0" bIns="0" rtlCol="0" anchor="t"/>
          <a:lstStyle/>
          <a:p>
            <a:pPr marL="0" indent="0" algn="l">
              <a:lnSpc>
                <a:spcPct val="118000"/>
              </a:lnSpc>
              <a:buNone/>
            </a:pPr>
            <a:r>
              <a:rPr lang="en-US" sz="1400" b="1" dirty="0">
                <a:solidFill>
                  <a:srgbClr val="116B38"/>
                </a:solidFill>
                <a:latin typeface="Noto Sans Bold" pitchFamily="34" charset="0"/>
                <a:ea typeface="Noto Sans Bold" pitchFamily="34" charset="-122"/>
                <a:cs typeface="Noto Sans Bold" pitchFamily="34" charset="-120"/>
              </a:rPr>
              <a:t>✓</a:t>
            </a:r>
            <a:endParaRPr lang="en-US" sz="1400" dirty="0"/>
          </a:p>
        </p:txBody>
      </p:sp>
      <p:sp>
        <p:nvSpPr>
          <p:cNvPr id="40" name="Text 38"/>
          <p:cNvSpPr/>
          <p:nvPr/>
        </p:nvSpPr>
        <p:spPr>
          <a:xfrm>
            <a:off x="6889379" y="2628900"/>
            <a:ext cx="5302316" cy="225425"/>
          </a:xfrm>
          <a:prstGeom prst="rect">
            <a:avLst/>
          </a:prstGeom>
          <a:noFill/>
          <a:ln/>
        </p:spPr>
        <p:txBody>
          <a:bodyPr wrap="none" lIns="0" tIns="0" rIns="0" bIns="0" rtlCol="0" anchor="t"/>
          <a:lstStyle/>
          <a:p>
            <a:pPr marL="0" indent="0" algn="l">
              <a:lnSpc>
                <a:spcPct val="118000"/>
              </a:lnSpc>
              <a:buNone/>
            </a:pPr>
            <a:r>
              <a:rPr lang="en-US" sz="1250" b="1" dirty="0">
                <a:solidFill>
                  <a:srgbClr val="14161A"/>
                </a:solidFill>
                <a:latin typeface="Noto Sans Bold" pitchFamily="34" charset="0"/>
                <a:ea typeface="Noto Sans Bold" pitchFamily="34" charset="-122"/>
                <a:cs typeface="Noto Sans Bold" pitchFamily="34" charset="-120"/>
              </a:rPr>
              <a:t>ARCHERY (arrow.gd)</a:t>
            </a:r>
            <a:endParaRPr lang="en-US" sz="1250" dirty="0"/>
          </a:p>
        </p:txBody>
      </p:sp>
      <p:sp>
        <p:nvSpPr>
          <p:cNvPr id="41" name="Shape 39"/>
          <p:cNvSpPr/>
          <p:nvPr/>
        </p:nvSpPr>
        <p:spPr>
          <a:xfrm>
            <a:off x="6425841" y="2971800"/>
            <a:ext cx="5054275" cy="304800"/>
          </a:xfrm>
          <a:prstGeom prst="roundRect">
            <a:avLst>
              <a:gd name="adj" fmla="val 13500"/>
            </a:avLst>
          </a:prstGeom>
          <a:solidFill>
            <a:srgbClr val="FFFFFF"/>
          </a:solidFill>
          <a:ln/>
        </p:spPr>
      </p:sp>
      <p:sp>
        <p:nvSpPr>
          <p:cNvPr id="42" name="Text 40"/>
          <p:cNvSpPr/>
          <p:nvPr/>
        </p:nvSpPr>
        <p:spPr>
          <a:xfrm>
            <a:off x="6559187" y="2971800"/>
            <a:ext cx="1352516" cy="252413"/>
          </a:xfrm>
          <a:prstGeom prst="rect">
            <a:avLst/>
          </a:prstGeom>
          <a:noFill/>
          <a:ln/>
        </p:spPr>
        <p:txBody>
          <a:bodyPr wrap="none" lIns="0" tIns="0" rIns="0" bIns="0" rtlCol="0" anchor="t"/>
          <a:lstStyle/>
          <a:p>
            <a:pPr marL="0" indent="0" algn="l">
              <a:lnSpc>
                <a:spcPct val="118000"/>
              </a:lnSpc>
              <a:buNone/>
            </a:pPr>
            <a:r>
              <a:rPr lang="en-US" sz="1400" b="1" dirty="0">
                <a:solidFill>
                  <a:srgbClr val="116B38"/>
                </a:solidFill>
                <a:latin typeface="Noto Sans Bold" pitchFamily="34" charset="0"/>
                <a:ea typeface="Noto Sans Bold" pitchFamily="34" charset="-122"/>
                <a:cs typeface="Noto Sans Bold" pitchFamily="34" charset="-120"/>
              </a:rPr>
              <a:t>✓</a:t>
            </a:r>
            <a:endParaRPr lang="en-US" sz="1400" dirty="0"/>
          </a:p>
        </p:txBody>
      </p:sp>
      <p:sp>
        <p:nvSpPr>
          <p:cNvPr id="43" name="Text 41"/>
          <p:cNvSpPr/>
          <p:nvPr/>
        </p:nvSpPr>
        <p:spPr>
          <a:xfrm>
            <a:off x="6889379" y="2971800"/>
            <a:ext cx="5302316" cy="225425"/>
          </a:xfrm>
          <a:prstGeom prst="rect">
            <a:avLst/>
          </a:prstGeom>
          <a:noFill/>
          <a:ln/>
        </p:spPr>
        <p:txBody>
          <a:bodyPr wrap="none" lIns="0" tIns="0" rIns="0" bIns="0" rtlCol="0" anchor="t"/>
          <a:lstStyle/>
          <a:p>
            <a:pPr marL="0" indent="0" algn="l">
              <a:lnSpc>
                <a:spcPct val="118000"/>
              </a:lnSpc>
              <a:buNone/>
            </a:pPr>
            <a:r>
              <a:rPr lang="en-US" sz="1250" b="1" dirty="0">
                <a:solidFill>
                  <a:srgbClr val="14161A"/>
                </a:solidFill>
                <a:latin typeface="Noto Sans Bold" pitchFamily="34" charset="0"/>
                <a:ea typeface="Noto Sans Bold" pitchFamily="34" charset="-122"/>
                <a:cs typeface="Noto Sans Bold" pitchFamily="34" charset="-120"/>
              </a:rPr>
              <a:t>ENEMY AI (slime.gd)</a:t>
            </a:r>
            <a:endParaRPr lang="en-US" sz="1250" dirty="0"/>
          </a:p>
        </p:txBody>
      </p:sp>
      <p:sp>
        <p:nvSpPr>
          <p:cNvPr id="44" name="Shape 42"/>
          <p:cNvSpPr/>
          <p:nvPr/>
        </p:nvSpPr>
        <p:spPr>
          <a:xfrm>
            <a:off x="6425841" y="3314700"/>
            <a:ext cx="5054275" cy="304800"/>
          </a:xfrm>
          <a:prstGeom prst="roundRect">
            <a:avLst>
              <a:gd name="adj" fmla="val 13500"/>
            </a:avLst>
          </a:prstGeom>
          <a:solidFill>
            <a:srgbClr val="FFFFFF"/>
          </a:solidFill>
          <a:ln/>
        </p:spPr>
      </p:sp>
      <p:sp>
        <p:nvSpPr>
          <p:cNvPr id="45" name="Text 43"/>
          <p:cNvSpPr/>
          <p:nvPr/>
        </p:nvSpPr>
        <p:spPr>
          <a:xfrm>
            <a:off x="6559187" y="3314700"/>
            <a:ext cx="1352516" cy="252413"/>
          </a:xfrm>
          <a:prstGeom prst="rect">
            <a:avLst/>
          </a:prstGeom>
          <a:noFill/>
          <a:ln/>
        </p:spPr>
        <p:txBody>
          <a:bodyPr wrap="none" lIns="0" tIns="0" rIns="0" bIns="0" rtlCol="0" anchor="t"/>
          <a:lstStyle/>
          <a:p>
            <a:pPr marL="0" indent="0" algn="l">
              <a:lnSpc>
                <a:spcPct val="118000"/>
              </a:lnSpc>
              <a:buNone/>
            </a:pPr>
            <a:r>
              <a:rPr lang="en-US" sz="1400" b="1" dirty="0">
                <a:solidFill>
                  <a:srgbClr val="116B38"/>
                </a:solidFill>
                <a:latin typeface="Noto Sans Bold" pitchFamily="34" charset="0"/>
                <a:ea typeface="Noto Sans Bold" pitchFamily="34" charset="-122"/>
                <a:cs typeface="Noto Sans Bold" pitchFamily="34" charset="-120"/>
              </a:rPr>
              <a:t>✓</a:t>
            </a:r>
            <a:endParaRPr lang="en-US" sz="1400" dirty="0"/>
          </a:p>
        </p:txBody>
      </p:sp>
      <p:sp>
        <p:nvSpPr>
          <p:cNvPr id="46" name="Text 44"/>
          <p:cNvSpPr/>
          <p:nvPr/>
        </p:nvSpPr>
        <p:spPr>
          <a:xfrm>
            <a:off x="6889379" y="3314700"/>
            <a:ext cx="5302316" cy="225425"/>
          </a:xfrm>
          <a:prstGeom prst="rect">
            <a:avLst/>
          </a:prstGeom>
          <a:noFill/>
          <a:ln/>
        </p:spPr>
        <p:txBody>
          <a:bodyPr wrap="none" lIns="0" tIns="0" rIns="0" bIns="0" rtlCol="0" anchor="t"/>
          <a:lstStyle/>
          <a:p>
            <a:pPr marL="0" indent="0" algn="l">
              <a:lnSpc>
                <a:spcPct val="118000"/>
              </a:lnSpc>
              <a:buNone/>
            </a:pPr>
            <a:r>
              <a:rPr lang="en-US" sz="1250" b="1" dirty="0">
                <a:solidFill>
                  <a:srgbClr val="14161A"/>
                </a:solidFill>
                <a:latin typeface="Noto Sans Bold" pitchFamily="34" charset="0"/>
                <a:ea typeface="Noto Sans Bold" pitchFamily="34" charset="-122"/>
                <a:cs typeface="Noto Sans Bold" pitchFamily="34" charset="-120"/>
              </a:rPr>
              <a:t>SPAWNER (spawner.gd)</a:t>
            </a:r>
            <a:endParaRPr lang="en-US" sz="1250" dirty="0"/>
          </a:p>
        </p:txBody>
      </p:sp>
      <p:sp>
        <p:nvSpPr>
          <p:cNvPr id="47" name="Shape 45"/>
          <p:cNvSpPr/>
          <p:nvPr/>
        </p:nvSpPr>
        <p:spPr>
          <a:xfrm>
            <a:off x="6425841" y="3657600"/>
            <a:ext cx="5054275" cy="304800"/>
          </a:xfrm>
          <a:prstGeom prst="roundRect">
            <a:avLst>
              <a:gd name="adj" fmla="val 13500"/>
            </a:avLst>
          </a:prstGeom>
          <a:solidFill>
            <a:srgbClr val="FFFFFF"/>
          </a:solidFill>
          <a:ln/>
        </p:spPr>
      </p:sp>
      <p:sp>
        <p:nvSpPr>
          <p:cNvPr id="48" name="Text 46"/>
          <p:cNvSpPr/>
          <p:nvPr/>
        </p:nvSpPr>
        <p:spPr>
          <a:xfrm>
            <a:off x="6559187" y="3657600"/>
            <a:ext cx="1352516" cy="252413"/>
          </a:xfrm>
          <a:prstGeom prst="rect">
            <a:avLst/>
          </a:prstGeom>
          <a:noFill/>
          <a:ln/>
        </p:spPr>
        <p:txBody>
          <a:bodyPr wrap="none" lIns="0" tIns="0" rIns="0" bIns="0" rtlCol="0" anchor="t"/>
          <a:lstStyle/>
          <a:p>
            <a:pPr marL="0" indent="0" algn="l">
              <a:lnSpc>
                <a:spcPct val="118000"/>
              </a:lnSpc>
              <a:buNone/>
            </a:pPr>
            <a:r>
              <a:rPr lang="en-US" sz="1400" b="1" dirty="0">
                <a:solidFill>
                  <a:srgbClr val="116B38"/>
                </a:solidFill>
                <a:latin typeface="Noto Sans Bold" pitchFamily="34" charset="0"/>
                <a:ea typeface="Noto Sans Bold" pitchFamily="34" charset="-122"/>
                <a:cs typeface="Noto Sans Bold" pitchFamily="34" charset="-120"/>
              </a:rPr>
              <a:t>✓</a:t>
            </a:r>
            <a:endParaRPr lang="en-US" sz="1400" dirty="0"/>
          </a:p>
        </p:txBody>
      </p:sp>
      <p:sp>
        <p:nvSpPr>
          <p:cNvPr id="49" name="Text 47"/>
          <p:cNvSpPr/>
          <p:nvPr/>
        </p:nvSpPr>
        <p:spPr>
          <a:xfrm>
            <a:off x="6889379" y="3657600"/>
            <a:ext cx="5302316" cy="225425"/>
          </a:xfrm>
          <a:prstGeom prst="rect">
            <a:avLst/>
          </a:prstGeom>
          <a:noFill/>
          <a:ln/>
        </p:spPr>
        <p:txBody>
          <a:bodyPr wrap="none" lIns="0" tIns="0" rIns="0" bIns="0" rtlCol="0" anchor="t"/>
          <a:lstStyle/>
          <a:p>
            <a:pPr marL="0" indent="0" algn="l">
              <a:lnSpc>
                <a:spcPct val="118000"/>
              </a:lnSpc>
              <a:buNone/>
            </a:pPr>
            <a:r>
              <a:rPr lang="en-US" sz="1250" b="1" dirty="0">
                <a:solidFill>
                  <a:srgbClr val="14161A"/>
                </a:solidFill>
                <a:latin typeface="Noto Sans Bold" pitchFamily="34" charset="0"/>
                <a:ea typeface="Noto Sans Bold" pitchFamily="34" charset="-122"/>
                <a:cs typeface="Noto Sans Bold" pitchFamily="34" charset="-120"/>
              </a:rPr>
              <a:t>INVENTORY (inventory_ui.gd)</a:t>
            </a:r>
            <a:endParaRPr lang="en-US" sz="1250" dirty="0"/>
          </a:p>
        </p:txBody>
      </p:sp>
      <p:sp>
        <p:nvSpPr>
          <p:cNvPr id="50" name="Text 48"/>
          <p:cNvSpPr/>
          <p:nvPr/>
        </p:nvSpPr>
        <p:spPr>
          <a:xfrm>
            <a:off x="6482989" y="3994944"/>
            <a:ext cx="4882829" cy="468709"/>
          </a:xfrm>
          <a:prstGeom prst="rect">
            <a:avLst/>
          </a:prstGeom>
          <a:noFill/>
          <a:ln/>
        </p:spPr>
        <p:txBody>
          <a:bodyPr wrap="square" lIns="0" tIns="0" rIns="0" bIns="0" rtlCol="0" anchor="t">
            <a:normAutofit/>
          </a:bodyPr>
          <a:lstStyle/>
          <a:p>
            <a:pPr marL="0" indent="0" algn="l">
              <a:lnSpc>
                <a:spcPct val="118000"/>
              </a:lnSpc>
              <a:buNone/>
            </a:pPr>
            <a:r>
              <a:rPr lang="en-US" sz="1300" b="1" dirty="0">
                <a:solidFill>
                  <a:srgbClr val="2B2D31"/>
                </a:solidFill>
                <a:latin typeface="Noto Sans Bold" pitchFamily="34" charset="0"/>
                <a:ea typeface="Noto Sans Bold" pitchFamily="34" charset="-122"/>
                <a:cs typeface="Noto Sans Bold" pitchFamily="34" charset="-120"/>
              </a:rPr>
              <a:t>Lợi ích:</a:t>
            </a:r>
            <a:r>
              <a:rPr lang="en-US" sz="1300" dirty="0">
                <a:solidFill>
                  <a:srgbClr val="2B2D31"/>
                </a:solidFill>
                <a:latin typeface="Noto Sans" pitchFamily="34" charset="0"/>
                <a:ea typeface="Noto Sans" pitchFamily="34" charset="-122"/>
                <a:cs typeface="Noto Sans" pitchFamily="34" charset="-120"/>
              </a:rPr>
              <a:t> Chỉ nạp đúng Spec + File liên quan. Code chuẩn xác, không bị rác ngữ cảnh, Git commit rành mạch từng phần.</a:t>
            </a:r>
            <a:endParaRPr lang="en-US" sz="1300" dirty="0"/>
          </a:p>
        </p:txBody>
      </p:sp>
      <p:sp>
        <p:nvSpPr>
          <p:cNvPr id="51" name="Shape 49"/>
          <p:cNvSpPr/>
          <p:nvPr/>
        </p:nvSpPr>
        <p:spPr>
          <a:xfrm>
            <a:off x="6425841" y="5029200"/>
            <a:ext cx="1600160" cy="1295400"/>
          </a:xfrm>
          <a:prstGeom prst="roundRect">
            <a:avLst>
              <a:gd name="adj" fmla="val 3176"/>
            </a:avLst>
          </a:prstGeom>
          <a:solidFill>
            <a:srgbClr val="14161A"/>
          </a:solidFill>
          <a:ln/>
        </p:spPr>
      </p:sp>
      <p:sp>
        <p:nvSpPr>
          <p:cNvPr id="52" name="Text 50"/>
          <p:cNvSpPr/>
          <p:nvPr/>
        </p:nvSpPr>
        <p:spPr>
          <a:xfrm>
            <a:off x="6584587" y="5080000"/>
            <a:ext cx="1835104" cy="468809"/>
          </a:xfrm>
          <a:prstGeom prst="rect">
            <a:avLst/>
          </a:prstGeom>
          <a:noFill/>
          <a:ln/>
        </p:spPr>
        <p:txBody>
          <a:bodyPr wrap="none" lIns="0" tIns="0" rIns="0" bIns="0" rtlCol="0" anchor="t"/>
          <a:lstStyle/>
          <a:p>
            <a:pPr marL="0" indent="0" algn="l">
              <a:lnSpc>
                <a:spcPct val="118000"/>
              </a:lnSpc>
              <a:buNone/>
            </a:pPr>
            <a:r>
              <a:rPr lang="en-US" sz="2600" b="1" dirty="0">
                <a:solidFill>
                  <a:srgbClr val="C6F432"/>
                </a:solidFill>
                <a:latin typeface="Noto Sans Bold" pitchFamily="34" charset="0"/>
                <a:ea typeface="Noto Sans Bold" pitchFamily="34" charset="-122"/>
                <a:cs typeface="Noto Sans Bold" pitchFamily="34" charset="-120"/>
              </a:rPr>
              <a:t>30</a:t>
            </a:r>
            <a:endParaRPr lang="en-US" sz="2600" dirty="0"/>
          </a:p>
        </p:txBody>
      </p:sp>
      <p:sp>
        <p:nvSpPr>
          <p:cNvPr id="53" name="Text 51"/>
          <p:cNvSpPr/>
          <p:nvPr/>
        </p:nvSpPr>
        <p:spPr>
          <a:xfrm>
            <a:off x="6584587" y="5571927"/>
            <a:ext cx="1282668" cy="414734"/>
          </a:xfrm>
          <a:prstGeom prst="rect">
            <a:avLst/>
          </a:prstGeom>
          <a:noFill/>
          <a:ln/>
        </p:spPr>
        <p:txBody>
          <a:bodyPr wrap="square" lIns="0" tIns="0" rIns="0" bIns="0" rtlCol="0" anchor="t">
            <a:normAutofit/>
          </a:bodyPr>
          <a:lstStyle/>
          <a:p>
            <a:pPr marL="0" indent="0" algn="l">
              <a:lnSpc>
                <a:spcPct val="118000"/>
              </a:lnSpc>
              <a:buNone/>
            </a:pPr>
            <a:r>
              <a:rPr lang="en-US" sz="1150" dirty="0">
                <a:solidFill>
                  <a:srgbClr val="F4F1EA"/>
                </a:solidFill>
                <a:latin typeface="Noto Sans" pitchFamily="34" charset="0"/>
                <a:ea typeface="Noto Sans" pitchFamily="34" charset="-122"/>
                <a:cs typeface="Noto Sans" pitchFamily="34" charset="-120"/>
              </a:rPr>
              <a:t>Blocks tin nhắn cô lập</a:t>
            </a:r>
            <a:endParaRPr lang="en-US" sz="1150" dirty="0"/>
          </a:p>
        </p:txBody>
      </p:sp>
      <p:sp>
        <p:nvSpPr>
          <p:cNvPr id="54" name="Shape 52"/>
          <p:cNvSpPr/>
          <p:nvPr/>
        </p:nvSpPr>
        <p:spPr>
          <a:xfrm>
            <a:off x="8127499" y="5029200"/>
            <a:ext cx="1600160" cy="1295400"/>
          </a:xfrm>
          <a:prstGeom prst="roundRect">
            <a:avLst>
              <a:gd name="adj" fmla="val 3176"/>
            </a:avLst>
          </a:prstGeom>
          <a:solidFill>
            <a:srgbClr val="14161A"/>
          </a:solidFill>
          <a:ln/>
        </p:spPr>
      </p:sp>
      <p:sp>
        <p:nvSpPr>
          <p:cNvPr id="55" name="Text 53"/>
          <p:cNvSpPr/>
          <p:nvPr/>
        </p:nvSpPr>
        <p:spPr>
          <a:xfrm>
            <a:off x="8286245" y="5080000"/>
            <a:ext cx="1835104" cy="468809"/>
          </a:xfrm>
          <a:prstGeom prst="rect">
            <a:avLst/>
          </a:prstGeom>
          <a:noFill/>
          <a:ln/>
        </p:spPr>
        <p:txBody>
          <a:bodyPr wrap="none" lIns="0" tIns="0" rIns="0" bIns="0" rtlCol="0" anchor="t"/>
          <a:lstStyle/>
          <a:p>
            <a:pPr marL="0" indent="0" algn="l">
              <a:lnSpc>
                <a:spcPct val="118000"/>
              </a:lnSpc>
              <a:buNone/>
            </a:pPr>
            <a:r>
              <a:rPr lang="en-US" sz="2600" b="1" dirty="0">
                <a:solidFill>
                  <a:srgbClr val="C6F432"/>
                </a:solidFill>
                <a:latin typeface="Noto Sans Bold" pitchFamily="34" charset="0"/>
                <a:ea typeface="Noto Sans Bold" pitchFamily="34" charset="-122"/>
                <a:cs typeface="Noto Sans Bold" pitchFamily="34" charset="-120"/>
              </a:rPr>
              <a:t>24k</a:t>
            </a:r>
            <a:endParaRPr lang="en-US" sz="2600" dirty="0"/>
          </a:p>
        </p:txBody>
      </p:sp>
      <p:sp>
        <p:nvSpPr>
          <p:cNvPr id="56" name="Text 54"/>
          <p:cNvSpPr/>
          <p:nvPr/>
        </p:nvSpPr>
        <p:spPr>
          <a:xfrm>
            <a:off x="8286245" y="5571927"/>
            <a:ext cx="1225519" cy="414734"/>
          </a:xfrm>
          <a:prstGeom prst="rect">
            <a:avLst/>
          </a:prstGeom>
          <a:noFill/>
          <a:ln/>
        </p:spPr>
        <p:txBody>
          <a:bodyPr wrap="square" lIns="0" tIns="0" rIns="0" bIns="0" rtlCol="0" anchor="t">
            <a:normAutofit/>
          </a:bodyPr>
          <a:lstStyle/>
          <a:p>
            <a:pPr marL="0" indent="0" algn="l">
              <a:lnSpc>
                <a:spcPct val="118000"/>
              </a:lnSpc>
              <a:buNone/>
            </a:pPr>
            <a:r>
              <a:rPr lang="en-US" sz="1150" dirty="0">
                <a:solidFill>
                  <a:srgbClr val="F4F1EA"/>
                </a:solidFill>
                <a:latin typeface="Noto Sans" pitchFamily="34" charset="0"/>
                <a:ea typeface="Noto Sans" pitchFamily="34" charset="-122"/>
                <a:cs typeface="Noto Sans" pitchFamily="34" charset="-120"/>
              </a:rPr>
              <a:t>Tokens nạp đúng trọng tâm</a:t>
            </a:r>
            <a:endParaRPr lang="en-US" sz="1150" dirty="0"/>
          </a:p>
        </p:txBody>
      </p:sp>
      <p:sp>
        <p:nvSpPr>
          <p:cNvPr id="57" name="Shape 55"/>
          <p:cNvSpPr/>
          <p:nvPr/>
        </p:nvSpPr>
        <p:spPr>
          <a:xfrm>
            <a:off x="9829256" y="5029200"/>
            <a:ext cx="1600160" cy="1295400"/>
          </a:xfrm>
          <a:prstGeom prst="roundRect">
            <a:avLst>
              <a:gd name="adj" fmla="val 3176"/>
            </a:avLst>
          </a:prstGeom>
          <a:solidFill>
            <a:srgbClr val="14161A"/>
          </a:solidFill>
          <a:ln/>
        </p:spPr>
      </p:sp>
      <p:sp>
        <p:nvSpPr>
          <p:cNvPr id="58" name="Text 56"/>
          <p:cNvSpPr/>
          <p:nvPr/>
        </p:nvSpPr>
        <p:spPr>
          <a:xfrm>
            <a:off x="9988002" y="5080000"/>
            <a:ext cx="1835104" cy="468809"/>
          </a:xfrm>
          <a:prstGeom prst="rect">
            <a:avLst/>
          </a:prstGeom>
          <a:noFill/>
          <a:ln/>
        </p:spPr>
        <p:txBody>
          <a:bodyPr wrap="none" lIns="0" tIns="0" rIns="0" bIns="0" rtlCol="0" anchor="t"/>
          <a:lstStyle/>
          <a:p>
            <a:pPr marL="0" indent="0" algn="l">
              <a:lnSpc>
                <a:spcPct val="118000"/>
              </a:lnSpc>
              <a:buNone/>
            </a:pPr>
            <a:r>
              <a:rPr lang="en-US" sz="2600" b="1" dirty="0">
                <a:solidFill>
                  <a:srgbClr val="C6F432"/>
                </a:solidFill>
                <a:latin typeface="Noto Sans Bold" pitchFamily="34" charset="0"/>
                <a:ea typeface="Noto Sans Bold" pitchFamily="34" charset="-122"/>
                <a:cs typeface="Noto Sans Bold" pitchFamily="34" charset="-120"/>
              </a:rPr>
              <a:t>1×</a:t>
            </a:r>
            <a:endParaRPr lang="en-US" sz="2600" dirty="0"/>
          </a:p>
        </p:txBody>
      </p:sp>
      <p:sp>
        <p:nvSpPr>
          <p:cNvPr id="59" name="Text 57"/>
          <p:cNvSpPr/>
          <p:nvPr/>
        </p:nvSpPr>
        <p:spPr>
          <a:xfrm>
            <a:off x="9988002" y="5573117"/>
            <a:ext cx="1225519" cy="382191"/>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F4F1EA"/>
                </a:solidFill>
                <a:latin typeface="Noto Sans" pitchFamily="34" charset="0"/>
                <a:ea typeface="Noto Sans" pitchFamily="34" charset="-122"/>
                <a:cs typeface="Noto Sans" pitchFamily="34" charset="-120"/>
              </a:rPr>
              <a:t>Chi phí API (Tiết kiệm ~65% chi phí)</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E4DF"/>
        </a:solidFill>
        <a:effectLst/>
      </p:bgPr>
    </p:bg>
    <p:spTree>
      <p:nvGrpSpPr>
        <p:cNvPr id="1" name=""/>
        <p:cNvGrpSpPr/>
        <p:nvPr/>
      </p:nvGrpSpPr>
      <p:grpSpPr>
        <a:xfrm>
          <a:off x="0" y="0"/>
          <a:ext cx="0" cy="0"/>
          <a:chOff x="0" y="0"/>
          <a:chExt cx="0" cy="0"/>
        </a:xfrm>
      </p:grpSpPr>
      <p:sp>
        <p:nvSpPr>
          <p:cNvPr id="2" name="Shape 0"/>
          <p:cNvSpPr/>
          <p:nvPr/>
        </p:nvSpPr>
        <p:spPr>
          <a:xfrm>
            <a:off x="0" y="0"/>
            <a:ext cx="4190697" cy="6858000"/>
          </a:xfrm>
          <a:prstGeom prst="roundRect">
            <a:avLst>
              <a:gd name="adj" fmla="val 982"/>
            </a:avLst>
          </a:prstGeom>
          <a:solidFill>
            <a:srgbClr val="C8321A"/>
          </a:solidFill>
          <a:ln/>
        </p:spPr>
      </p:sp>
      <p:sp>
        <p:nvSpPr>
          <p:cNvPr id="3" name="Shape 1"/>
          <p:cNvSpPr/>
          <p:nvPr/>
        </p:nvSpPr>
        <p:spPr>
          <a:xfrm>
            <a:off x="4190697" y="0"/>
            <a:ext cx="152396" cy="6858000"/>
          </a:xfrm>
          <a:prstGeom prst="roundRect">
            <a:avLst>
              <a:gd name="adj" fmla="val 27000"/>
            </a:avLst>
          </a:prstGeom>
          <a:solidFill>
            <a:srgbClr val="14161A"/>
          </a:solidFill>
          <a:ln/>
        </p:spPr>
      </p:sp>
      <p:sp>
        <p:nvSpPr>
          <p:cNvPr id="4" name="Text 2"/>
          <p:cNvSpPr/>
          <p:nvPr/>
        </p:nvSpPr>
        <p:spPr>
          <a:xfrm>
            <a:off x="565136" y="609600"/>
            <a:ext cx="4359166" cy="198338"/>
          </a:xfrm>
          <a:prstGeom prst="rect">
            <a:avLst/>
          </a:prstGeom>
          <a:noFill/>
          <a:ln/>
        </p:spPr>
        <p:txBody>
          <a:bodyPr wrap="none" lIns="0" tIns="0" rIns="0" bIns="0" rtlCol="0" anchor="t"/>
          <a:lstStyle/>
          <a:p>
            <a:pPr marL="0" indent="0" algn="l">
              <a:lnSpc>
                <a:spcPct val="118000"/>
              </a:lnSpc>
              <a:buNone/>
            </a:pPr>
            <a:r>
              <a:rPr lang="en-US" sz="1100" kern="100" spc="66" dirty="0">
                <a:solidFill>
                  <a:srgbClr val="F4F1EA"/>
                </a:solidFill>
                <a:latin typeface="M PLUS 1 Code Medium" pitchFamily="34" charset="0"/>
                <a:ea typeface="M PLUS 1 Code Medium" pitchFamily="34" charset="-122"/>
                <a:cs typeface="M PLUS 1 Code Medium" pitchFamily="34" charset="-120"/>
              </a:rPr>
              <a:t>KỶ LUẬT THI CÔNG · GAUNTLET LOOP</a:t>
            </a:r>
            <a:endParaRPr lang="en-US" sz="1100" dirty="0"/>
          </a:p>
        </p:txBody>
      </p:sp>
      <p:sp>
        <p:nvSpPr>
          <p:cNvPr id="5" name="Text 3"/>
          <p:cNvSpPr/>
          <p:nvPr/>
        </p:nvSpPr>
        <p:spPr>
          <a:xfrm>
            <a:off x="565136" y="1143000"/>
            <a:ext cx="3993852" cy="2705100"/>
          </a:xfrm>
          <a:prstGeom prst="rect">
            <a:avLst/>
          </a:prstGeom>
          <a:noFill/>
          <a:ln/>
        </p:spPr>
        <p:txBody>
          <a:bodyPr wrap="none" lIns="0" tIns="0" rIns="0" bIns="0" rtlCol="0" anchor="t"/>
          <a:lstStyle/>
          <a:p>
            <a:pPr marL="0" indent="0" algn="l">
              <a:lnSpc>
                <a:spcPct val="118000"/>
              </a:lnSpc>
              <a:buNone/>
            </a:pPr>
            <a:r>
              <a:rPr lang="en-US" sz="15000" dirty="0">
                <a:solidFill>
                  <a:srgbClr val="FFFFFF"/>
                </a:solidFill>
                <a:latin typeface="Noto Sans" pitchFamily="34" charset="0"/>
                <a:ea typeface="Noto Sans" pitchFamily="34" charset="-122"/>
                <a:cs typeface="Noto Sans" pitchFamily="34" charset="-120"/>
              </a:rPr>
              <a:t>03</a:t>
            </a:r>
            <a:endParaRPr lang="en-US" sz="15000" dirty="0"/>
          </a:p>
        </p:txBody>
      </p:sp>
      <p:sp>
        <p:nvSpPr>
          <p:cNvPr id="6" name="Text 4"/>
          <p:cNvSpPr/>
          <p:nvPr/>
        </p:nvSpPr>
        <p:spPr>
          <a:xfrm>
            <a:off x="565136" y="3627834"/>
            <a:ext cx="3003276" cy="1141214"/>
          </a:xfrm>
          <a:prstGeom prst="rect">
            <a:avLst/>
          </a:prstGeom>
          <a:noFill/>
          <a:ln/>
        </p:spPr>
        <p:txBody>
          <a:bodyPr wrap="square" lIns="0" tIns="0" rIns="0" bIns="0" rtlCol="0" anchor="t">
            <a:normAutofit/>
          </a:bodyPr>
          <a:lstStyle/>
          <a:p>
            <a:pPr marL="0" indent="0" algn="l">
              <a:lnSpc>
                <a:spcPct val="89000"/>
              </a:lnSpc>
              <a:buNone/>
            </a:pPr>
            <a:r>
              <a:rPr lang="en-US" sz="2800" dirty="0">
                <a:solidFill>
                  <a:srgbClr val="F4F1EA"/>
                </a:solidFill>
                <a:latin typeface="Noto Sans" pitchFamily="34" charset="0"/>
                <a:ea typeface="Noto Sans" pitchFamily="34" charset="-122"/>
                <a:cs typeface="Noto Sans" pitchFamily="34" charset="-120"/>
              </a:rPr>
              <a:t>Quy tắc 3: Vượt kiểm tra rồi mới merge</a:t>
            </a:r>
            <a:endParaRPr lang="en-US" sz="2800" dirty="0"/>
          </a:p>
        </p:txBody>
      </p:sp>
      <p:sp>
        <p:nvSpPr>
          <p:cNvPr id="8" name="Shape 6"/>
          <p:cNvSpPr/>
          <p:nvPr/>
        </p:nvSpPr>
        <p:spPr>
          <a:xfrm>
            <a:off x="4825681" y="381000"/>
            <a:ext cx="6857630" cy="965200"/>
          </a:xfrm>
          <a:prstGeom prst="roundRect">
            <a:avLst>
              <a:gd name="adj" fmla="val 4263"/>
            </a:avLst>
          </a:prstGeom>
          <a:solidFill>
            <a:srgbClr val="CFCABD"/>
          </a:solidFill>
          <a:ln/>
        </p:spPr>
      </p:sp>
      <p:sp>
        <p:nvSpPr>
          <p:cNvPr id="9" name="Shape 7"/>
          <p:cNvSpPr/>
          <p:nvPr/>
        </p:nvSpPr>
        <p:spPr>
          <a:xfrm>
            <a:off x="4838381" y="393700"/>
            <a:ext cx="6832231" cy="939800"/>
          </a:xfrm>
          <a:prstGeom prst="roundRect">
            <a:avLst>
              <a:gd name="adj" fmla="val 4378"/>
            </a:avLst>
          </a:prstGeom>
          <a:solidFill>
            <a:srgbClr val="F7F5EF"/>
          </a:solidFill>
          <a:ln/>
        </p:spPr>
      </p:sp>
      <p:sp>
        <p:nvSpPr>
          <p:cNvPr id="10" name="Text 8"/>
          <p:cNvSpPr/>
          <p:nvPr/>
        </p:nvSpPr>
        <p:spPr>
          <a:xfrm>
            <a:off x="5060625" y="457200"/>
            <a:ext cx="6914779" cy="217388"/>
          </a:xfrm>
          <a:prstGeom prst="rect">
            <a:avLst/>
          </a:prstGeom>
          <a:noFill/>
          <a:ln/>
        </p:spPr>
        <p:txBody>
          <a:bodyPr wrap="none" lIns="0" tIns="0" rIns="0" bIns="0" rtlCol="0" anchor="t"/>
          <a:lstStyle/>
          <a:p>
            <a:pPr marL="0" indent="0" algn="l">
              <a:lnSpc>
                <a:spcPct val="89000"/>
              </a:lnSpc>
              <a:buNone/>
            </a:pPr>
            <a:r>
              <a:rPr lang="en-US" sz="1600" b="1" dirty="0">
                <a:latin typeface="Noto Sans Bold" pitchFamily="34" charset="0"/>
                <a:ea typeface="Noto Sans Bold" pitchFamily="34" charset="-122"/>
                <a:cs typeface="Noto Sans Bold" pitchFamily="34" charset="-120"/>
              </a:rPr>
              <a:t>01. WORKER NỘP CODE DIFF</a:t>
            </a:r>
            <a:endParaRPr lang="en-US" sz="1600" dirty="0"/>
          </a:p>
        </p:txBody>
      </p:sp>
      <p:sp>
        <p:nvSpPr>
          <p:cNvPr id="11" name="Text 9"/>
          <p:cNvSpPr/>
          <p:nvPr/>
        </p:nvSpPr>
        <p:spPr>
          <a:xfrm>
            <a:off x="5060625" y="787400"/>
            <a:ext cx="7131070" cy="216396"/>
          </a:xfrm>
          <a:prstGeom prst="rect">
            <a:avLst/>
          </a:prstGeom>
          <a:noFill/>
          <a:ln/>
        </p:spPr>
        <p:txBody>
          <a:bodyPr wrap="none" lIns="0" tIns="0" rIns="0" bIns="0" rtlCol="0" anchor="t"/>
          <a:lstStyle/>
          <a:p>
            <a:pPr marL="0" indent="0" algn="l">
              <a:lnSpc>
                <a:spcPct val="118000"/>
              </a:lnSpc>
              <a:buNone/>
            </a:pPr>
            <a:r>
              <a:rPr lang="en-US" sz="1200" dirty="0">
                <a:solidFill>
                  <a:srgbClr val="2B2D31"/>
                </a:solidFill>
                <a:latin typeface="Noto Sans" pitchFamily="34" charset="0"/>
                <a:ea typeface="Noto Sans" pitchFamily="34" charset="-122"/>
                <a:cs typeface="Noto Sans" pitchFamily="34" charset="-120"/>
              </a:rPr>
              <a:t>Agent hoàn thành code, đính kèm Isolated Test Scene và nộp bản diff đề xuất.</a:t>
            </a:r>
            <a:endParaRPr lang="en-US" sz="1200" dirty="0"/>
          </a:p>
        </p:txBody>
      </p:sp>
      <p:sp>
        <p:nvSpPr>
          <p:cNvPr id="12" name="Text 10"/>
          <p:cNvSpPr/>
          <p:nvPr/>
        </p:nvSpPr>
        <p:spPr>
          <a:xfrm>
            <a:off x="8161405" y="1162546"/>
            <a:ext cx="103633" cy="216396"/>
          </a:xfrm>
          <a:prstGeom prst="rect">
            <a:avLst/>
          </a:prstGeom>
          <a:noFill/>
          <a:ln/>
        </p:spPr>
        <p:txBody>
          <a:bodyPr wrap="none" lIns="0" tIns="0" rIns="0" bIns="0" rtlCol="0" anchor="t"/>
          <a:lstStyle/>
          <a:p>
            <a:pPr marL="0" indent="0" algn="l">
              <a:lnSpc>
                <a:spcPct val="118000"/>
              </a:lnSpc>
              <a:buNone/>
            </a:pPr>
            <a:r>
              <a:rPr lang="en-US" sz="2800" b="1" dirty="0">
                <a:solidFill>
                  <a:srgbClr val="A32615"/>
                </a:solidFill>
                <a:latin typeface="Noto Sans" pitchFamily="34" charset="0"/>
                <a:ea typeface="Noto Sans" pitchFamily="34" charset="-122"/>
                <a:cs typeface="Noto Sans" pitchFamily="34" charset="-120"/>
              </a:rPr>
              <a:t>↓</a:t>
            </a:r>
            <a:endParaRPr lang="en-US" sz="2800" b="1" dirty="0"/>
          </a:p>
        </p:txBody>
      </p:sp>
      <p:sp>
        <p:nvSpPr>
          <p:cNvPr id="13" name="Shape 11"/>
          <p:cNvSpPr/>
          <p:nvPr/>
        </p:nvSpPr>
        <p:spPr>
          <a:xfrm>
            <a:off x="4825681" y="1549400"/>
            <a:ext cx="6857630" cy="2794000"/>
          </a:xfrm>
          <a:prstGeom prst="roundRect">
            <a:avLst>
              <a:gd name="adj" fmla="val 1473"/>
            </a:avLst>
          </a:prstGeom>
          <a:solidFill>
            <a:srgbClr val="CFCABD"/>
          </a:solidFill>
          <a:ln/>
        </p:spPr>
      </p:sp>
      <p:sp>
        <p:nvSpPr>
          <p:cNvPr id="14" name="Shape 12"/>
          <p:cNvSpPr/>
          <p:nvPr/>
        </p:nvSpPr>
        <p:spPr>
          <a:xfrm>
            <a:off x="4838381" y="1562100"/>
            <a:ext cx="6832231" cy="2768600"/>
          </a:xfrm>
          <a:prstGeom prst="roundRect">
            <a:avLst>
              <a:gd name="adj" fmla="val 1486"/>
            </a:avLst>
          </a:prstGeom>
          <a:solidFill>
            <a:srgbClr val="F7F5EF"/>
          </a:solidFill>
          <a:ln/>
        </p:spPr>
      </p:sp>
      <p:sp>
        <p:nvSpPr>
          <p:cNvPr id="15" name="Text 13"/>
          <p:cNvSpPr/>
          <p:nvPr/>
        </p:nvSpPr>
        <p:spPr>
          <a:xfrm>
            <a:off x="5060625" y="1625600"/>
            <a:ext cx="6914779" cy="217388"/>
          </a:xfrm>
          <a:prstGeom prst="rect">
            <a:avLst/>
          </a:prstGeom>
          <a:noFill/>
          <a:ln/>
        </p:spPr>
        <p:txBody>
          <a:bodyPr wrap="none" lIns="0" tIns="0" rIns="0" bIns="0" rtlCol="0" anchor="t"/>
          <a:lstStyle/>
          <a:p>
            <a:pPr marL="0" indent="0" algn="l">
              <a:lnSpc>
                <a:spcPct val="89000"/>
              </a:lnSpc>
              <a:buNone/>
            </a:pPr>
            <a:r>
              <a:rPr lang="en-US" sz="1600" b="1" dirty="0">
                <a:latin typeface="Noto Sans Bold" pitchFamily="34" charset="0"/>
                <a:ea typeface="Noto Sans Bold" pitchFamily="34" charset="-122"/>
                <a:cs typeface="Noto Sans Bold" pitchFamily="34" charset="-120"/>
              </a:rPr>
              <a:t>02. HAI NHÁNH KIỂM ĐỊNH TỰ ĐỘNG</a:t>
            </a:r>
            <a:endParaRPr lang="en-US" sz="1600" dirty="0"/>
          </a:p>
        </p:txBody>
      </p:sp>
      <p:sp>
        <p:nvSpPr>
          <p:cNvPr id="16" name="Shape 14"/>
          <p:cNvSpPr/>
          <p:nvPr/>
        </p:nvSpPr>
        <p:spPr>
          <a:xfrm>
            <a:off x="5003476" y="2006600"/>
            <a:ext cx="3200122" cy="1778000"/>
          </a:xfrm>
          <a:prstGeom prst="roundRect">
            <a:avLst>
              <a:gd name="adj" fmla="val 2314"/>
            </a:avLst>
          </a:prstGeom>
          <a:solidFill>
            <a:srgbClr val="CFCABD"/>
          </a:solidFill>
          <a:ln/>
        </p:spPr>
      </p:sp>
      <p:sp>
        <p:nvSpPr>
          <p:cNvPr id="17" name="Shape 15"/>
          <p:cNvSpPr/>
          <p:nvPr/>
        </p:nvSpPr>
        <p:spPr>
          <a:xfrm>
            <a:off x="5016176" y="2019300"/>
            <a:ext cx="3174722" cy="1752600"/>
          </a:xfrm>
          <a:prstGeom prst="roundRect">
            <a:avLst>
              <a:gd name="adj" fmla="val 2348"/>
            </a:avLst>
          </a:prstGeom>
          <a:solidFill>
            <a:srgbClr val="FFFFFF"/>
          </a:solidFill>
          <a:ln/>
        </p:spPr>
      </p:sp>
      <p:sp>
        <p:nvSpPr>
          <p:cNvPr id="18" name="Text 16"/>
          <p:cNvSpPr/>
          <p:nvPr/>
        </p:nvSpPr>
        <p:spPr>
          <a:xfrm>
            <a:off x="5213021" y="2082800"/>
            <a:ext cx="3333468" cy="190202"/>
          </a:xfrm>
          <a:prstGeom prst="rect">
            <a:avLst/>
          </a:prstGeom>
          <a:noFill/>
          <a:ln/>
        </p:spPr>
        <p:txBody>
          <a:bodyPr wrap="none" lIns="0" tIns="0" rIns="0" bIns="0" rtlCol="0" anchor="t"/>
          <a:lstStyle/>
          <a:p>
            <a:pPr marL="0" indent="0" algn="l">
              <a:lnSpc>
                <a:spcPct val="89000"/>
              </a:lnSpc>
              <a:buNone/>
            </a:pPr>
            <a:r>
              <a:rPr lang="en-US" sz="1400" b="1" dirty="0">
                <a:solidFill>
                  <a:srgbClr val="A32615"/>
                </a:solidFill>
                <a:latin typeface="Noto Sans Bold" pitchFamily="34" charset="0"/>
                <a:ea typeface="Noto Sans Bold" pitchFamily="34" charset="-122"/>
                <a:cs typeface="Noto Sans Bold" pitchFamily="34" charset="-120"/>
              </a:rPr>
              <a:t>A · Measure (Đo đạc)</a:t>
            </a:r>
            <a:endParaRPr lang="en-US" sz="1400" dirty="0"/>
          </a:p>
        </p:txBody>
      </p:sp>
      <p:sp>
        <p:nvSpPr>
          <p:cNvPr id="19" name="Text 17"/>
          <p:cNvSpPr/>
          <p:nvPr/>
        </p:nvSpPr>
        <p:spPr>
          <a:xfrm>
            <a:off x="5213021" y="2396232"/>
            <a:ext cx="1833955" cy="1135360"/>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2B2D31"/>
                </a:solidFill>
                <a:latin typeface="Noto Sans" pitchFamily="34" charset="0"/>
                <a:ea typeface="Noto Sans" pitchFamily="34" charset="-122"/>
                <a:cs typeface="Noto Sans" pitchFamily="34" charset="-120"/>
              </a:rPr>
              <a:t>Script Headless CLI tự động kiểm tra định </a:t>
            </a:r>
            <a:r>
              <a:rPr lang="en-US" sz="1200" dirty="0" err="1">
                <a:solidFill>
                  <a:srgbClr val="2B2D31"/>
                </a:solidFill>
                <a:latin typeface="Noto Sans" pitchFamily="34" charset="0"/>
                <a:ea typeface="Noto Sans" pitchFamily="34" charset="-122"/>
                <a:cs typeface="Noto Sans" pitchFamily="34" charset="-120"/>
              </a:rPr>
              <a:t>lượng</a:t>
            </a:r>
            <a:r>
              <a:rPr lang="en-US" sz="1200" dirty="0">
                <a:solidFill>
                  <a:srgbClr val="2B2D31"/>
                </a:solidFill>
                <a:latin typeface="Noto Sans" pitchFamily="34" charset="0"/>
                <a:ea typeface="Noto Sans" pitchFamily="34" charset="-122"/>
                <a:cs typeface="Noto Sans" pitchFamily="34" charset="-120"/>
              </a:rPr>
              <a:t> </a:t>
            </a:r>
            <a:br>
              <a:rPr lang="vi-VN" sz="1200" dirty="0">
                <a:solidFill>
                  <a:srgbClr val="2B2D31"/>
                </a:solidFill>
                <a:latin typeface="Noto Sans" pitchFamily="34" charset="0"/>
                <a:ea typeface="Noto Sans" pitchFamily="34" charset="-122"/>
                <a:cs typeface="Noto Sans" pitchFamily="34" charset="-120"/>
              </a:rPr>
            </a:br>
            <a:r>
              <a:rPr lang="en-US" sz="1200" dirty="0">
                <a:solidFill>
                  <a:srgbClr val="2B2D31"/>
                </a:solidFill>
                <a:latin typeface="Noto Sans" pitchFamily="34" charset="0"/>
                <a:ea typeface="Noto Sans" pitchFamily="34" charset="-122"/>
                <a:cs typeface="Noto Sans" pitchFamily="34" charset="-120"/>
              </a:rPr>
              <a:t>(DPS, Cooldown 0.8s, Giới hạn HP).</a:t>
            </a:r>
            <a:endParaRPr lang="en-US" sz="1200" dirty="0"/>
          </a:p>
        </p:txBody>
      </p:sp>
      <p:sp>
        <p:nvSpPr>
          <p:cNvPr id="20" name="Shape 18"/>
          <p:cNvSpPr/>
          <p:nvPr/>
        </p:nvSpPr>
        <p:spPr>
          <a:xfrm>
            <a:off x="8305295" y="2006600"/>
            <a:ext cx="3200122" cy="1778000"/>
          </a:xfrm>
          <a:prstGeom prst="roundRect">
            <a:avLst>
              <a:gd name="adj" fmla="val 2314"/>
            </a:avLst>
          </a:prstGeom>
          <a:solidFill>
            <a:srgbClr val="CFCABD"/>
          </a:solidFill>
          <a:ln/>
        </p:spPr>
      </p:sp>
      <p:sp>
        <p:nvSpPr>
          <p:cNvPr id="21" name="Shape 19"/>
          <p:cNvSpPr/>
          <p:nvPr/>
        </p:nvSpPr>
        <p:spPr>
          <a:xfrm>
            <a:off x="8317994" y="2019300"/>
            <a:ext cx="3174722" cy="1752600"/>
          </a:xfrm>
          <a:prstGeom prst="roundRect">
            <a:avLst>
              <a:gd name="adj" fmla="val 2348"/>
            </a:avLst>
          </a:prstGeom>
          <a:solidFill>
            <a:srgbClr val="FFFFFF"/>
          </a:solidFill>
          <a:ln/>
        </p:spPr>
      </p:sp>
      <p:sp>
        <p:nvSpPr>
          <p:cNvPr id="22" name="Text 20"/>
          <p:cNvSpPr/>
          <p:nvPr/>
        </p:nvSpPr>
        <p:spPr>
          <a:xfrm>
            <a:off x="8514839" y="2082800"/>
            <a:ext cx="3333468" cy="190202"/>
          </a:xfrm>
          <a:prstGeom prst="rect">
            <a:avLst/>
          </a:prstGeom>
          <a:noFill/>
          <a:ln/>
        </p:spPr>
        <p:txBody>
          <a:bodyPr wrap="none" lIns="0" tIns="0" rIns="0" bIns="0" rtlCol="0" anchor="t"/>
          <a:lstStyle/>
          <a:p>
            <a:pPr marL="0" indent="0" algn="l">
              <a:lnSpc>
                <a:spcPct val="89000"/>
              </a:lnSpc>
              <a:buNone/>
            </a:pPr>
            <a:r>
              <a:rPr lang="en-US" sz="1400" b="1" dirty="0">
                <a:solidFill>
                  <a:srgbClr val="A32615"/>
                </a:solidFill>
                <a:latin typeface="Noto Sans Bold" pitchFamily="34" charset="0"/>
                <a:ea typeface="Noto Sans Bold" pitchFamily="34" charset="-122"/>
                <a:cs typeface="Noto Sans Bold" pitchFamily="34" charset="-120"/>
              </a:rPr>
              <a:t>B · Critic (Phản biện)</a:t>
            </a:r>
            <a:endParaRPr lang="en-US" sz="1400" dirty="0"/>
          </a:p>
        </p:txBody>
      </p:sp>
      <p:sp>
        <p:nvSpPr>
          <p:cNvPr id="23" name="Text 21"/>
          <p:cNvSpPr/>
          <p:nvPr/>
        </p:nvSpPr>
        <p:spPr>
          <a:xfrm>
            <a:off x="8514839" y="2396232"/>
            <a:ext cx="1488697" cy="1032768"/>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2B2D31"/>
                </a:solidFill>
                <a:latin typeface="Noto Sans" pitchFamily="34" charset="0"/>
                <a:ea typeface="Noto Sans" pitchFamily="34" charset="-122"/>
                <a:cs typeface="Noto Sans" pitchFamily="34" charset="-120"/>
              </a:rPr>
              <a:t>Agent độc lập rà soát kiến trúc, convention và nguy cơ breaking change.</a:t>
            </a:r>
            <a:endParaRPr lang="en-US" sz="1200" dirty="0"/>
          </a:p>
        </p:txBody>
      </p:sp>
      <p:sp>
        <p:nvSpPr>
          <p:cNvPr id="24" name="Text 22"/>
          <p:cNvSpPr/>
          <p:nvPr/>
        </p:nvSpPr>
        <p:spPr>
          <a:xfrm>
            <a:off x="5060625" y="3860800"/>
            <a:ext cx="7131070" cy="216396"/>
          </a:xfrm>
          <a:prstGeom prst="rect">
            <a:avLst/>
          </a:prstGeom>
          <a:noFill/>
          <a:ln/>
        </p:spPr>
        <p:txBody>
          <a:bodyPr wrap="none" lIns="0" tIns="0" rIns="0" bIns="0" rtlCol="0" anchor="t"/>
          <a:lstStyle/>
          <a:p>
            <a:pPr marL="0" indent="0" algn="l">
              <a:lnSpc>
                <a:spcPct val="118000"/>
              </a:lnSpc>
              <a:buNone/>
            </a:pPr>
            <a:r>
              <a:rPr lang="en-US" sz="1200" b="1" dirty="0">
                <a:latin typeface="Noto Sans Bold" pitchFamily="34" charset="0"/>
                <a:ea typeface="Noto Sans Bold" pitchFamily="34" charset="-122"/>
                <a:cs typeface="Noto Sans Bold" pitchFamily="34" charset="-120"/>
              </a:rPr>
              <a:t>↺ Bất kỳ nhánh nào FAIL ➔ Tự động đẩy ngược về Worker làm lại từ đầu.</a:t>
            </a:r>
            <a:endParaRPr lang="en-US" sz="1200" dirty="0"/>
          </a:p>
        </p:txBody>
      </p:sp>
      <p:sp>
        <p:nvSpPr>
          <p:cNvPr id="26" name="Shape 24"/>
          <p:cNvSpPr/>
          <p:nvPr/>
        </p:nvSpPr>
        <p:spPr>
          <a:xfrm>
            <a:off x="4825681" y="4546600"/>
            <a:ext cx="6857630" cy="965200"/>
          </a:xfrm>
          <a:prstGeom prst="roundRect">
            <a:avLst>
              <a:gd name="adj" fmla="val 4263"/>
            </a:avLst>
          </a:prstGeom>
          <a:solidFill>
            <a:srgbClr val="CFCABD"/>
          </a:solidFill>
          <a:ln/>
        </p:spPr>
      </p:sp>
      <p:sp>
        <p:nvSpPr>
          <p:cNvPr id="27" name="Shape 25"/>
          <p:cNvSpPr/>
          <p:nvPr/>
        </p:nvSpPr>
        <p:spPr>
          <a:xfrm>
            <a:off x="4838381" y="4559300"/>
            <a:ext cx="6832231" cy="939800"/>
          </a:xfrm>
          <a:prstGeom prst="roundRect">
            <a:avLst>
              <a:gd name="adj" fmla="val 4378"/>
            </a:avLst>
          </a:prstGeom>
          <a:solidFill>
            <a:srgbClr val="F7F5EF"/>
          </a:solidFill>
          <a:ln/>
        </p:spPr>
      </p:sp>
      <p:sp>
        <p:nvSpPr>
          <p:cNvPr id="28" name="Text 26"/>
          <p:cNvSpPr/>
          <p:nvPr/>
        </p:nvSpPr>
        <p:spPr>
          <a:xfrm>
            <a:off x="5060625" y="4622800"/>
            <a:ext cx="6914779" cy="217388"/>
          </a:xfrm>
          <a:prstGeom prst="rect">
            <a:avLst/>
          </a:prstGeom>
          <a:noFill/>
          <a:ln/>
        </p:spPr>
        <p:txBody>
          <a:bodyPr wrap="none" lIns="0" tIns="0" rIns="0" bIns="0" rtlCol="0" anchor="t"/>
          <a:lstStyle/>
          <a:p>
            <a:pPr marL="0" indent="0" algn="l">
              <a:lnSpc>
                <a:spcPct val="89000"/>
              </a:lnSpc>
              <a:buNone/>
            </a:pPr>
            <a:r>
              <a:rPr lang="en-US" sz="1600" b="1" dirty="0">
                <a:latin typeface="Noto Sans Bold" pitchFamily="34" charset="0"/>
                <a:ea typeface="Noto Sans Bold" pitchFamily="34" charset="-122"/>
                <a:cs typeface="Noto Sans Bold" pitchFamily="34" charset="-120"/>
              </a:rPr>
              <a:t>03. CON NGƯỜI PLAYTEST &amp; MERGE</a:t>
            </a:r>
            <a:endParaRPr lang="en-US" sz="1600" dirty="0"/>
          </a:p>
        </p:txBody>
      </p:sp>
      <p:sp>
        <p:nvSpPr>
          <p:cNvPr id="29" name="Text 27"/>
          <p:cNvSpPr/>
          <p:nvPr/>
        </p:nvSpPr>
        <p:spPr>
          <a:xfrm>
            <a:off x="5060625" y="4936232"/>
            <a:ext cx="6305194" cy="432792"/>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2B2D31"/>
                </a:solidFill>
                <a:latin typeface="Noto Sans" pitchFamily="34" charset="0"/>
                <a:ea typeface="Noto Sans" pitchFamily="34" charset="-122"/>
                <a:cs typeface="Noto Sans" pitchFamily="34" charset="-120"/>
              </a:rPr>
              <a:t>Trực tiếp cầm bàn phím trải nghiệm Game Feel thực tế. Chỉ khi đạt mới Git Merge vào Main.</a:t>
            </a:r>
            <a:endParaRPr lang="en-US" sz="1200" dirty="0"/>
          </a:p>
        </p:txBody>
      </p:sp>
      <p:sp>
        <p:nvSpPr>
          <p:cNvPr id="30" name="Shape 28"/>
          <p:cNvSpPr/>
          <p:nvPr/>
        </p:nvSpPr>
        <p:spPr>
          <a:xfrm>
            <a:off x="4825681" y="5689600"/>
            <a:ext cx="6857630" cy="812800"/>
          </a:xfrm>
          <a:prstGeom prst="roundRect">
            <a:avLst>
              <a:gd name="adj" fmla="val 5062"/>
            </a:avLst>
          </a:prstGeom>
          <a:solidFill>
            <a:srgbClr val="CFCABD"/>
          </a:solidFill>
          <a:ln/>
        </p:spPr>
      </p:sp>
      <p:sp>
        <p:nvSpPr>
          <p:cNvPr id="31" name="Shape 29"/>
          <p:cNvSpPr/>
          <p:nvPr/>
        </p:nvSpPr>
        <p:spPr>
          <a:xfrm>
            <a:off x="4838381" y="5702300"/>
            <a:ext cx="6832231" cy="787400"/>
          </a:xfrm>
          <a:prstGeom prst="roundRect">
            <a:avLst>
              <a:gd name="adj" fmla="val 5226"/>
            </a:avLst>
          </a:prstGeom>
          <a:solidFill>
            <a:srgbClr val="EFEDE6"/>
          </a:solidFill>
          <a:ln/>
        </p:spPr>
      </p:sp>
      <p:sp>
        <p:nvSpPr>
          <p:cNvPr id="32" name="Shape 30"/>
          <p:cNvSpPr/>
          <p:nvPr/>
        </p:nvSpPr>
        <p:spPr>
          <a:xfrm>
            <a:off x="4825681" y="5689600"/>
            <a:ext cx="63498" cy="812800"/>
          </a:xfrm>
          <a:prstGeom prst="roundRect">
            <a:avLst>
              <a:gd name="adj" fmla="val 50000"/>
            </a:avLst>
          </a:prstGeom>
          <a:solidFill>
            <a:srgbClr val="C8321A"/>
          </a:solidFill>
          <a:ln/>
        </p:spPr>
      </p:sp>
      <p:sp>
        <p:nvSpPr>
          <p:cNvPr id="33" name="Text 31"/>
          <p:cNvSpPr/>
          <p:nvPr/>
        </p:nvSpPr>
        <p:spPr>
          <a:xfrm>
            <a:off x="5111424" y="5842595"/>
            <a:ext cx="6362342" cy="504825"/>
          </a:xfrm>
          <a:prstGeom prst="rect">
            <a:avLst/>
          </a:prstGeom>
          <a:noFill/>
          <a:ln/>
        </p:spPr>
        <p:txBody>
          <a:bodyPr wrap="square" lIns="0" tIns="0" rIns="0" bIns="0" rtlCol="0" anchor="t">
            <a:normAutofit/>
          </a:bodyPr>
          <a:lstStyle/>
          <a:p>
            <a:pPr marL="0" indent="0" algn="l">
              <a:lnSpc>
                <a:spcPct val="118000"/>
              </a:lnSpc>
              <a:buNone/>
            </a:pPr>
            <a:r>
              <a:rPr lang="en-US" sz="1400" i="1" dirty="0">
                <a:solidFill>
                  <a:srgbClr val="14161A"/>
                </a:solidFill>
                <a:latin typeface="Noto Sans" pitchFamily="34" charset="0"/>
                <a:ea typeface="Noto Sans" pitchFamily="34" charset="-122"/>
                <a:cs typeface="Noto Sans" pitchFamily="34" charset="-120"/>
              </a:rPr>
              <a:t>“Hai Agent đồng thuận chỉ là điều kiện </a:t>
            </a:r>
            <a:r>
              <a:rPr lang="en-US" sz="1400" i="1" dirty="0" err="1">
                <a:solidFill>
                  <a:srgbClr val="14161A"/>
                </a:solidFill>
                <a:latin typeface="Noto Sans" pitchFamily="34" charset="0"/>
                <a:ea typeface="Noto Sans" pitchFamily="34" charset="-122"/>
                <a:cs typeface="Noto Sans" pitchFamily="34" charset="-120"/>
              </a:rPr>
              <a:t>cần</a:t>
            </a:r>
            <a:r>
              <a:rPr lang="en-US" sz="1400" i="1" dirty="0">
                <a:solidFill>
                  <a:srgbClr val="14161A"/>
                </a:solidFill>
                <a:latin typeface="Noto Sans" pitchFamily="34" charset="0"/>
                <a:ea typeface="Noto Sans" pitchFamily="34" charset="-122"/>
                <a:cs typeface="Noto Sans" pitchFamily="34" charset="-120"/>
              </a:rPr>
              <a:t> </a:t>
            </a:r>
            <a:br>
              <a:rPr lang="vi-VN" sz="1400" i="1" dirty="0">
                <a:solidFill>
                  <a:srgbClr val="14161A"/>
                </a:solidFill>
                <a:latin typeface="Noto Sans" pitchFamily="34" charset="0"/>
                <a:ea typeface="Noto Sans" pitchFamily="34" charset="-122"/>
                <a:cs typeface="Noto Sans" pitchFamily="34" charset="-120"/>
              </a:rPr>
            </a:br>
            <a:r>
              <a:rPr lang="en-US" sz="1400" i="1" dirty="0">
                <a:solidFill>
                  <a:srgbClr val="14161A"/>
                </a:solidFill>
                <a:latin typeface="Noto Sans" pitchFamily="34" charset="0"/>
                <a:ea typeface="Noto Sans" pitchFamily="34" charset="-122"/>
                <a:cs typeface="Noto Sans" pitchFamily="34" charset="-120"/>
              </a:rPr>
              <a:t>— Sự nghiệm thu của Con Người mới là điều kiện đủ.”</a:t>
            </a:r>
            <a:endParaRPr lang="en-US" sz="1400" i="1" dirty="0"/>
          </a:p>
        </p:txBody>
      </p:sp>
      <p:sp>
        <p:nvSpPr>
          <p:cNvPr id="34" name="Text 10">
            <a:extLst>
              <a:ext uri="{FF2B5EF4-FFF2-40B4-BE49-F238E27FC236}">
                <a16:creationId xmlns:a16="http://schemas.microsoft.com/office/drawing/2014/main" id="{B2B17EA9-4732-FBF9-961D-A99A6B363AEB}"/>
              </a:ext>
            </a:extLst>
          </p:cNvPr>
          <p:cNvSpPr/>
          <p:nvPr/>
        </p:nvSpPr>
        <p:spPr>
          <a:xfrm>
            <a:off x="8178555" y="4149356"/>
            <a:ext cx="103633" cy="216396"/>
          </a:xfrm>
          <a:prstGeom prst="rect">
            <a:avLst/>
          </a:prstGeom>
          <a:noFill/>
          <a:ln/>
        </p:spPr>
        <p:txBody>
          <a:bodyPr wrap="none" lIns="0" tIns="0" rIns="0" bIns="0" rtlCol="0" anchor="t"/>
          <a:lstStyle/>
          <a:p>
            <a:pPr marL="0" indent="0" algn="l">
              <a:lnSpc>
                <a:spcPct val="118000"/>
              </a:lnSpc>
              <a:buNone/>
            </a:pPr>
            <a:r>
              <a:rPr lang="en-US" sz="2800" b="1" dirty="0">
                <a:solidFill>
                  <a:srgbClr val="A32615"/>
                </a:solidFill>
                <a:latin typeface="Noto Sans" pitchFamily="34" charset="0"/>
                <a:ea typeface="Noto Sans" pitchFamily="34" charset="-122"/>
                <a:cs typeface="Noto Sans" pitchFamily="34" charset="-120"/>
              </a:rPr>
              <a:t>↓</a:t>
            </a:r>
            <a:endParaRPr lang="en-US" sz="2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E4DF"/>
        </a:solidFill>
        <a:effectLst/>
      </p:bgPr>
    </p:bg>
    <p:spTree>
      <p:nvGrpSpPr>
        <p:cNvPr id="1" name=""/>
        <p:cNvGrpSpPr/>
        <p:nvPr/>
      </p:nvGrpSpPr>
      <p:grpSpPr>
        <a:xfrm>
          <a:off x="0" y="0"/>
          <a:ext cx="0" cy="0"/>
          <a:chOff x="0" y="0"/>
          <a:chExt cx="0" cy="0"/>
        </a:xfrm>
      </p:grpSpPr>
      <p:sp>
        <p:nvSpPr>
          <p:cNvPr id="2" name="Shape 0"/>
          <p:cNvSpPr/>
          <p:nvPr/>
        </p:nvSpPr>
        <p:spPr>
          <a:xfrm>
            <a:off x="0" y="0"/>
            <a:ext cx="12191397" cy="2159000"/>
          </a:xfrm>
          <a:prstGeom prst="roundRect">
            <a:avLst>
              <a:gd name="adj" fmla="val 1906"/>
            </a:avLst>
          </a:prstGeom>
          <a:solidFill>
            <a:srgbClr val="C8321A"/>
          </a:solidFill>
          <a:ln/>
        </p:spPr>
      </p:sp>
      <p:sp>
        <p:nvSpPr>
          <p:cNvPr id="3" name="Shape 1"/>
          <p:cNvSpPr/>
          <p:nvPr/>
        </p:nvSpPr>
        <p:spPr>
          <a:xfrm>
            <a:off x="609585" y="457200"/>
            <a:ext cx="9905455" cy="198338"/>
          </a:xfrm>
          <a:prstGeom prst="roundRect">
            <a:avLst>
              <a:gd name="adj" fmla="val 20746"/>
            </a:avLst>
          </a:prstGeom>
          <a:solidFill>
            <a:srgbClr val="C8321A"/>
          </a:solidFill>
          <a:ln/>
        </p:spPr>
      </p:sp>
      <p:sp>
        <p:nvSpPr>
          <p:cNvPr id="4" name="Text 2"/>
          <p:cNvSpPr/>
          <p:nvPr/>
        </p:nvSpPr>
        <p:spPr>
          <a:xfrm>
            <a:off x="666733" y="457200"/>
            <a:ext cx="10953178" cy="198338"/>
          </a:xfrm>
          <a:prstGeom prst="rect">
            <a:avLst/>
          </a:prstGeom>
          <a:noFill/>
          <a:ln/>
        </p:spPr>
        <p:txBody>
          <a:bodyPr wrap="none" lIns="0" tIns="0" rIns="0" bIns="0" rtlCol="0" anchor="t"/>
          <a:lstStyle/>
          <a:p>
            <a:pPr marL="0" indent="0" algn="l">
              <a:lnSpc>
                <a:spcPct val="118000"/>
              </a:lnSpc>
              <a:buNone/>
            </a:pPr>
            <a:r>
              <a:rPr lang="en-US" sz="1100" kern="100" spc="66" dirty="0">
                <a:solidFill>
                  <a:srgbClr val="F4F1EA"/>
                </a:solidFill>
                <a:latin typeface="M PLUS 1 Code Medium" pitchFamily="34" charset="0"/>
                <a:ea typeface="M PLUS 1 Code Medium" pitchFamily="34" charset="-122"/>
                <a:cs typeface="M PLUS 1 Code Medium" pitchFamily="34" charset="-120"/>
              </a:rPr>
              <a:t>ASSET · MINH HỌA KỸ THUẬT, KHÔNG PHẢI ASSET DỰ ÁN</a:t>
            </a:r>
            <a:endParaRPr lang="en-US" sz="1100" dirty="0"/>
          </a:p>
        </p:txBody>
      </p:sp>
      <p:sp>
        <p:nvSpPr>
          <p:cNvPr id="5" name="Shape 3"/>
          <p:cNvSpPr/>
          <p:nvPr/>
        </p:nvSpPr>
        <p:spPr>
          <a:xfrm>
            <a:off x="609585" y="787400"/>
            <a:ext cx="9905455" cy="1086941"/>
          </a:xfrm>
          <a:prstGeom prst="roundRect">
            <a:avLst>
              <a:gd name="adj" fmla="val 3786"/>
            </a:avLst>
          </a:prstGeom>
          <a:solidFill>
            <a:srgbClr val="C8321A"/>
          </a:solidFill>
          <a:ln/>
        </p:spPr>
      </p:sp>
      <p:sp>
        <p:nvSpPr>
          <p:cNvPr id="6" name="Text 4"/>
          <p:cNvSpPr/>
          <p:nvPr/>
        </p:nvSpPr>
        <p:spPr>
          <a:xfrm>
            <a:off x="666733" y="708620"/>
            <a:ext cx="9791157" cy="1087041"/>
          </a:xfrm>
          <a:prstGeom prst="rect">
            <a:avLst/>
          </a:prstGeom>
          <a:noFill/>
          <a:ln/>
        </p:spPr>
        <p:txBody>
          <a:bodyPr wrap="square" lIns="0" tIns="0" rIns="0" bIns="0" rtlCol="0" anchor="t">
            <a:normAutofit/>
          </a:bodyPr>
          <a:lstStyle/>
          <a:p>
            <a:pPr marL="0" indent="0" algn="l">
              <a:lnSpc>
                <a:spcPct val="89000"/>
              </a:lnSpc>
              <a:buNone/>
            </a:pPr>
            <a:r>
              <a:rPr lang="en-US" sz="4000" dirty="0">
                <a:solidFill>
                  <a:srgbClr val="FFFFFF"/>
                </a:solidFill>
                <a:latin typeface="M PLUS 1 Code" panose="020B0600070205080204" charset="-128"/>
                <a:ea typeface="M PLUS 1 Code" panose="020B0600070205080204" charset="-128"/>
                <a:cs typeface="Noto Sans" pitchFamily="34" charset="-120"/>
              </a:rPr>
              <a:t>Pixel art AI gen ra đẹp, </a:t>
            </a:r>
            <a:endParaRPr lang="en-US" sz="4000" dirty="0">
              <a:latin typeface="M PLUS 1 Code" panose="020B0600070205080204" charset="-128"/>
              <a:ea typeface="M PLUS 1 Code" panose="020B0600070205080204" charset="-128"/>
            </a:endParaRPr>
          </a:p>
          <a:p>
            <a:pPr marL="0" indent="0" algn="l">
              <a:lnSpc>
                <a:spcPct val="89000"/>
              </a:lnSpc>
              <a:buNone/>
            </a:pPr>
            <a:r>
              <a:rPr lang="en-US" sz="4000" dirty="0">
                <a:solidFill>
                  <a:srgbClr val="FFFFFF"/>
                </a:solidFill>
                <a:latin typeface="M PLUS 1 Code" panose="020B0600070205080204" charset="-128"/>
                <a:ea typeface="M PLUS 1 Code" panose="020B0600070205080204" charset="-128"/>
                <a:cs typeface="Noto Sans" pitchFamily="34" charset="-120"/>
              </a:rPr>
              <a:t>chưa chắc là asset dùng được</a:t>
            </a:r>
            <a:endParaRPr lang="en-US" sz="4000" dirty="0">
              <a:latin typeface="M PLUS 1 Code" panose="020B0600070205080204" charset="-128"/>
              <a:ea typeface="M PLUS 1 Code" panose="020B0600070205080204" charset="-128"/>
            </a:endParaRPr>
          </a:p>
        </p:txBody>
      </p:sp>
      <p:sp>
        <p:nvSpPr>
          <p:cNvPr id="7" name="Shape 5"/>
          <p:cNvSpPr/>
          <p:nvPr/>
        </p:nvSpPr>
        <p:spPr>
          <a:xfrm>
            <a:off x="0" y="2159000"/>
            <a:ext cx="12191397" cy="127000"/>
          </a:xfrm>
          <a:prstGeom prst="roundRect">
            <a:avLst>
              <a:gd name="adj" fmla="val 32399"/>
            </a:avLst>
          </a:prstGeom>
          <a:solidFill>
            <a:srgbClr val="14161A"/>
          </a:solidFill>
          <a:ln/>
        </p:spPr>
      </p:sp>
      <p:sp>
        <p:nvSpPr>
          <p:cNvPr id="8" name="Shape 6"/>
          <p:cNvSpPr/>
          <p:nvPr/>
        </p:nvSpPr>
        <p:spPr>
          <a:xfrm>
            <a:off x="482588" y="2590800"/>
            <a:ext cx="11226221" cy="3009900"/>
          </a:xfrm>
          <a:prstGeom prst="roundRect">
            <a:avLst>
              <a:gd name="adj" fmla="val 1367"/>
            </a:avLst>
          </a:prstGeom>
          <a:solidFill>
            <a:srgbClr val="F4F1EA"/>
          </a:solidFill>
          <a:ln/>
        </p:spPr>
      </p:sp>
      <p:pic>
        <p:nvPicPr>
          <p:cNvPr id="9" name="Image 0" descr="preencoded.png"/>
          <p:cNvPicPr>
            <a:picLocks noChangeAspect="1"/>
          </p:cNvPicPr>
          <p:nvPr/>
        </p:nvPicPr>
        <p:blipFill>
          <a:blip r:embed="rId3"/>
          <a:stretch>
            <a:fillRect/>
          </a:stretch>
        </p:blipFill>
        <p:spPr>
          <a:xfrm>
            <a:off x="609585" y="2717800"/>
            <a:ext cx="10971831" cy="2762250"/>
          </a:xfrm>
          <a:prstGeom prst="rect">
            <a:avLst/>
          </a:prstGeom>
        </p:spPr>
      </p:pic>
      <p:sp>
        <p:nvSpPr>
          <p:cNvPr id="10" name="Shape 7"/>
          <p:cNvSpPr/>
          <p:nvPr/>
        </p:nvSpPr>
        <p:spPr>
          <a:xfrm>
            <a:off x="609585" y="5867400"/>
            <a:ext cx="101597" cy="508000"/>
          </a:xfrm>
          <a:prstGeom prst="roundRect">
            <a:avLst>
              <a:gd name="adj" fmla="val 40500"/>
            </a:avLst>
          </a:prstGeom>
          <a:solidFill>
            <a:srgbClr val="C8321A"/>
          </a:solidFill>
          <a:ln/>
        </p:spPr>
      </p:sp>
      <p:sp>
        <p:nvSpPr>
          <p:cNvPr id="11" name="Text 8"/>
          <p:cNvSpPr/>
          <p:nvPr/>
        </p:nvSpPr>
        <p:spPr>
          <a:xfrm>
            <a:off x="920727" y="5970984"/>
            <a:ext cx="10953178" cy="324545"/>
          </a:xfrm>
          <a:prstGeom prst="rect">
            <a:avLst/>
          </a:prstGeom>
          <a:noFill/>
          <a:ln/>
        </p:spPr>
        <p:txBody>
          <a:bodyPr wrap="none" lIns="0" tIns="0" rIns="0" bIns="0" rtlCol="0" anchor="t"/>
          <a:lstStyle/>
          <a:p>
            <a:pPr marL="0" indent="0" algn="l">
              <a:lnSpc>
                <a:spcPct val="118000"/>
              </a:lnSpc>
              <a:buNone/>
            </a:pPr>
            <a:r>
              <a:rPr lang="en-US" sz="1800" dirty="0">
                <a:solidFill>
                  <a:srgbClr val="14161A"/>
                </a:solidFill>
                <a:latin typeface="Noto Sans" pitchFamily="34" charset="0"/>
                <a:ea typeface="Noto Sans" pitchFamily="34" charset="-122"/>
                <a:cs typeface="Noto Sans" pitchFamily="34" charset="-120"/>
              </a:rPr>
              <a:t>Đánh giá trên lưới và chuỗi frame, không chỉ trên một ảnh đẹp.</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ASSET · PIPELINE CHUẨN HÓA</a:t>
            </a:r>
            <a:endParaRPr lang="en-US" sz="1100" dirty="0"/>
          </a:p>
        </p:txBody>
      </p:sp>
      <p:sp>
        <p:nvSpPr>
          <p:cNvPr id="3" name="Text 1"/>
          <p:cNvSpPr/>
          <p:nvPr/>
        </p:nvSpPr>
        <p:spPr>
          <a:xfrm>
            <a:off x="609585" y="863600"/>
            <a:ext cx="11524962"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Năm bước chuẩn hóa asset trước khi vào game</a:t>
            </a:r>
            <a:endParaRPr lang="en-US" sz="3500" dirty="0"/>
          </a:p>
        </p:txBody>
      </p:sp>
      <p:sp>
        <p:nvSpPr>
          <p:cNvPr id="4" name="Shape 2"/>
          <p:cNvSpPr/>
          <p:nvPr/>
        </p:nvSpPr>
        <p:spPr>
          <a:xfrm>
            <a:off x="609585" y="1574800"/>
            <a:ext cx="2742933" cy="50800"/>
          </a:xfrm>
          <a:prstGeom prst="roundRect">
            <a:avLst>
              <a:gd name="adj" fmla="val 44699"/>
            </a:avLst>
          </a:prstGeom>
          <a:solidFill>
            <a:srgbClr val="C8321A"/>
          </a:solidFill>
          <a:ln/>
        </p:spPr>
      </p:sp>
      <p:sp>
        <p:nvSpPr>
          <p:cNvPr id="5" name="Shape 3"/>
          <p:cNvSpPr/>
          <p:nvPr/>
        </p:nvSpPr>
        <p:spPr>
          <a:xfrm>
            <a:off x="609585" y="2006600"/>
            <a:ext cx="2082748" cy="12700"/>
          </a:xfrm>
          <a:prstGeom prst="roundRect">
            <a:avLst>
              <a:gd name="adj" fmla="val 49999"/>
            </a:avLst>
          </a:prstGeom>
          <a:solidFill>
            <a:srgbClr val="34363B"/>
          </a:solidFill>
          <a:ln/>
        </p:spPr>
      </p:sp>
      <p:sp>
        <p:nvSpPr>
          <p:cNvPr id="6" name="Text 4"/>
          <p:cNvSpPr/>
          <p:nvPr/>
        </p:nvSpPr>
        <p:spPr>
          <a:xfrm>
            <a:off x="666733" y="2133600"/>
            <a:ext cx="2520689" cy="865584"/>
          </a:xfrm>
          <a:prstGeom prst="rect">
            <a:avLst/>
          </a:prstGeom>
          <a:noFill/>
          <a:ln/>
        </p:spPr>
        <p:txBody>
          <a:bodyPr wrap="none" lIns="0" tIns="0" rIns="0" bIns="0" rtlCol="0" anchor="t"/>
          <a:lstStyle/>
          <a:p>
            <a:pPr marL="0" indent="0" algn="l">
              <a:lnSpc>
                <a:spcPct val="118000"/>
              </a:lnSpc>
              <a:buNone/>
            </a:pPr>
            <a:r>
              <a:rPr lang="en-US" sz="4800" dirty="0">
                <a:solidFill>
                  <a:srgbClr val="B52A16"/>
                </a:solidFill>
                <a:latin typeface="Noto Sans" pitchFamily="34" charset="0"/>
                <a:ea typeface="Noto Sans" pitchFamily="34" charset="-122"/>
                <a:cs typeface="Noto Sans" pitchFamily="34" charset="-120"/>
              </a:rPr>
              <a:t>01</a:t>
            </a:r>
            <a:endParaRPr lang="en-US" sz="4800" dirty="0"/>
          </a:p>
        </p:txBody>
      </p:sp>
      <p:sp>
        <p:nvSpPr>
          <p:cNvPr id="7" name="Text 5"/>
          <p:cNvSpPr/>
          <p:nvPr/>
        </p:nvSpPr>
        <p:spPr>
          <a:xfrm>
            <a:off x="666733" y="3098800"/>
            <a:ext cx="2714259" cy="244574"/>
          </a:xfrm>
          <a:prstGeom prst="rect">
            <a:avLst/>
          </a:prstGeom>
          <a:noFill/>
          <a:ln/>
        </p:spPr>
        <p:txBody>
          <a:bodyPr wrap="none" lIns="0" tIns="0" rIns="0" bIns="0" rtlCol="0" anchor="t"/>
          <a:lstStyle/>
          <a:p>
            <a:pPr marL="0" indent="0" algn="l">
              <a:lnSpc>
                <a:spcPct val="89000"/>
              </a:lnSpc>
              <a:buNone/>
            </a:pPr>
            <a:r>
              <a:rPr lang="en-US" sz="1800" dirty="0">
                <a:solidFill>
                  <a:srgbClr val="14161A"/>
                </a:solidFill>
                <a:latin typeface="Noto Sans" pitchFamily="34" charset="0"/>
                <a:ea typeface="Noto Sans" pitchFamily="34" charset="-122"/>
                <a:cs typeface="Noto Sans" pitchFamily="34" charset="-120"/>
              </a:rPr>
              <a:t>Identity Anchor</a:t>
            </a:r>
            <a:endParaRPr lang="en-US" sz="1800" dirty="0"/>
          </a:p>
        </p:txBody>
      </p:sp>
      <p:sp>
        <p:nvSpPr>
          <p:cNvPr id="8" name="Text 6"/>
          <p:cNvSpPr/>
          <p:nvPr/>
        </p:nvSpPr>
        <p:spPr>
          <a:xfrm>
            <a:off x="666733" y="3841155"/>
            <a:ext cx="1968451" cy="504825"/>
          </a:xfrm>
          <a:prstGeom prst="rect">
            <a:avLst/>
          </a:prstGeom>
          <a:noFill/>
          <a:ln/>
        </p:spPr>
        <p:txBody>
          <a:bodyPr wrap="square" lIns="0" tIns="0" rIns="0" bIns="0" rtlCol="0" anchor="t">
            <a:normAutofit/>
          </a:bodyPr>
          <a:lstStyle/>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Canvas 1024 × 1024</a:t>
            </a:r>
            <a:endParaRPr lang="en-US" sz="1400" dirty="0"/>
          </a:p>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Chroma key</a:t>
            </a:r>
            <a:endParaRPr lang="en-US" sz="1400" dirty="0"/>
          </a:p>
        </p:txBody>
      </p:sp>
      <p:sp>
        <p:nvSpPr>
          <p:cNvPr id="9" name="Shape 7"/>
          <p:cNvSpPr/>
          <p:nvPr/>
        </p:nvSpPr>
        <p:spPr>
          <a:xfrm>
            <a:off x="2925789" y="2006600"/>
            <a:ext cx="2082748" cy="12700"/>
          </a:xfrm>
          <a:prstGeom prst="roundRect">
            <a:avLst>
              <a:gd name="adj" fmla="val 49999"/>
            </a:avLst>
          </a:prstGeom>
          <a:solidFill>
            <a:srgbClr val="34363B"/>
          </a:solidFill>
          <a:ln/>
        </p:spPr>
      </p:sp>
      <p:sp>
        <p:nvSpPr>
          <p:cNvPr id="10" name="Text 8"/>
          <p:cNvSpPr/>
          <p:nvPr/>
        </p:nvSpPr>
        <p:spPr>
          <a:xfrm>
            <a:off x="2982937" y="2133600"/>
            <a:ext cx="2520689" cy="865584"/>
          </a:xfrm>
          <a:prstGeom prst="rect">
            <a:avLst/>
          </a:prstGeom>
          <a:noFill/>
          <a:ln/>
        </p:spPr>
        <p:txBody>
          <a:bodyPr wrap="none" lIns="0" tIns="0" rIns="0" bIns="0" rtlCol="0" anchor="t"/>
          <a:lstStyle/>
          <a:p>
            <a:pPr marL="0" indent="0" algn="l">
              <a:lnSpc>
                <a:spcPct val="118000"/>
              </a:lnSpc>
              <a:buNone/>
            </a:pPr>
            <a:r>
              <a:rPr lang="en-US" sz="4800" dirty="0">
                <a:solidFill>
                  <a:srgbClr val="B52A16"/>
                </a:solidFill>
                <a:latin typeface="Noto Sans" pitchFamily="34" charset="0"/>
                <a:ea typeface="Noto Sans" pitchFamily="34" charset="-122"/>
                <a:cs typeface="Noto Sans" pitchFamily="34" charset="-120"/>
              </a:rPr>
              <a:t>02</a:t>
            </a:r>
            <a:endParaRPr lang="en-US" sz="4800" dirty="0"/>
          </a:p>
        </p:txBody>
      </p:sp>
      <p:sp>
        <p:nvSpPr>
          <p:cNvPr id="11" name="Text 9"/>
          <p:cNvSpPr/>
          <p:nvPr/>
        </p:nvSpPr>
        <p:spPr>
          <a:xfrm>
            <a:off x="2982937" y="3098800"/>
            <a:ext cx="2539936" cy="244574"/>
          </a:xfrm>
          <a:prstGeom prst="rect">
            <a:avLst/>
          </a:prstGeom>
          <a:noFill/>
          <a:ln/>
        </p:spPr>
        <p:txBody>
          <a:bodyPr wrap="none" lIns="0" tIns="0" rIns="0" bIns="0" rtlCol="0" anchor="t"/>
          <a:lstStyle/>
          <a:p>
            <a:pPr marL="0" indent="0" algn="l">
              <a:lnSpc>
                <a:spcPct val="89000"/>
              </a:lnSpc>
              <a:buNone/>
            </a:pPr>
            <a:r>
              <a:rPr lang="en-US" sz="1800" dirty="0">
                <a:solidFill>
                  <a:srgbClr val="14161A"/>
                </a:solidFill>
                <a:latin typeface="Noto Sans" pitchFamily="34" charset="0"/>
                <a:ea typeface="Noto Sans" pitchFamily="34" charset="-122"/>
                <a:cs typeface="Noto Sans" pitchFamily="34" charset="-120"/>
              </a:rPr>
              <a:t>Pixel Snapping</a:t>
            </a:r>
            <a:endParaRPr lang="en-US" sz="1800" dirty="0"/>
          </a:p>
        </p:txBody>
      </p:sp>
      <p:sp>
        <p:nvSpPr>
          <p:cNvPr id="12" name="Text 10"/>
          <p:cNvSpPr/>
          <p:nvPr/>
        </p:nvSpPr>
        <p:spPr>
          <a:xfrm>
            <a:off x="2982937" y="3841155"/>
            <a:ext cx="1968451" cy="504825"/>
          </a:xfrm>
          <a:prstGeom prst="rect">
            <a:avLst/>
          </a:prstGeom>
          <a:noFill/>
          <a:ln/>
        </p:spPr>
        <p:txBody>
          <a:bodyPr wrap="square" lIns="0" tIns="0" rIns="0" bIns="0" rtlCol="0" anchor="t">
            <a:normAutofit/>
          </a:bodyPr>
          <a:lstStyle/>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Palette hữu hạn</a:t>
            </a:r>
            <a:endParaRPr lang="en-US" sz="1400" dirty="0"/>
          </a:p>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Nearest-neighbor</a:t>
            </a:r>
            <a:endParaRPr lang="en-US" sz="1400" dirty="0"/>
          </a:p>
        </p:txBody>
      </p:sp>
      <p:sp>
        <p:nvSpPr>
          <p:cNvPr id="13" name="Shape 11"/>
          <p:cNvSpPr/>
          <p:nvPr/>
        </p:nvSpPr>
        <p:spPr>
          <a:xfrm>
            <a:off x="5242290" y="2006600"/>
            <a:ext cx="2082748" cy="12700"/>
          </a:xfrm>
          <a:prstGeom prst="roundRect">
            <a:avLst>
              <a:gd name="adj" fmla="val 49999"/>
            </a:avLst>
          </a:prstGeom>
          <a:solidFill>
            <a:srgbClr val="34363B"/>
          </a:solidFill>
          <a:ln/>
        </p:spPr>
      </p:sp>
      <p:sp>
        <p:nvSpPr>
          <p:cNvPr id="14" name="Text 12"/>
          <p:cNvSpPr/>
          <p:nvPr/>
        </p:nvSpPr>
        <p:spPr>
          <a:xfrm>
            <a:off x="5299439" y="2133600"/>
            <a:ext cx="2520689" cy="865584"/>
          </a:xfrm>
          <a:prstGeom prst="rect">
            <a:avLst/>
          </a:prstGeom>
          <a:noFill/>
          <a:ln/>
        </p:spPr>
        <p:txBody>
          <a:bodyPr wrap="none" lIns="0" tIns="0" rIns="0" bIns="0" rtlCol="0" anchor="t"/>
          <a:lstStyle/>
          <a:p>
            <a:pPr marL="0" indent="0" algn="l">
              <a:lnSpc>
                <a:spcPct val="118000"/>
              </a:lnSpc>
              <a:buNone/>
            </a:pPr>
            <a:r>
              <a:rPr lang="en-US" sz="4800" dirty="0">
                <a:solidFill>
                  <a:srgbClr val="B52A16"/>
                </a:solidFill>
                <a:latin typeface="Noto Sans" pitchFamily="34" charset="0"/>
                <a:ea typeface="Noto Sans" pitchFamily="34" charset="-122"/>
                <a:cs typeface="Noto Sans" pitchFamily="34" charset="-120"/>
              </a:rPr>
              <a:t>03</a:t>
            </a:r>
            <a:endParaRPr lang="en-US" sz="4800" dirty="0"/>
          </a:p>
        </p:txBody>
      </p:sp>
      <p:sp>
        <p:nvSpPr>
          <p:cNvPr id="15" name="Text 13"/>
          <p:cNvSpPr/>
          <p:nvPr/>
        </p:nvSpPr>
        <p:spPr>
          <a:xfrm>
            <a:off x="5299439" y="3098800"/>
            <a:ext cx="2520887" cy="244574"/>
          </a:xfrm>
          <a:prstGeom prst="rect">
            <a:avLst/>
          </a:prstGeom>
          <a:noFill/>
          <a:ln/>
        </p:spPr>
        <p:txBody>
          <a:bodyPr wrap="none" lIns="0" tIns="0" rIns="0" bIns="0" rtlCol="0" anchor="t"/>
          <a:lstStyle/>
          <a:p>
            <a:pPr marL="0" indent="0" algn="l">
              <a:lnSpc>
                <a:spcPct val="89000"/>
              </a:lnSpc>
              <a:buNone/>
            </a:pPr>
            <a:r>
              <a:rPr lang="en-US" sz="1800" dirty="0">
                <a:solidFill>
                  <a:srgbClr val="14161A"/>
                </a:solidFill>
                <a:latin typeface="Noto Sans" pitchFamily="34" charset="0"/>
                <a:ea typeface="Noto Sans" pitchFamily="34" charset="-122"/>
                <a:cs typeface="Noto Sans" pitchFamily="34" charset="-120"/>
              </a:rPr>
              <a:t>Pose Board</a:t>
            </a:r>
            <a:endParaRPr lang="en-US" sz="1800" dirty="0"/>
          </a:p>
        </p:txBody>
      </p:sp>
      <p:sp>
        <p:nvSpPr>
          <p:cNvPr id="16" name="Text 14"/>
          <p:cNvSpPr/>
          <p:nvPr/>
        </p:nvSpPr>
        <p:spPr>
          <a:xfrm>
            <a:off x="5299439" y="3841155"/>
            <a:ext cx="1968451" cy="757238"/>
          </a:xfrm>
          <a:prstGeom prst="rect">
            <a:avLst/>
          </a:prstGeom>
          <a:noFill/>
          <a:ln/>
        </p:spPr>
        <p:txBody>
          <a:bodyPr wrap="square" lIns="0" tIns="0" rIns="0" bIns="0" rtlCol="0" anchor="t">
            <a:normAutofit/>
          </a:bodyPr>
          <a:lstStyle/>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Attack 8 frame</a:t>
            </a:r>
            <a:endParaRPr lang="en-US" sz="1400" dirty="0"/>
          </a:p>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Hurt 6 frame</a:t>
            </a:r>
            <a:endParaRPr lang="en-US" sz="1400" dirty="0"/>
          </a:p>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Death 10 frame</a:t>
            </a:r>
            <a:endParaRPr lang="en-US" sz="1400" dirty="0"/>
          </a:p>
        </p:txBody>
      </p:sp>
      <p:sp>
        <p:nvSpPr>
          <p:cNvPr id="17" name="Shape 15"/>
          <p:cNvSpPr/>
          <p:nvPr/>
        </p:nvSpPr>
        <p:spPr>
          <a:xfrm>
            <a:off x="7558593" y="2006600"/>
            <a:ext cx="2082748" cy="12700"/>
          </a:xfrm>
          <a:prstGeom prst="roundRect">
            <a:avLst>
              <a:gd name="adj" fmla="val 49999"/>
            </a:avLst>
          </a:prstGeom>
          <a:solidFill>
            <a:srgbClr val="34363B"/>
          </a:solidFill>
          <a:ln/>
        </p:spPr>
      </p:sp>
      <p:sp>
        <p:nvSpPr>
          <p:cNvPr id="18" name="Text 16"/>
          <p:cNvSpPr/>
          <p:nvPr/>
        </p:nvSpPr>
        <p:spPr>
          <a:xfrm>
            <a:off x="7615742" y="2133600"/>
            <a:ext cx="2520689" cy="865584"/>
          </a:xfrm>
          <a:prstGeom prst="rect">
            <a:avLst/>
          </a:prstGeom>
          <a:noFill/>
          <a:ln/>
        </p:spPr>
        <p:txBody>
          <a:bodyPr wrap="none" lIns="0" tIns="0" rIns="0" bIns="0" rtlCol="0" anchor="t"/>
          <a:lstStyle/>
          <a:p>
            <a:pPr marL="0" indent="0" algn="l">
              <a:lnSpc>
                <a:spcPct val="118000"/>
              </a:lnSpc>
              <a:buNone/>
            </a:pPr>
            <a:r>
              <a:rPr lang="en-US" sz="4800" dirty="0">
                <a:solidFill>
                  <a:srgbClr val="B52A16"/>
                </a:solidFill>
                <a:latin typeface="Noto Sans" pitchFamily="34" charset="0"/>
                <a:ea typeface="Noto Sans" pitchFamily="34" charset="-122"/>
                <a:cs typeface="Noto Sans" pitchFamily="34" charset="-120"/>
              </a:rPr>
              <a:t>04</a:t>
            </a:r>
            <a:endParaRPr lang="en-US" sz="4800" dirty="0"/>
          </a:p>
        </p:txBody>
      </p:sp>
      <p:sp>
        <p:nvSpPr>
          <p:cNvPr id="19" name="Text 17"/>
          <p:cNvSpPr/>
          <p:nvPr/>
        </p:nvSpPr>
        <p:spPr>
          <a:xfrm>
            <a:off x="7615742" y="3063280"/>
            <a:ext cx="1911302" cy="489148"/>
          </a:xfrm>
          <a:prstGeom prst="rect">
            <a:avLst/>
          </a:prstGeom>
          <a:noFill/>
          <a:ln/>
        </p:spPr>
        <p:txBody>
          <a:bodyPr wrap="square" lIns="0" tIns="0" rIns="0" bIns="0" rtlCol="0" anchor="t">
            <a:normAutofit/>
          </a:bodyPr>
          <a:lstStyle/>
          <a:p>
            <a:pPr marL="0" indent="0" algn="l">
              <a:lnSpc>
                <a:spcPct val="89000"/>
              </a:lnSpc>
              <a:buNone/>
            </a:pPr>
            <a:r>
              <a:rPr lang="en-US" sz="1800" dirty="0">
                <a:solidFill>
                  <a:srgbClr val="14161A"/>
                </a:solidFill>
                <a:latin typeface="Noto Sans" pitchFamily="34" charset="0"/>
                <a:ea typeface="Noto Sans" pitchFamily="34" charset="-122"/>
                <a:cs typeface="Noto Sans" pitchFamily="34" charset="-120"/>
              </a:rPr>
              <a:t>Recovery &amp; Curation</a:t>
            </a:r>
            <a:endParaRPr lang="en-US" sz="1800" dirty="0"/>
          </a:p>
        </p:txBody>
      </p:sp>
      <p:sp>
        <p:nvSpPr>
          <p:cNvPr id="20" name="Text 18"/>
          <p:cNvSpPr/>
          <p:nvPr/>
        </p:nvSpPr>
        <p:spPr>
          <a:xfrm>
            <a:off x="7615742" y="3841155"/>
            <a:ext cx="1968451" cy="757238"/>
          </a:xfrm>
          <a:prstGeom prst="rect">
            <a:avLst/>
          </a:prstGeom>
          <a:noFill/>
          <a:ln/>
        </p:spPr>
        <p:txBody>
          <a:bodyPr wrap="square" lIns="0" tIns="0" rIns="0" bIns="0" rtlCol="0" anchor="t">
            <a:normAutofit/>
          </a:bodyPr>
          <a:lstStyle/>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Tách nền</a:t>
            </a:r>
            <a:endParaRPr lang="en-US" sz="1400" dirty="0"/>
          </a:p>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Bounding box</a:t>
            </a:r>
            <a:endParaRPr lang="en-US" sz="1400" dirty="0"/>
          </a:p>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Loại frame lỗi</a:t>
            </a:r>
            <a:endParaRPr lang="en-US" sz="1400" dirty="0"/>
          </a:p>
        </p:txBody>
      </p:sp>
      <p:sp>
        <p:nvSpPr>
          <p:cNvPr id="21" name="Shape 19"/>
          <p:cNvSpPr/>
          <p:nvPr/>
        </p:nvSpPr>
        <p:spPr>
          <a:xfrm>
            <a:off x="9874797" y="2006600"/>
            <a:ext cx="2082748" cy="12700"/>
          </a:xfrm>
          <a:prstGeom prst="roundRect">
            <a:avLst>
              <a:gd name="adj" fmla="val 49999"/>
            </a:avLst>
          </a:prstGeom>
          <a:solidFill>
            <a:srgbClr val="34363B"/>
          </a:solidFill>
          <a:ln/>
        </p:spPr>
      </p:sp>
      <p:sp>
        <p:nvSpPr>
          <p:cNvPr id="22" name="Text 20"/>
          <p:cNvSpPr/>
          <p:nvPr/>
        </p:nvSpPr>
        <p:spPr>
          <a:xfrm>
            <a:off x="9931945" y="2133600"/>
            <a:ext cx="2202105" cy="865584"/>
          </a:xfrm>
          <a:prstGeom prst="rect">
            <a:avLst/>
          </a:prstGeom>
          <a:noFill/>
          <a:ln/>
        </p:spPr>
        <p:txBody>
          <a:bodyPr wrap="none" lIns="0" tIns="0" rIns="0" bIns="0" rtlCol="0" anchor="t"/>
          <a:lstStyle/>
          <a:p>
            <a:pPr marL="0" indent="0" algn="l">
              <a:lnSpc>
                <a:spcPct val="118000"/>
              </a:lnSpc>
              <a:buNone/>
            </a:pPr>
            <a:r>
              <a:rPr lang="en-US" sz="4800" dirty="0">
                <a:solidFill>
                  <a:srgbClr val="B52A16"/>
                </a:solidFill>
                <a:latin typeface="Noto Sans" pitchFamily="34" charset="0"/>
                <a:ea typeface="Noto Sans" pitchFamily="34" charset="-122"/>
                <a:cs typeface="Noto Sans" pitchFamily="34" charset="-120"/>
              </a:rPr>
              <a:t>05</a:t>
            </a:r>
            <a:endParaRPr lang="en-US" sz="4800" dirty="0"/>
          </a:p>
        </p:txBody>
      </p:sp>
      <p:sp>
        <p:nvSpPr>
          <p:cNvPr id="23" name="Text 21"/>
          <p:cNvSpPr/>
          <p:nvPr/>
        </p:nvSpPr>
        <p:spPr>
          <a:xfrm>
            <a:off x="9931945" y="3063280"/>
            <a:ext cx="1911302" cy="489148"/>
          </a:xfrm>
          <a:prstGeom prst="rect">
            <a:avLst/>
          </a:prstGeom>
          <a:noFill/>
          <a:ln/>
        </p:spPr>
        <p:txBody>
          <a:bodyPr wrap="square" lIns="0" tIns="0" rIns="0" bIns="0" rtlCol="0" anchor="t">
            <a:normAutofit/>
          </a:bodyPr>
          <a:lstStyle/>
          <a:p>
            <a:pPr marL="0" indent="0" algn="l">
              <a:lnSpc>
                <a:spcPct val="89000"/>
              </a:lnSpc>
              <a:buNone/>
            </a:pPr>
            <a:r>
              <a:rPr lang="en-US" sz="1800" dirty="0">
                <a:solidFill>
                  <a:srgbClr val="14161A"/>
                </a:solidFill>
                <a:latin typeface="Noto Sans" pitchFamily="34" charset="0"/>
                <a:ea typeface="Noto Sans" pitchFamily="34" charset="-122"/>
                <a:cs typeface="Noto Sans" pitchFamily="34" charset="-120"/>
              </a:rPr>
              <a:t>Anchoring &amp; Onion Skin</a:t>
            </a:r>
            <a:endParaRPr lang="en-US" sz="1800" dirty="0"/>
          </a:p>
        </p:txBody>
      </p:sp>
      <p:sp>
        <p:nvSpPr>
          <p:cNvPr id="24" name="Text 22"/>
          <p:cNvSpPr/>
          <p:nvPr/>
        </p:nvSpPr>
        <p:spPr>
          <a:xfrm>
            <a:off x="9931945" y="3841155"/>
            <a:ext cx="1911302" cy="757238"/>
          </a:xfrm>
          <a:prstGeom prst="rect">
            <a:avLst/>
          </a:prstGeom>
          <a:noFill/>
          <a:ln/>
        </p:spPr>
        <p:txBody>
          <a:bodyPr wrap="square" lIns="0" tIns="0" rIns="0" bIns="0" rtlCol="0" anchor="t">
            <a:normAutofit/>
          </a:bodyPr>
          <a:lstStyle/>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Cố định chân</a:t>
            </a:r>
            <a:endParaRPr lang="en-US" sz="1400" dirty="0"/>
          </a:p>
          <a:p>
            <a:pPr marL="0" indent="0" algn="l">
              <a:lnSpc>
                <a:spcPct val="118000"/>
              </a:lnSpc>
              <a:buNone/>
            </a:pPr>
            <a:r>
              <a:rPr lang="en-US" sz="1400" dirty="0">
                <a:solidFill>
                  <a:srgbClr val="2B2D31"/>
                </a:solidFill>
                <a:latin typeface="Noto Sans" pitchFamily="34" charset="0"/>
                <a:ea typeface="Noto Sans" pitchFamily="34" charset="-122"/>
                <a:cs typeface="Noto Sans" pitchFamily="34" charset="-120"/>
              </a:rPr>
              <a:t>AnimatedSprite2D trong Godot</a:t>
            </a:r>
            <a:endParaRPr lang="en-US" sz="1400" dirty="0"/>
          </a:p>
        </p:txBody>
      </p:sp>
      <p:sp>
        <p:nvSpPr>
          <p:cNvPr id="25" name="Shape 23"/>
          <p:cNvSpPr/>
          <p:nvPr/>
        </p:nvSpPr>
        <p:spPr>
          <a:xfrm>
            <a:off x="609585" y="5334000"/>
            <a:ext cx="10972228" cy="711200"/>
          </a:xfrm>
          <a:prstGeom prst="roundRect">
            <a:avLst>
              <a:gd name="adj" fmla="val 5786"/>
            </a:avLst>
          </a:prstGeom>
          <a:solidFill>
            <a:srgbClr val="C8321A"/>
          </a:solidFill>
          <a:ln/>
        </p:spPr>
      </p:sp>
      <p:sp>
        <p:nvSpPr>
          <p:cNvPr id="26" name="Text 24"/>
          <p:cNvSpPr/>
          <p:nvPr/>
        </p:nvSpPr>
        <p:spPr>
          <a:xfrm>
            <a:off x="863578" y="5545237"/>
            <a:ext cx="11328117" cy="288528"/>
          </a:xfrm>
          <a:prstGeom prst="rect">
            <a:avLst/>
          </a:prstGeom>
          <a:noFill/>
          <a:ln/>
        </p:spPr>
        <p:txBody>
          <a:bodyPr wrap="none" lIns="0" tIns="0" rIns="0" bIns="0" rtlCol="0" anchor="t"/>
          <a:lstStyle/>
          <a:p>
            <a:pPr marL="0" indent="0" algn="l">
              <a:lnSpc>
                <a:spcPct val="118000"/>
              </a:lnSpc>
              <a:buNone/>
            </a:pPr>
            <a:r>
              <a:rPr lang="en-US" sz="1600" b="1" dirty="0">
                <a:solidFill>
                  <a:srgbClr val="FFFFFF"/>
                </a:solidFill>
                <a:latin typeface="Noto Sans Bold" pitchFamily="34" charset="0"/>
                <a:ea typeface="Noto Sans Bold" pitchFamily="34" charset="-122"/>
                <a:cs typeface="Noto Sans Bold" pitchFamily="34" charset="-120"/>
              </a:rPr>
              <a:t>Kiểm tra animation trong Godot trước khi duyệt asset.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E4DF"/>
        </a:solidFill>
        <a:effectLst/>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oundRect">
            <a:avLst>
              <a:gd name="adj" fmla="val 22500"/>
            </a:avLst>
          </a:prstGeom>
          <a:solidFill>
            <a:srgbClr val="C8321A"/>
          </a:solidFill>
          <a:ln/>
        </p:spPr>
      </p:sp>
      <p:sp>
        <p:nvSpPr>
          <p:cNvPr id="3" name="Text 1"/>
          <p:cNvSpPr/>
          <p:nvPr/>
        </p:nvSpPr>
        <p:spPr>
          <a:xfrm>
            <a:off x="666733" y="279400"/>
            <a:ext cx="8115097" cy="198338"/>
          </a:xfrm>
          <a:prstGeom prst="rect">
            <a:avLst/>
          </a:prstGeom>
          <a:noFill/>
          <a:ln/>
        </p:spPr>
        <p:txBody>
          <a:bodyPr wrap="none" lIns="0" tIns="0" rIns="0" bIns="0" rtlCol="0" anchor="t"/>
          <a:lstStyle/>
          <a:p>
            <a:pPr marL="0" indent="0" algn="l">
              <a:lnSpc>
                <a:spcPct val="118000"/>
              </a:lnSpc>
              <a:buNone/>
            </a:pPr>
            <a:r>
              <a:rPr lang="en-US" sz="1100" kern="100" spc="66" dirty="0">
                <a:solidFill>
                  <a:srgbClr val="A32615"/>
                </a:solidFill>
                <a:latin typeface="M PLUS 1 Code Medium" pitchFamily="34" charset="0"/>
                <a:ea typeface="M PLUS 1 Code Medium" pitchFamily="34" charset="-122"/>
                <a:cs typeface="M PLUS 1 Code Medium" pitchFamily="34" charset="-120"/>
              </a:rPr>
              <a:t>LEVEL DESIGN · QUYẾT ĐỊNH CỦA </a:t>
            </a:r>
            <a:r>
              <a:rPr lang="vi-VN" sz="1100" kern="100" spc="66" dirty="0">
                <a:solidFill>
                  <a:srgbClr val="A32615"/>
                </a:solidFill>
                <a:latin typeface="M PLUS 1 Code Medium" pitchFamily="34" charset="0"/>
                <a:ea typeface="M PLUS 1 Code Medium" pitchFamily="34" charset="-122"/>
                <a:cs typeface="M PLUS 1 Code Medium" pitchFamily="34" charset="-120"/>
              </a:rPr>
              <a:t>GAMEDEV</a:t>
            </a:r>
            <a:endParaRPr lang="en-US" sz="1100" dirty="0"/>
          </a:p>
        </p:txBody>
      </p:sp>
      <p:sp>
        <p:nvSpPr>
          <p:cNvPr id="4" name="Text 2"/>
          <p:cNvSpPr/>
          <p:nvPr/>
        </p:nvSpPr>
        <p:spPr>
          <a:xfrm>
            <a:off x="666733" y="533400"/>
            <a:ext cx="10858228" cy="577056"/>
          </a:xfrm>
          <a:prstGeom prst="rect">
            <a:avLst/>
          </a:prstGeom>
          <a:noFill/>
          <a:ln/>
        </p:spPr>
        <p:txBody>
          <a:bodyPr wrap="none" lIns="0" tIns="0" rIns="0" bIns="0" rtlCol="0" anchor="t"/>
          <a:lstStyle/>
          <a:p>
            <a:pPr marL="0" indent="0" algn="l">
              <a:lnSpc>
                <a:spcPct val="118000"/>
              </a:lnSpc>
              <a:buNone/>
            </a:pPr>
            <a:r>
              <a:rPr lang="en-US" sz="3200" dirty="0">
                <a:solidFill>
                  <a:srgbClr val="14161A"/>
                </a:solidFill>
                <a:latin typeface="Noto Sans" pitchFamily="34" charset="0"/>
                <a:ea typeface="Noto Sans" pitchFamily="34" charset="-122"/>
                <a:cs typeface="Noto Sans" pitchFamily="34" charset="-120"/>
              </a:rPr>
              <a:t>Trong dự án này, </a:t>
            </a:r>
            <a:r>
              <a:rPr lang="en-US" sz="3200" dirty="0">
                <a:solidFill>
                  <a:srgbClr val="A32615"/>
                </a:solidFill>
                <a:latin typeface="Noto Sans" pitchFamily="34" charset="0"/>
                <a:ea typeface="Noto Sans" pitchFamily="34" charset="-122"/>
                <a:cs typeface="Noto Sans" pitchFamily="34" charset="-120"/>
              </a:rPr>
              <a:t>con người</a:t>
            </a:r>
            <a:r>
              <a:rPr lang="en-US" sz="3200" dirty="0">
                <a:solidFill>
                  <a:srgbClr val="14161A"/>
                </a:solidFill>
                <a:latin typeface="Noto Sans" pitchFamily="34" charset="0"/>
                <a:ea typeface="Noto Sans" pitchFamily="34" charset="-122"/>
                <a:cs typeface="Noto Sans" pitchFamily="34" charset="-120"/>
              </a:rPr>
              <a:t> giữ quyền thiết kế map</a:t>
            </a:r>
            <a:endParaRPr lang="en-US" sz="3200" dirty="0"/>
          </a:p>
        </p:txBody>
      </p:sp>
      <p:sp>
        <p:nvSpPr>
          <p:cNvPr id="5" name="Shape 3"/>
          <p:cNvSpPr/>
          <p:nvPr/>
        </p:nvSpPr>
        <p:spPr>
          <a:xfrm>
            <a:off x="683770" y="1143002"/>
            <a:ext cx="2869712" cy="38100"/>
          </a:xfrm>
          <a:prstGeom prst="roundRect">
            <a:avLst>
              <a:gd name="adj" fmla="val 49999"/>
            </a:avLst>
          </a:prstGeom>
          <a:solidFill>
            <a:srgbClr val="C8321A"/>
          </a:solidFill>
          <a:ln/>
        </p:spPr>
      </p:sp>
      <p:sp>
        <p:nvSpPr>
          <p:cNvPr id="7" name="Text 4"/>
          <p:cNvSpPr/>
          <p:nvPr/>
        </p:nvSpPr>
        <p:spPr>
          <a:xfrm>
            <a:off x="3001524" y="5941038"/>
            <a:ext cx="2327942" cy="270470"/>
          </a:xfrm>
          <a:prstGeom prst="rect">
            <a:avLst/>
          </a:prstGeom>
          <a:noFill/>
          <a:ln/>
        </p:spPr>
        <p:txBody>
          <a:bodyPr wrap="none" lIns="0" tIns="0" rIns="0" bIns="0" rtlCol="0" anchor="t"/>
          <a:lstStyle/>
          <a:p>
            <a:pPr marL="0" indent="0" algn="l">
              <a:lnSpc>
                <a:spcPct val="118000"/>
              </a:lnSpc>
              <a:buNone/>
            </a:pPr>
            <a:r>
              <a:rPr lang="vi-VN" sz="1200" b="1" dirty="0">
                <a:solidFill>
                  <a:srgbClr val="A32615"/>
                </a:solidFill>
                <a:latin typeface="Noto Sans Bold" pitchFamily="34" charset="0"/>
                <a:ea typeface="Noto Sans Bold" pitchFamily="34" charset="-122"/>
                <a:cs typeface="Noto Sans Bold" pitchFamily="34" charset="-120"/>
              </a:rPr>
              <a:t>Map design </a:t>
            </a:r>
            <a:r>
              <a:rPr lang="en-US" sz="1200" b="1" dirty="0" err="1">
                <a:solidFill>
                  <a:srgbClr val="A32615"/>
                </a:solidFill>
                <a:latin typeface="Noto Sans Bold" pitchFamily="34" charset="0"/>
                <a:ea typeface="Noto Sans Bold" pitchFamily="34" charset="-122"/>
                <a:cs typeface="Noto Sans Bold" pitchFamily="34" charset="-120"/>
              </a:rPr>
              <a:t>trong</a:t>
            </a:r>
            <a:r>
              <a:rPr lang="en-US" sz="1200" b="1" dirty="0">
                <a:solidFill>
                  <a:srgbClr val="A32615"/>
                </a:solidFill>
                <a:latin typeface="Noto Sans Bold" pitchFamily="34" charset="0"/>
                <a:ea typeface="Noto Sans Bold" pitchFamily="34" charset="-122"/>
                <a:cs typeface="Noto Sans Bold" pitchFamily="34" charset="-120"/>
              </a:rPr>
              <a:t> Godot 4.7.2</a:t>
            </a:r>
            <a:endParaRPr lang="en-US" sz="1200" dirty="0"/>
          </a:p>
        </p:txBody>
      </p:sp>
      <p:sp>
        <p:nvSpPr>
          <p:cNvPr id="8" name="Text 5"/>
          <p:cNvSpPr/>
          <p:nvPr/>
        </p:nvSpPr>
        <p:spPr>
          <a:xfrm>
            <a:off x="666733" y="5689600"/>
            <a:ext cx="6997525" cy="649188"/>
          </a:xfrm>
          <a:prstGeom prst="rect">
            <a:avLst/>
          </a:prstGeom>
          <a:noFill/>
          <a:ln/>
        </p:spPr>
        <p:txBody>
          <a:bodyPr wrap="square" lIns="0" tIns="0" rIns="0" bIns="0" rtlCol="0" anchor="t">
            <a:normAutofit/>
          </a:bodyPr>
          <a:lstStyle/>
          <a:p>
            <a:pPr marL="0" indent="0" algn="l">
              <a:lnSpc>
                <a:spcPct val="118000"/>
              </a:lnSpc>
              <a:buNone/>
            </a:pPr>
            <a:endParaRPr lang="en-US" sz="1200" dirty="0"/>
          </a:p>
        </p:txBody>
      </p:sp>
      <p:sp>
        <p:nvSpPr>
          <p:cNvPr id="9" name="Shape 6"/>
          <p:cNvSpPr/>
          <p:nvPr/>
        </p:nvSpPr>
        <p:spPr>
          <a:xfrm>
            <a:off x="8153196" y="1574800"/>
            <a:ext cx="3428914" cy="1219200"/>
          </a:xfrm>
          <a:prstGeom prst="roundRect">
            <a:avLst>
              <a:gd name="adj" fmla="val 2812"/>
            </a:avLst>
          </a:prstGeom>
          <a:solidFill>
            <a:srgbClr val="14161A"/>
          </a:solidFill>
          <a:ln/>
        </p:spPr>
      </p:sp>
      <p:sp>
        <p:nvSpPr>
          <p:cNvPr id="10" name="Text 7"/>
          <p:cNvSpPr/>
          <p:nvPr/>
        </p:nvSpPr>
        <p:spPr>
          <a:xfrm>
            <a:off x="8305592" y="1676400"/>
            <a:ext cx="3733707" cy="234355"/>
          </a:xfrm>
          <a:prstGeom prst="rect">
            <a:avLst/>
          </a:prstGeom>
          <a:noFill/>
          <a:ln/>
        </p:spPr>
        <p:txBody>
          <a:bodyPr wrap="none" lIns="0" tIns="0" rIns="0" bIns="0" rtlCol="0" anchor="t"/>
          <a:lstStyle/>
          <a:p>
            <a:pPr marL="0" indent="0" algn="l">
              <a:lnSpc>
                <a:spcPct val="118000"/>
              </a:lnSpc>
              <a:buNone/>
            </a:pPr>
            <a:r>
              <a:rPr lang="en-US" sz="1300" b="1" dirty="0">
                <a:solidFill>
                  <a:srgbClr val="C6F432"/>
                </a:solidFill>
                <a:latin typeface="Noto Sans Bold" pitchFamily="34" charset="0"/>
                <a:ea typeface="Noto Sans Bold" pitchFamily="34" charset="-122"/>
                <a:cs typeface="Noto Sans Bold" pitchFamily="34" charset="-120"/>
              </a:rPr>
              <a:t>XẾP LỚP &amp; COLLISION</a:t>
            </a:r>
            <a:endParaRPr lang="en-US" sz="1300" dirty="0"/>
          </a:p>
        </p:txBody>
      </p:sp>
      <p:sp>
        <p:nvSpPr>
          <p:cNvPr id="11" name="Text 8"/>
          <p:cNvSpPr/>
          <p:nvPr/>
        </p:nvSpPr>
        <p:spPr>
          <a:xfrm>
            <a:off x="8299616" y="2058897"/>
            <a:ext cx="3139349" cy="439268"/>
          </a:xfrm>
          <a:prstGeom prst="rect">
            <a:avLst/>
          </a:prstGeom>
          <a:noFill/>
          <a:ln/>
        </p:spPr>
        <p:txBody>
          <a:bodyPr wrap="none" lIns="0" tIns="0" rIns="0" bIns="0" rtlCol="0" anchor="t"/>
          <a:lstStyle/>
          <a:p>
            <a:pPr marL="0" indent="0" algn="l">
              <a:lnSpc>
                <a:spcPct val="118000"/>
              </a:lnSpc>
              <a:buNone/>
            </a:pPr>
            <a:r>
              <a:rPr lang="en-US" sz="1050" dirty="0" err="1">
                <a:solidFill>
                  <a:srgbClr val="F4F1EA"/>
                </a:solidFill>
                <a:latin typeface="Noto Sans" pitchFamily="34" charset="0"/>
                <a:ea typeface="Noto Sans" pitchFamily="34" charset="-122"/>
                <a:cs typeface="Noto Sans" pitchFamily="34" charset="-120"/>
              </a:rPr>
              <a:t>Dùng</a:t>
            </a:r>
            <a:r>
              <a:rPr lang="en-US" sz="1050" dirty="0">
                <a:solidFill>
                  <a:srgbClr val="F4F1EA"/>
                </a:solidFill>
                <a:latin typeface="Noto Sans" pitchFamily="34" charset="0"/>
                <a:ea typeface="Noto Sans" pitchFamily="34" charset="-122"/>
                <a:cs typeface="Noto Sans" pitchFamily="34" charset="-120"/>
              </a:rPr>
              <a:t> </a:t>
            </a:r>
            <a:r>
              <a:rPr lang="en-US" sz="1100" dirty="0" err="1">
                <a:solidFill>
                  <a:srgbClr val="F4F1EA"/>
                </a:solidFill>
                <a:latin typeface="Noto Sans" pitchFamily="34" charset="0"/>
                <a:ea typeface="Noto Sans" pitchFamily="34" charset="-122"/>
                <a:cs typeface="Noto Sans" pitchFamily="34" charset="-120"/>
              </a:rPr>
              <a:t>TileSet</a:t>
            </a:r>
            <a:r>
              <a:rPr lang="en-US" sz="1050" dirty="0">
                <a:solidFill>
                  <a:srgbClr val="F4F1EA"/>
                </a:solidFill>
                <a:latin typeface="Noto Sans" pitchFamily="34" charset="0"/>
                <a:ea typeface="Noto Sans" pitchFamily="34" charset="-122"/>
                <a:cs typeface="Noto Sans" pitchFamily="34" charset="-120"/>
              </a:rPr>
              <a:t> Editor </a:t>
            </a:r>
            <a:r>
              <a:rPr lang="en-US" sz="1050" dirty="0" err="1">
                <a:solidFill>
                  <a:srgbClr val="F4F1EA"/>
                </a:solidFill>
                <a:latin typeface="Noto Sans" pitchFamily="34" charset="0"/>
                <a:ea typeface="Noto Sans" pitchFamily="34" charset="-122"/>
                <a:cs typeface="Noto Sans" pitchFamily="34" charset="-120"/>
              </a:rPr>
              <a:t>nhặt</a:t>
            </a:r>
            <a:r>
              <a:rPr lang="en-US" sz="1050" dirty="0">
                <a:solidFill>
                  <a:srgbClr val="F4F1EA"/>
                </a:solidFill>
                <a:latin typeface="Noto Sans" pitchFamily="34" charset="0"/>
                <a:ea typeface="Noto Sans" pitchFamily="34" charset="-122"/>
                <a:cs typeface="Noto Sans" pitchFamily="34" charset="-120"/>
              </a:rPr>
              <a:t> </a:t>
            </a:r>
            <a:r>
              <a:rPr lang="en-US" sz="1050" dirty="0" err="1">
                <a:solidFill>
                  <a:srgbClr val="F4F1EA"/>
                </a:solidFill>
                <a:latin typeface="Noto Sans" pitchFamily="34" charset="0"/>
                <a:ea typeface="Noto Sans" pitchFamily="34" charset="-122"/>
                <a:cs typeface="Noto Sans" pitchFamily="34" charset="-120"/>
              </a:rPr>
              <a:t>từng</a:t>
            </a:r>
            <a:r>
              <a:rPr lang="en-US" sz="1050" dirty="0">
                <a:solidFill>
                  <a:srgbClr val="F4F1EA"/>
                </a:solidFill>
                <a:latin typeface="Noto Sans" pitchFamily="34" charset="0"/>
                <a:ea typeface="Noto Sans" pitchFamily="34" charset="-122"/>
                <a:cs typeface="Noto Sans" pitchFamily="34" charset="-120"/>
              </a:rPr>
              <a:t> tile, </a:t>
            </a:r>
            <a:br>
              <a:rPr lang="vi-VN" sz="1050" dirty="0">
                <a:solidFill>
                  <a:srgbClr val="F4F1EA"/>
                </a:solidFill>
                <a:latin typeface="Noto Sans" pitchFamily="34" charset="0"/>
                <a:ea typeface="Noto Sans" pitchFamily="34" charset="-122"/>
                <a:cs typeface="Noto Sans" pitchFamily="34" charset="-120"/>
              </a:rPr>
            </a:br>
            <a:r>
              <a:rPr lang="en-US" sz="1050" dirty="0" err="1">
                <a:solidFill>
                  <a:srgbClr val="F4F1EA"/>
                </a:solidFill>
                <a:latin typeface="Noto Sans" pitchFamily="34" charset="0"/>
                <a:ea typeface="Noto Sans" pitchFamily="34" charset="-122"/>
                <a:cs typeface="Noto Sans" pitchFamily="34" charset="-120"/>
              </a:rPr>
              <a:t>phân</a:t>
            </a:r>
            <a:r>
              <a:rPr lang="en-US" sz="1050" dirty="0">
                <a:solidFill>
                  <a:srgbClr val="F4F1EA"/>
                </a:solidFill>
                <a:latin typeface="Noto Sans" pitchFamily="34" charset="0"/>
                <a:ea typeface="Noto Sans" pitchFamily="34" charset="-122"/>
                <a:cs typeface="Noto Sans" pitchFamily="34" charset="-120"/>
              </a:rPr>
              <a:t> </a:t>
            </a:r>
            <a:r>
              <a:rPr lang="en-US" sz="1050" dirty="0" err="1">
                <a:solidFill>
                  <a:srgbClr val="F4F1EA"/>
                </a:solidFill>
                <a:latin typeface="Noto Sans" pitchFamily="34" charset="0"/>
                <a:ea typeface="Noto Sans" pitchFamily="34" charset="-122"/>
                <a:cs typeface="Noto Sans" pitchFamily="34" charset="-120"/>
              </a:rPr>
              <a:t>lớp</a:t>
            </a:r>
            <a:r>
              <a:rPr lang="en-US" sz="1050" dirty="0">
                <a:solidFill>
                  <a:srgbClr val="F4F1EA"/>
                </a:solidFill>
                <a:latin typeface="Noto Sans" pitchFamily="34" charset="0"/>
                <a:ea typeface="Noto Sans" pitchFamily="34" charset="-122"/>
                <a:cs typeface="Noto Sans" pitchFamily="34" charset="-120"/>
              </a:rPr>
              <a:t> Ground, Roads, Cliffs, Y-sort &amp; Collisions.</a:t>
            </a:r>
          </a:p>
        </p:txBody>
      </p:sp>
      <p:sp>
        <p:nvSpPr>
          <p:cNvPr id="12" name="Shape 9"/>
          <p:cNvSpPr/>
          <p:nvPr/>
        </p:nvSpPr>
        <p:spPr>
          <a:xfrm>
            <a:off x="8153196" y="2946400"/>
            <a:ext cx="3428914" cy="1219200"/>
          </a:xfrm>
          <a:prstGeom prst="roundRect">
            <a:avLst>
              <a:gd name="adj" fmla="val 2812"/>
            </a:avLst>
          </a:prstGeom>
          <a:solidFill>
            <a:srgbClr val="14161A"/>
          </a:solidFill>
          <a:ln/>
        </p:spPr>
      </p:sp>
      <p:sp>
        <p:nvSpPr>
          <p:cNvPr id="13" name="Text 10"/>
          <p:cNvSpPr/>
          <p:nvPr/>
        </p:nvSpPr>
        <p:spPr>
          <a:xfrm>
            <a:off x="8305592" y="3048000"/>
            <a:ext cx="3733707" cy="234355"/>
          </a:xfrm>
          <a:prstGeom prst="rect">
            <a:avLst/>
          </a:prstGeom>
          <a:noFill/>
          <a:ln/>
        </p:spPr>
        <p:txBody>
          <a:bodyPr wrap="none" lIns="0" tIns="0" rIns="0" bIns="0" rtlCol="0" anchor="t"/>
          <a:lstStyle/>
          <a:p>
            <a:pPr marL="0" indent="0" algn="l">
              <a:lnSpc>
                <a:spcPct val="118000"/>
              </a:lnSpc>
              <a:buNone/>
            </a:pPr>
            <a:r>
              <a:rPr lang="en-US" sz="1300" b="1" dirty="0">
                <a:solidFill>
                  <a:srgbClr val="C6F432"/>
                </a:solidFill>
                <a:latin typeface="Noto Sans Bold" pitchFamily="34" charset="0"/>
                <a:ea typeface="Noto Sans Bold" pitchFamily="34" charset="-122"/>
                <a:cs typeface="Noto Sans Bold" pitchFamily="34" charset="-120"/>
              </a:rPr>
              <a:t>PLAYER FLOW &amp; THẨM MỸ</a:t>
            </a:r>
            <a:endParaRPr lang="en-US" sz="1300" dirty="0"/>
          </a:p>
        </p:txBody>
      </p:sp>
      <p:sp>
        <p:nvSpPr>
          <p:cNvPr id="14" name="Text 11"/>
          <p:cNvSpPr/>
          <p:nvPr/>
        </p:nvSpPr>
        <p:spPr>
          <a:xfrm>
            <a:off x="8305593" y="3409902"/>
            <a:ext cx="2685496" cy="517525"/>
          </a:xfrm>
          <a:prstGeom prst="rect">
            <a:avLst/>
          </a:prstGeom>
          <a:noFill/>
          <a:ln/>
        </p:spPr>
        <p:txBody>
          <a:bodyPr wrap="none" lIns="0" tIns="0" rIns="0" bIns="0" rtlCol="0" anchor="t"/>
          <a:lstStyle/>
          <a:p>
            <a:pPr marL="0" indent="0" algn="l">
              <a:lnSpc>
                <a:spcPct val="118000"/>
              </a:lnSpc>
              <a:buNone/>
            </a:pPr>
            <a:r>
              <a:rPr lang="vi-VN" sz="1100" dirty="0">
                <a:solidFill>
                  <a:srgbClr val="F4F1EA"/>
                </a:solidFill>
                <a:latin typeface="Noto Sans" pitchFamily="34" charset="0"/>
                <a:ea typeface="Noto Sans" pitchFamily="34" charset="-122"/>
                <a:cs typeface="Noto Sans" pitchFamily="34" charset="-120"/>
              </a:rPr>
              <a:t>AI không cảm nhận luồng di chuyển </a:t>
            </a:r>
            <a:br>
              <a:rPr lang="vi-VN" sz="1100" dirty="0">
                <a:solidFill>
                  <a:srgbClr val="F4F1EA"/>
                </a:solidFill>
                <a:latin typeface="Noto Sans" pitchFamily="34" charset="0"/>
                <a:ea typeface="Noto Sans" pitchFamily="34" charset="-122"/>
                <a:cs typeface="Noto Sans" pitchFamily="34" charset="-120"/>
              </a:rPr>
            </a:br>
            <a:r>
              <a:rPr lang="vi-VN" sz="1100" dirty="0">
                <a:solidFill>
                  <a:srgbClr val="F4F1EA"/>
                </a:solidFill>
                <a:latin typeface="Noto Sans" pitchFamily="34" charset="0"/>
                <a:ea typeface="Noto Sans" pitchFamily="34" charset="-122"/>
                <a:cs typeface="Noto Sans" pitchFamily="34" charset="-120"/>
              </a:rPr>
              <a:t>và thẩm mỹ không gian chơi!</a:t>
            </a:r>
            <a:endParaRPr lang="en-US" sz="1100" dirty="0"/>
          </a:p>
        </p:txBody>
      </p:sp>
      <p:pic>
        <p:nvPicPr>
          <p:cNvPr id="22" name="Picture 21">
            <a:extLst>
              <a:ext uri="{FF2B5EF4-FFF2-40B4-BE49-F238E27FC236}">
                <a16:creationId xmlns:a16="http://schemas.microsoft.com/office/drawing/2014/main" id="{9EBBE732-6EF7-5184-D695-FD01B645052A}"/>
              </a:ext>
            </a:extLst>
          </p:cNvPr>
          <p:cNvPicPr>
            <a:picLocks noChangeAspect="1"/>
          </p:cNvPicPr>
          <p:nvPr/>
        </p:nvPicPr>
        <p:blipFill>
          <a:blip r:embed="rId3"/>
          <a:stretch>
            <a:fillRect/>
          </a:stretch>
        </p:blipFill>
        <p:spPr>
          <a:xfrm>
            <a:off x="821929" y="1493487"/>
            <a:ext cx="6941506" cy="43654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E4D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oundRect">
            <a:avLst>
              <a:gd name="adj" fmla="val 500"/>
            </a:avLst>
          </a:prstGeom>
          <a:solidFill>
            <a:srgbClr val="E5E4DF"/>
          </a:solidFill>
          <a:ln/>
        </p:spPr>
      </p:sp>
      <p:sp>
        <p:nvSpPr>
          <p:cNvPr id="3" name="Text 1"/>
          <p:cNvSpPr/>
          <p:nvPr/>
        </p:nvSpPr>
        <p:spPr>
          <a:xfrm>
            <a:off x="666733" y="508000"/>
            <a:ext cx="11417014" cy="198338"/>
          </a:xfrm>
          <a:prstGeom prst="rect">
            <a:avLst/>
          </a:prstGeom>
          <a:noFill/>
          <a:ln/>
        </p:spPr>
        <p:txBody>
          <a:bodyPr wrap="none" lIns="0" tIns="0" rIns="0" bIns="0" rtlCol="0" anchor="t"/>
          <a:lstStyle/>
          <a:p>
            <a:pPr marL="0" indent="0" algn="l">
              <a:lnSpc>
                <a:spcPct val="118000"/>
              </a:lnSpc>
              <a:buNone/>
            </a:pPr>
            <a:r>
              <a:rPr lang="en-US" sz="1100" kern="100" spc="66" dirty="0">
                <a:solidFill>
                  <a:srgbClr val="34363B"/>
                </a:solidFill>
                <a:latin typeface="M PLUS 1 Code Medium" pitchFamily="34" charset="0"/>
                <a:ea typeface="M PLUS 1 Code Medium" pitchFamily="34" charset="-122"/>
                <a:cs typeface="M PLUS 1 Code Medium" pitchFamily="34" charset="-120"/>
              </a:rPr>
              <a:t>PHÂN CÔNG · TRÁCH NHIỆM, KHÔNG PHẢI HIỆU SUẤT</a:t>
            </a:r>
            <a:endParaRPr lang="en-US" sz="1100" dirty="0"/>
          </a:p>
        </p:txBody>
      </p:sp>
      <p:sp>
        <p:nvSpPr>
          <p:cNvPr id="4" name="Text 2"/>
          <p:cNvSpPr/>
          <p:nvPr/>
        </p:nvSpPr>
        <p:spPr>
          <a:xfrm>
            <a:off x="666733" y="787400"/>
            <a:ext cx="10807430" cy="631130"/>
          </a:xfrm>
          <a:prstGeom prst="rect">
            <a:avLst/>
          </a:prstGeom>
          <a:noFill/>
          <a:ln/>
        </p:spPr>
        <p:txBody>
          <a:bodyPr wrap="none" lIns="0" tIns="0" rIns="0" bIns="0" rtlCol="0" anchor="t"/>
          <a:lstStyle/>
          <a:p>
            <a:pPr marL="0" indent="0" algn="l">
              <a:lnSpc>
                <a:spcPct val="118000"/>
              </a:lnSpc>
              <a:buNone/>
            </a:pPr>
            <a:r>
              <a:rPr lang="en-US" sz="3500" dirty="0">
                <a:solidFill>
                  <a:srgbClr val="16181C"/>
                </a:solidFill>
                <a:latin typeface="Noto Sans" pitchFamily="34" charset="0"/>
                <a:ea typeface="Noto Sans" pitchFamily="34" charset="-122"/>
                <a:cs typeface="Noto Sans" pitchFamily="34" charset="-120"/>
              </a:rPr>
              <a:t>Giao việc theo mức độ </a:t>
            </a:r>
            <a:r>
              <a:rPr lang="en-US" sz="3500" dirty="0">
                <a:solidFill>
                  <a:srgbClr val="C8321A"/>
                </a:solidFill>
                <a:latin typeface="Noto Sans" pitchFamily="34" charset="0"/>
                <a:ea typeface="Noto Sans" pitchFamily="34" charset="-122"/>
                <a:cs typeface="Noto Sans" pitchFamily="34" charset="-120"/>
              </a:rPr>
              <a:t>cần phán đoán</a:t>
            </a:r>
            <a:endParaRPr lang="en-US" sz="3500" dirty="0"/>
          </a:p>
        </p:txBody>
      </p:sp>
      <p:sp>
        <p:nvSpPr>
          <p:cNvPr id="5" name="Shape 3"/>
          <p:cNvSpPr/>
          <p:nvPr/>
        </p:nvSpPr>
        <p:spPr>
          <a:xfrm>
            <a:off x="609585" y="1651000"/>
            <a:ext cx="3517812" cy="3683000"/>
          </a:xfrm>
          <a:prstGeom prst="roundRect">
            <a:avLst>
              <a:gd name="adj" fmla="val 975"/>
            </a:avLst>
          </a:prstGeom>
          <a:solidFill>
            <a:srgbClr val="16181C"/>
          </a:solidFill>
          <a:ln/>
        </p:spPr>
      </p:sp>
      <p:sp>
        <p:nvSpPr>
          <p:cNvPr id="6" name="Shape 4"/>
          <p:cNvSpPr/>
          <p:nvPr/>
        </p:nvSpPr>
        <p:spPr>
          <a:xfrm>
            <a:off x="4330592" y="1651000"/>
            <a:ext cx="3517812" cy="3683000"/>
          </a:xfrm>
          <a:prstGeom prst="roundRect">
            <a:avLst>
              <a:gd name="adj" fmla="val 975"/>
            </a:avLst>
          </a:prstGeom>
          <a:solidFill>
            <a:srgbClr val="F5F3EA"/>
          </a:solidFill>
          <a:ln/>
        </p:spPr>
      </p:sp>
      <p:sp>
        <p:nvSpPr>
          <p:cNvPr id="7" name="Shape 5"/>
          <p:cNvSpPr/>
          <p:nvPr/>
        </p:nvSpPr>
        <p:spPr>
          <a:xfrm>
            <a:off x="8051599" y="1651000"/>
            <a:ext cx="3517812" cy="3683000"/>
          </a:xfrm>
          <a:prstGeom prst="roundRect">
            <a:avLst>
              <a:gd name="adj" fmla="val 975"/>
            </a:avLst>
          </a:prstGeom>
          <a:solidFill>
            <a:srgbClr val="16181C"/>
          </a:solidFill>
          <a:ln/>
        </p:spPr>
      </p:sp>
      <p:sp>
        <p:nvSpPr>
          <p:cNvPr id="8" name="Text 6"/>
          <p:cNvSpPr/>
          <p:nvPr/>
        </p:nvSpPr>
        <p:spPr>
          <a:xfrm>
            <a:off x="946126" y="1854200"/>
            <a:ext cx="3416215" cy="973832"/>
          </a:xfrm>
          <a:prstGeom prst="rect">
            <a:avLst/>
          </a:prstGeom>
          <a:noFill/>
          <a:ln/>
        </p:spPr>
        <p:txBody>
          <a:bodyPr wrap="none" lIns="0" tIns="0" rIns="0" bIns="0" rtlCol="0" anchor="t"/>
          <a:lstStyle/>
          <a:p>
            <a:pPr marL="0" indent="0" algn="l">
              <a:lnSpc>
                <a:spcPct val="118000"/>
              </a:lnSpc>
              <a:buNone/>
            </a:pPr>
            <a:r>
              <a:rPr lang="en-US" sz="5400" b="1" dirty="0">
                <a:solidFill>
                  <a:srgbClr val="F5F3EA"/>
                </a:solidFill>
                <a:latin typeface="Noto Sans Bold" pitchFamily="34" charset="0"/>
                <a:ea typeface="Noto Sans Bold" pitchFamily="34" charset="-122"/>
                <a:cs typeface="Noto Sans Bold" pitchFamily="34" charset="-120"/>
              </a:rPr>
              <a:t>01</a:t>
            </a:r>
            <a:endParaRPr lang="en-US" sz="5400" dirty="0"/>
          </a:p>
        </p:txBody>
      </p:sp>
      <p:sp>
        <p:nvSpPr>
          <p:cNvPr id="9" name="Text 7"/>
          <p:cNvSpPr/>
          <p:nvPr/>
        </p:nvSpPr>
        <p:spPr>
          <a:xfrm>
            <a:off x="4667133" y="1854200"/>
            <a:ext cx="3416215" cy="973832"/>
          </a:xfrm>
          <a:prstGeom prst="rect">
            <a:avLst/>
          </a:prstGeom>
          <a:noFill/>
          <a:ln/>
        </p:spPr>
        <p:txBody>
          <a:bodyPr wrap="none" lIns="0" tIns="0" rIns="0" bIns="0" rtlCol="0" anchor="t"/>
          <a:lstStyle/>
          <a:p>
            <a:pPr marL="0" indent="0" algn="l">
              <a:lnSpc>
                <a:spcPct val="118000"/>
              </a:lnSpc>
              <a:buNone/>
            </a:pPr>
            <a:r>
              <a:rPr lang="en-US" sz="5400" b="1" dirty="0">
                <a:solidFill>
                  <a:srgbClr val="000000"/>
                </a:solidFill>
                <a:latin typeface="Noto Sans Bold" pitchFamily="34" charset="0"/>
                <a:ea typeface="Noto Sans Bold" pitchFamily="34" charset="-122"/>
                <a:cs typeface="Noto Sans Bold" pitchFamily="34" charset="-120"/>
              </a:rPr>
              <a:t>02</a:t>
            </a:r>
            <a:endParaRPr lang="en-US" sz="5400" dirty="0"/>
          </a:p>
        </p:txBody>
      </p:sp>
      <p:sp>
        <p:nvSpPr>
          <p:cNvPr id="10" name="Text 8"/>
          <p:cNvSpPr/>
          <p:nvPr/>
        </p:nvSpPr>
        <p:spPr>
          <a:xfrm>
            <a:off x="8388140" y="1854200"/>
            <a:ext cx="3416215" cy="973832"/>
          </a:xfrm>
          <a:prstGeom prst="rect">
            <a:avLst/>
          </a:prstGeom>
          <a:noFill/>
          <a:ln/>
        </p:spPr>
        <p:txBody>
          <a:bodyPr wrap="none" lIns="0" tIns="0" rIns="0" bIns="0" rtlCol="0" anchor="t"/>
          <a:lstStyle/>
          <a:p>
            <a:pPr marL="0" indent="0" algn="l">
              <a:lnSpc>
                <a:spcPct val="118000"/>
              </a:lnSpc>
              <a:buNone/>
            </a:pPr>
            <a:r>
              <a:rPr lang="en-US" sz="5400" b="1" dirty="0">
                <a:solidFill>
                  <a:srgbClr val="F06A55"/>
                </a:solidFill>
                <a:latin typeface="Noto Sans Bold" pitchFamily="34" charset="0"/>
                <a:ea typeface="Noto Sans Bold" pitchFamily="34" charset="-122"/>
                <a:cs typeface="Noto Sans Bold" pitchFamily="34" charset="-120"/>
              </a:rPr>
              <a:t>03</a:t>
            </a:r>
            <a:endParaRPr lang="en-US" sz="5400" dirty="0"/>
          </a:p>
        </p:txBody>
      </p:sp>
      <p:sp>
        <p:nvSpPr>
          <p:cNvPr id="11" name="Shape 9"/>
          <p:cNvSpPr/>
          <p:nvPr/>
        </p:nvSpPr>
        <p:spPr>
          <a:xfrm>
            <a:off x="888978" y="2870200"/>
            <a:ext cx="1904952" cy="198338"/>
          </a:xfrm>
          <a:prstGeom prst="roundRect">
            <a:avLst>
              <a:gd name="adj" fmla="val 17288"/>
            </a:avLst>
          </a:prstGeom>
          <a:solidFill>
            <a:srgbClr val="C8F060"/>
          </a:solidFill>
          <a:ln/>
        </p:spPr>
      </p:sp>
      <p:sp>
        <p:nvSpPr>
          <p:cNvPr id="12" name="Text 10"/>
          <p:cNvSpPr/>
          <p:nvPr/>
        </p:nvSpPr>
        <p:spPr>
          <a:xfrm>
            <a:off x="641334" y="2870200"/>
            <a:ext cx="2400240" cy="198338"/>
          </a:xfrm>
          <a:prstGeom prst="rect">
            <a:avLst/>
          </a:prstGeom>
          <a:noFill/>
          <a:ln/>
        </p:spPr>
        <p:txBody>
          <a:bodyPr wrap="none" lIns="0" tIns="0" rIns="0" bIns="0" rtlCol="0" anchor="t"/>
          <a:lstStyle/>
          <a:p>
            <a:pPr marL="0" indent="0" algn="ctr">
              <a:lnSpc>
                <a:spcPct val="118000"/>
              </a:lnSpc>
              <a:buNone/>
            </a:pPr>
            <a:r>
              <a:rPr lang="en-US" sz="1100" b="1" dirty="0">
                <a:solidFill>
                  <a:srgbClr val="000000"/>
                </a:solidFill>
                <a:latin typeface="Noto Sans Bold" pitchFamily="34" charset="0"/>
                <a:ea typeface="Noto Sans Bold" pitchFamily="34" charset="-122"/>
                <a:cs typeface="Noto Sans Bold" pitchFamily="34" charset="-120"/>
              </a:rPr>
              <a:t>AI DẪN DẮT</a:t>
            </a:r>
            <a:endParaRPr lang="en-US" sz="1100" dirty="0"/>
          </a:p>
        </p:txBody>
      </p:sp>
      <p:sp>
        <p:nvSpPr>
          <p:cNvPr id="13" name="Shape 11"/>
          <p:cNvSpPr/>
          <p:nvPr/>
        </p:nvSpPr>
        <p:spPr>
          <a:xfrm>
            <a:off x="4609985" y="2870200"/>
            <a:ext cx="1904952" cy="198338"/>
          </a:xfrm>
          <a:prstGeom prst="roundRect">
            <a:avLst>
              <a:gd name="adj" fmla="val 17288"/>
            </a:avLst>
          </a:prstGeom>
          <a:solidFill>
            <a:srgbClr val="C8F060"/>
          </a:solidFill>
          <a:ln/>
        </p:spPr>
      </p:sp>
      <p:sp>
        <p:nvSpPr>
          <p:cNvPr id="14" name="Text 12"/>
          <p:cNvSpPr/>
          <p:nvPr/>
        </p:nvSpPr>
        <p:spPr>
          <a:xfrm>
            <a:off x="4362341" y="2870200"/>
            <a:ext cx="2400240" cy="198338"/>
          </a:xfrm>
          <a:prstGeom prst="rect">
            <a:avLst/>
          </a:prstGeom>
          <a:noFill/>
          <a:ln/>
        </p:spPr>
        <p:txBody>
          <a:bodyPr wrap="none" lIns="0" tIns="0" rIns="0" bIns="0" rtlCol="0" anchor="t"/>
          <a:lstStyle/>
          <a:p>
            <a:pPr marL="0" indent="0" algn="ctr">
              <a:lnSpc>
                <a:spcPct val="118000"/>
              </a:lnSpc>
              <a:buNone/>
            </a:pPr>
            <a:r>
              <a:rPr lang="vi-VN" sz="1100" b="1" dirty="0">
                <a:solidFill>
                  <a:srgbClr val="000000"/>
                </a:solidFill>
                <a:latin typeface="Noto Sans Bold" pitchFamily="34" charset="0"/>
                <a:ea typeface="Noto Sans Bold" pitchFamily="34" charset="-122"/>
                <a:cs typeface="Noto Sans Bold" pitchFamily="34" charset="-120"/>
              </a:rPr>
              <a:t>HUMAN</a:t>
            </a:r>
            <a:r>
              <a:rPr lang="en-US" sz="1100" b="1" dirty="0">
                <a:solidFill>
                  <a:srgbClr val="000000"/>
                </a:solidFill>
                <a:latin typeface="Noto Sans Bold" pitchFamily="34" charset="0"/>
                <a:ea typeface="Noto Sans Bold" pitchFamily="34" charset="-122"/>
                <a:cs typeface="Noto Sans Bold" pitchFamily="34" charset="-120"/>
              </a:rPr>
              <a:t> </a:t>
            </a:r>
            <a:r>
              <a:rPr lang="vi-VN" sz="1100" b="1" dirty="0">
                <a:solidFill>
                  <a:srgbClr val="000000"/>
                </a:solidFill>
                <a:latin typeface="Noto Sans Bold" pitchFamily="34" charset="0"/>
                <a:ea typeface="Noto Sans Bold" pitchFamily="34" charset="-122"/>
                <a:cs typeface="Noto Sans Bold" pitchFamily="34" charset="-120"/>
              </a:rPr>
              <a:t>GIÁM SÁT</a:t>
            </a:r>
            <a:endParaRPr lang="en-US" sz="1100" dirty="0"/>
          </a:p>
        </p:txBody>
      </p:sp>
      <p:sp>
        <p:nvSpPr>
          <p:cNvPr id="15" name="Shape 13"/>
          <p:cNvSpPr/>
          <p:nvPr/>
        </p:nvSpPr>
        <p:spPr>
          <a:xfrm>
            <a:off x="8330992" y="2870200"/>
            <a:ext cx="2158946" cy="198338"/>
          </a:xfrm>
          <a:prstGeom prst="roundRect">
            <a:avLst>
              <a:gd name="adj" fmla="val 17288"/>
            </a:avLst>
          </a:prstGeom>
          <a:solidFill>
            <a:srgbClr val="C8321A"/>
          </a:solidFill>
          <a:ln/>
        </p:spPr>
      </p:sp>
      <p:sp>
        <p:nvSpPr>
          <p:cNvPr id="16" name="Text 14"/>
          <p:cNvSpPr/>
          <p:nvPr/>
        </p:nvSpPr>
        <p:spPr>
          <a:xfrm>
            <a:off x="8083348" y="2870200"/>
            <a:ext cx="2654234" cy="198338"/>
          </a:xfrm>
          <a:prstGeom prst="rect">
            <a:avLst/>
          </a:prstGeom>
          <a:noFill/>
          <a:ln/>
        </p:spPr>
        <p:txBody>
          <a:bodyPr wrap="none" lIns="0" tIns="0" rIns="0" bIns="0" rtlCol="0" anchor="t"/>
          <a:lstStyle/>
          <a:p>
            <a:pPr marL="0" indent="0" algn="ctr">
              <a:lnSpc>
                <a:spcPct val="118000"/>
              </a:lnSpc>
              <a:buNone/>
            </a:pPr>
            <a:r>
              <a:rPr lang="vi-VN" sz="1100" b="1" dirty="0">
                <a:solidFill>
                  <a:srgbClr val="F5F3EA"/>
                </a:solidFill>
                <a:latin typeface="Noto Sans Bold" pitchFamily="34" charset="0"/>
                <a:ea typeface="Noto Sans Bold" pitchFamily="34" charset="-122"/>
                <a:cs typeface="Noto Sans Bold" pitchFamily="34" charset="-120"/>
              </a:rPr>
              <a:t>HUMAN</a:t>
            </a:r>
            <a:r>
              <a:rPr lang="en-US" sz="1100" b="1" dirty="0">
                <a:solidFill>
                  <a:srgbClr val="F5F3EA"/>
                </a:solidFill>
                <a:latin typeface="Noto Sans Bold" pitchFamily="34" charset="0"/>
                <a:ea typeface="Noto Sans Bold" pitchFamily="34" charset="-122"/>
                <a:cs typeface="Noto Sans Bold" pitchFamily="34" charset="-120"/>
              </a:rPr>
              <a:t> QUYẾT ĐỊNH</a:t>
            </a:r>
            <a:endParaRPr lang="en-US" sz="1100" dirty="0"/>
          </a:p>
        </p:txBody>
      </p:sp>
      <p:sp>
        <p:nvSpPr>
          <p:cNvPr id="17" name="Text 15"/>
          <p:cNvSpPr/>
          <p:nvPr/>
        </p:nvSpPr>
        <p:spPr>
          <a:xfrm>
            <a:off x="946126" y="3327400"/>
            <a:ext cx="2870128"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F5F3EA"/>
                </a:solidFill>
                <a:latin typeface="Noto Sans" pitchFamily="34" charset="0"/>
                <a:ea typeface="Noto Sans" pitchFamily="34" charset="-122"/>
                <a:cs typeface="Noto Sans" pitchFamily="34" charset="-120"/>
              </a:rPr>
              <a:t>Thuật toán · State machine · Refactor · Test</a:t>
            </a:r>
            <a:endParaRPr lang="en-US" sz="1500" dirty="0"/>
          </a:p>
        </p:txBody>
      </p:sp>
      <p:sp>
        <p:nvSpPr>
          <p:cNvPr id="18" name="Text 16"/>
          <p:cNvSpPr/>
          <p:nvPr/>
        </p:nvSpPr>
        <p:spPr>
          <a:xfrm>
            <a:off x="4667133" y="3327400"/>
            <a:ext cx="3479713"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Lắp scene · Animation · UI</a:t>
            </a:r>
            <a:endParaRPr lang="en-US" sz="1500" dirty="0"/>
          </a:p>
        </p:txBody>
      </p:sp>
      <p:sp>
        <p:nvSpPr>
          <p:cNvPr id="19" name="Text 17"/>
          <p:cNvSpPr/>
          <p:nvPr/>
        </p:nvSpPr>
        <p:spPr>
          <a:xfrm>
            <a:off x="8388140" y="3327400"/>
            <a:ext cx="2870128"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F5F3EA"/>
                </a:solidFill>
                <a:latin typeface="Noto Sans" pitchFamily="34" charset="0"/>
                <a:ea typeface="Noto Sans" pitchFamily="34" charset="-122"/>
                <a:cs typeface="Noto Sans" pitchFamily="34" charset="-120"/>
              </a:rPr>
              <a:t>Map · Game feel · Balance · Scope</a:t>
            </a:r>
            <a:endParaRPr lang="en-US" sz="1500" dirty="0"/>
          </a:p>
        </p:txBody>
      </p:sp>
      <p:sp>
        <p:nvSpPr>
          <p:cNvPr id="20" name="Text 18"/>
          <p:cNvSpPr/>
          <p:nvPr/>
        </p:nvSpPr>
        <p:spPr>
          <a:xfrm>
            <a:off x="927077" y="4711700"/>
            <a:ext cx="3517812" cy="234355"/>
          </a:xfrm>
          <a:prstGeom prst="rect">
            <a:avLst/>
          </a:prstGeom>
          <a:noFill/>
          <a:ln/>
        </p:spPr>
        <p:txBody>
          <a:bodyPr wrap="none" lIns="0" tIns="0" rIns="0" bIns="0" rtlCol="0" anchor="t"/>
          <a:lstStyle/>
          <a:p>
            <a:pPr marL="0" indent="0" algn="l">
              <a:lnSpc>
                <a:spcPct val="118000"/>
              </a:lnSpc>
              <a:buNone/>
            </a:pPr>
            <a:r>
              <a:rPr lang="vi-VN" sz="1300" b="1" dirty="0">
                <a:solidFill>
                  <a:srgbClr val="C8F060"/>
                </a:solidFill>
                <a:latin typeface="Noto Sans Bold" pitchFamily="34" charset="0"/>
                <a:ea typeface="Noto Sans Bold" pitchFamily="34" charset="-122"/>
                <a:cs typeface="Noto Sans Bold" pitchFamily="34" charset="-120"/>
              </a:rPr>
              <a:t>Human</a:t>
            </a:r>
            <a:r>
              <a:rPr lang="en-US" sz="1300" b="1" dirty="0">
                <a:solidFill>
                  <a:srgbClr val="C8F060"/>
                </a:solidFill>
                <a:latin typeface="Noto Sans Bold" pitchFamily="34" charset="0"/>
                <a:ea typeface="Noto Sans Bold" pitchFamily="34" charset="-122"/>
                <a:cs typeface="Noto Sans Bold" pitchFamily="34" charset="-120"/>
              </a:rPr>
              <a:t> duyệt spec và kết quả.</a:t>
            </a:r>
            <a:endParaRPr lang="en-US" sz="1300" dirty="0"/>
          </a:p>
        </p:txBody>
      </p:sp>
      <p:sp>
        <p:nvSpPr>
          <p:cNvPr id="21" name="Text 19"/>
          <p:cNvSpPr/>
          <p:nvPr/>
        </p:nvSpPr>
        <p:spPr>
          <a:xfrm>
            <a:off x="4648084" y="4711700"/>
            <a:ext cx="3517812" cy="234355"/>
          </a:xfrm>
          <a:prstGeom prst="rect">
            <a:avLst/>
          </a:prstGeom>
          <a:noFill/>
          <a:ln/>
        </p:spPr>
        <p:txBody>
          <a:bodyPr wrap="none" lIns="0" tIns="0" rIns="0" bIns="0" rtlCol="0" anchor="t"/>
          <a:lstStyle/>
          <a:p>
            <a:pPr marL="0" indent="0" algn="l">
              <a:lnSpc>
                <a:spcPct val="118000"/>
              </a:lnSpc>
              <a:buNone/>
            </a:pPr>
            <a:r>
              <a:rPr lang="vi-VN" sz="1300" b="1" dirty="0">
                <a:solidFill>
                  <a:srgbClr val="000000"/>
                </a:solidFill>
                <a:latin typeface="Noto Sans Bold" pitchFamily="34" charset="0"/>
                <a:ea typeface="Noto Sans Bold" pitchFamily="34" charset="-122"/>
                <a:cs typeface="Noto Sans Bold" pitchFamily="34" charset="-120"/>
              </a:rPr>
              <a:t>Human</a:t>
            </a:r>
            <a:r>
              <a:rPr lang="en-US" sz="1300" b="1" dirty="0">
                <a:solidFill>
                  <a:srgbClr val="000000"/>
                </a:solidFill>
                <a:latin typeface="Noto Sans Bold" pitchFamily="34" charset="0"/>
                <a:ea typeface="Noto Sans Bold" pitchFamily="34" charset="-122"/>
                <a:cs typeface="Noto Sans Bold" pitchFamily="34" charset="-120"/>
              </a:rPr>
              <a:t> hướng dẫn và kiểm tra.</a:t>
            </a:r>
            <a:endParaRPr lang="en-US" sz="1300" dirty="0"/>
          </a:p>
        </p:txBody>
      </p:sp>
      <p:sp>
        <p:nvSpPr>
          <p:cNvPr id="22" name="Text 20"/>
          <p:cNvSpPr/>
          <p:nvPr/>
        </p:nvSpPr>
        <p:spPr>
          <a:xfrm>
            <a:off x="8369091" y="4711700"/>
            <a:ext cx="3517812" cy="234355"/>
          </a:xfrm>
          <a:prstGeom prst="rect">
            <a:avLst/>
          </a:prstGeom>
          <a:noFill/>
          <a:ln/>
        </p:spPr>
        <p:txBody>
          <a:bodyPr wrap="none" lIns="0" tIns="0" rIns="0" bIns="0" rtlCol="0" anchor="t"/>
          <a:lstStyle/>
          <a:p>
            <a:pPr marL="0" indent="0" algn="l">
              <a:lnSpc>
                <a:spcPct val="118000"/>
              </a:lnSpc>
              <a:buNone/>
            </a:pPr>
            <a:r>
              <a:rPr lang="vi-VN" sz="1300" b="1" dirty="0">
                <a:solidFill>
                  <a:srgbClr val="F06A55"/>
                </a:solidFill>
                <a:latin typeface="Noto Sans Bold" pitchFamily="34" charset="0"/>
                <a:ea typeface="Noto Sans Bold" pitchFamily="34" charset="-122"/>
                <a:cs typeface="Noto Sans Bold" pitchFamily="34" charset="-120"/>
              </a:rPr>
              <a:t>Human</a:t>
            </a:r>
            <a:r>
              <a:rPr lang="en-US" sz="1300" b="1" dirty="0">
                <a:solidFill>
                  <a:srgbClr val="F06A55"/>
                </a:solidFill>
                <a:latin typeface="Noto Sans Bold" pitchFamily="34" charset="0"/>
                <a:ea typeface="Noto Sans Bold" pitchFamily="34" charset="-122"/>
                <a:cs typeface="Noto Sans Bold" pitchFamily="34" charset="-120"/>
              </a:rPr>
              <a:t> chốt thiết kế.</a:t>
            </a:r>
            <a:endParaRPr lang="en-US" sz="1300" dirty="0"/>
          </a:p>
        </p:txBody>
      </p:sp>
      <p:sp>
        <p:nvSpPr>
          <p:cNvPr id="23" name="Text 21"/>
          <p:cNvSpPr/>
          <p:nvPr/>
        </p:nvSpPr>
        <p:spPr>
          <a:xfrm>
            <a:off x="666733" y="5537200"/>
            <a:ext cx="11455113" cy="216396"/>
          </a:xfrm>
          <a:prstGeom prst="rect">
            <a:avLst/>
          </a:prstGeom>
          <a:noFill/>
          <a:ln/>
        </p:spPr>
        <p:txBody>
          <a:bodyPr wrap="none" lIns="0" tIns="0" rIns="0" bIns="0" rtlCol="0" anchor="t"/>
          <a:lstStyle/>
          <a:p>
            <a:pPr marL="0" indent="0" algn="l">
              <a:lnSpc>
                <a:spcPct val="118000"/>
              </a:lnSpc>
              <a:buNone/>
            </a:pPr>
            <a:r>
              <a:rPr lang="en-US" sz="1200" dirty="0">
                <a:solidFill>
                  <a:srgbClr val="34363B"/>
                </a:solidFill>
                <a:latin typeface="Noto Sans" pitchFamily="34" charset="0"/>
                <a:ea typeface="Noto Sans" pitchFamily="34" charset="-122"/>
                <a:cs typeface="Noto Sans" pitchFamily="34" charset="-120"/>
              </a:rPr>
              <a:t>Mức độ cần phán đoán của con người tăng dần →</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E4DF"/>
        </a:solidFill>
        <a:effectLst/>
      </p:bgPr>
    </p:bg>
    <p:spTree>
      <p:nvGrpSpPr>
        <p:cNvPr id="1" name=""/>
        <p:cNvGrpSpPr/>
        <p:nvPr/>
      </p:nvGrpSpPr>
      <p:grpSpPr>
        <a:xfrm>
          <a:off x="0" y="0"/>
          <a:ext cx="0" cy="0"/>
          <a:chOff x="0" y="0"/>
          <a:chExt cx="0" cy="0"/>
        </a:xfrm>
      </p:grpSpPr>
      <p:sp>
        <p:nvSpPr>
          <p:cNvPr id="2" name="Shape 0"/>
          <p:cNvSpPr/>
          <p:nvPr/>
        </p:nvSpPr>
        <p:spPr>
          <a:xfrm>
            <a:off x="0" y="0"/>
            <a:ext cx="5377333" cy="6858000"/>
          </a:xfrm>
          <a:prstGeom prst="roundRect">
            <a:avLst>
              <a:gd name="adj" fmla="val 500"/>
            </a:avLst>
          </a:prstGeom>
          <a:solidFill>
            <a:srgbClr val="1B2A3A"/>
          </a:solidFill>
          <a:ln/>
        </p:spPr>
      </p:sp>
      <p:sp>
        <p:nvSpPr>
          <p:cNvPr id="3" name="Shape 1"/>
          <p:cNvSpPr/>
          <p:nvPr/>
        </p:nvSpPr>
        <p:spPr>
          <a:xfrm>
            <a:off x="5377333" y="0"/>
            <a:ext cx="6814363" cy="6858000"/>
          </a:xfrm>
          <a:prstGeom prst="roundRect">
            <a:avLst>
              <a:gd name="adj" fmla="val 703"/>
            </a:avLst>
          </a:prstGeom>
          <a:solidFill>
            <a:srgbClr val="C8643A"/>
          </a:solidFill>
          <a:ln/>
        </p:spPr>
      </p:sp>
      <p:sp>
        <p:nvSpPr>
          <p:cNvPr id="4" name="Shape 2"/>
          <p:cNvSpPr/>
          <p:nvPr/>
        </p:nvSpPr>
        <p:spPr>
          <a:xfrm>
            <a:off x="6206584" y="208539"/>
            <a:ext cx="5115950" cy="6245368"/>
          </a:xfrm>
          <a:prstGeom prst="roundRect">
            <a:avLst>
              <a:gd name="adj" fmla="val 1080"/>
            </a:avLst>
          </a:prstGeom>
          <a:solidFill>
            <a:srgbClr val="F2E9D8"/>
          </a:solidFill>
          <a:ln/>
        </p:spPr>
      </p:sp>
      <p:sp>
        <p:nvSpPr>
          <p:cNvPr id="7" name="Shape 5"/>
          <p:cNvSpPr/>
          <p:nvPr/>
        </p:nvSpPr>
        <p:spPr>
          <a:xfrm rot="20315611">
            <a:off x="5762514" y="175054"/>
            <a:ext cx="1142971" cy="330200"/>
          </a:xfrm>
          <a:prstGeom prst="roundRect">
            <a:avLst>
              <a:gd name="adj" fmla="val 10384"/>
            </a:avLst>
          </a:prstGeom>
          <a:solidFill>
            <a:srgbClr val="F2E9D8"/>
          </a:solidFill>
          <a:ln/>
        </p:spPr>
        <p:txBody>
          <a:bodyPr/>
          <a:lstStyle/>
          <a:p>
            <a:endParaRPr lang="en-US" dirty="0"/>
          </a:p>
        </p:txBody>
      </p:sp>
      <p:sp>
        <p:nvSpPr>
          <p:cNvPr id="8" name="Shape 6"/>
          <p:cNvSpPr/>
          <p:nvPr/>
        </p:nvSpPr>
        <p:spPr>
          <a:xfrm rot="7000707">
            <a:off x="10658443" y="6108128"/>
            <a:ext cx="1142971" cy="330200"/>
          </a:xfrm>
          <a:prstGeom prst="roundRect">
            <a:avLst>
              <a:gd name="adj" fmla="val 10384"/>
            </a:avLst>
          </a:prstGeom>
          <a:solidFill>
            <a:srgbClr val="F2E9D8"/>
          </a:solidFill>
          <a:ln/>
        </p:spPr>
      </p:sp>
      <p:sp>
        <p:nvSpPr>
          <p:cNvPr id="9" name="Shape 7"/>
          <p:cNvSpPr/>
          <p:nvPr/>
        </p:nvSpPr>
        <p:spPr>
          <a:xfrm>
            <a:off x="761981" y="1905000"/>
            <a:ext cx="4303847" cy="3810000"/>
          </a:xfrm>
          <a:prstGeom prst="roundRect">
            <a:avLst>
              <a:gd name="adj" fmla="val 900"/>
            </a:avLst>
          </a:prstGeom>
          <a:solidFill>
            <a:srgbClr val="1B2A3A"/>
          </a:solidFill>
          <a:ln/>
        </p:spPr>
      </p:sp>
      <p:sp>
        <p:nvSpPr>
          <p:cNvPr id="10" name="Text 8"/>
          <p:cNvSpPr/>
          <p:nvPr/>
        </p:nvSpPr>
        <p:spPr>
          <a:xfrm>
            <a:off x="819130" y="1905000"/>
            <a:ext cx="5348588" cy="2308225"/>
          </a:xfrm>
          <a:prstGeom prst="rect">
            <a:avLst/>
          </a:prstGeom>
          <a:noFill/>
          <a:ln/>
        </p:spPr>
        <p:txBody>
          <a:bodyPr wrap="square" lIns="0" tIns="0" rIns="0" bIns="0" rtlCol="0" anchor="t">
            <a:normAutofit/>
          </a:bodyPr>
          <a:lstStyle/>
          <a:p>
            <a:pPr marL="0" indent="0" algn="l">
              <a:lnSpc>
                <a:spcPct val="118000"/>
              </a:lnSpc>
              <a:buNone/>
            </a:pPr>
            <a:r>
              <a:rPr lang="en-US" sz="6400" dirty="0">
                <a:solidFill>
                  <a:srgbClr val="F2E9D8"/>
                </a:solidFill>
                <a:latin typeface="M PLUS 1 Code" panose="020B0600070205080204" charset="-128"/>
                <a:ea typeface="M PLUS 1 Code" panose="020B0600070205080204" charset="-128"/>
                <a:cs typeface="Noto Sans" pitchFamily="34" charset="-120"/>
              </a:rPr>
              <a:t>Thanks for listening</a:t>
            </a:r>
            <a:endParaRPr lang="en-US" sz="6400" dirty="0">
              <a:latin typeface="M PLUS 1 Code" panose="020B0600070205080204" charset="-128"/>
              <a:ea typeface="M PLUS 1 Code" panose="020B0600070205080204" charset="-128"/>
            </a:endParaRPr>
          </a:p>
        </p:txBody>
      </p:sp>
      <p:pic>
        <p:nvPicPr>
          <p:cNvPr id="16" name="Picture 15">
            <a:extLst>
              <a:ext uri="{FF2B5EF4-FFF2-40B4-BE49-F238E27FC236}">
                <a16:creationId xmlns:a16="http://schemas.microsoft.com/office/drawing/2014/main" id="{8D984957-EF91-AA30-76C1-12165E3C0EB0}"/>
              </a:ext>
            </a:extLst>
          </p:cNvPr>
          <p:cNvPicPr>
            <a:picLocks noChangeAspect="1"/>
          </p:cNvPicPr>
          <p:nvPr/>
        </p:nvPicPr>
        <p:blipFill>
          <a:blip r:embed="rId3"/>
          <a:stretch>
            <a:fillRect/>
          </a:stretch>
        </p:blipFill>
        <p:spPr>
          <a:xfrm>
            <a:off x="6461414" y="478118"/>
            <a:ext cx="4642858" cy="570621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2606</Words>
  <Application>Microsoft Office PowerPoint</Application>
  <PresentationFormat>Widescreen</PresentationFormat>
  <Paragraphs>218</Paragraphs>
  <Slides>13</Slides>
  <Notes>13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M PLUS 1 Code Medium</vt:lpstr>
      <vt:lpstr>Noto Sans Black</vt:lpstr>
      <vt:lpstr>Inconsolata</vt:lpstr>
      <vt:lpstr>M PLUS 1 Code Bold</vt:lpstr>
      <vt:lpstr>Calibri</vt:lpstr>
      <vt:lpstr>Carlito Bold</vt:lpstr>
      <vt:lpstr>M PLUS 1 Code</vt:lpstr>
      <vt:lpstr>Consolas</vt:lpstr>
      <vt:lpstr>Noto Sans</vt:lpstr>
      <vt:lpstr>Noto Sans Bold</vt:lpstr>
      <vt:lpstr>Noto Color Emoji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百花 繚乱</cp:lastModifiedBy>
  <cp:revision>17</cp:revision>
  <dcterms:created xsi:type="dcterms:W3CDTF">2026-10-04T17:34:31Z</dcterms:created>
  <dcterms:modified xsi:type="dcterms:W3CDTF">2026-10-04T18:29:01Z</dcterms:modified>
</cp:coreProperties>
</file>